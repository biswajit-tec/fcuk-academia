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0"/>
  </p:notesMasterIdLst>
  <p:sldIdLst>
    <p:sldId id="256" r:id="rId2"/>
    <p:sldId id="257" r:id="rId3"/>
    <p:sldId id="377" r:id="rId4"/>
    <p:sldId id="378" r:id="rId5"/>
    <p:sldId id="379" r:id="rId6"/>
    <p:sldId id="380" r:id="rId7"/>
    <p:sldId id="381" r:id="rId8"/>
    <p:sldId id="382" r:id="rId9"/>
    <p:sldId id="383" r:id="rId10"/>
    <p:sldId id="384" r:id="rId11"/>
    <p:sldId id="404" r:id="rId12"/>
    <p:sldId id="406" r:id="rId13"/>
    <p:sldId id="385" r:id="rId14"/>
    <p:sldId id="386" r:id="rId15"/>
    <p:sldId id="405" r:id="rId16"/>
    <p:sldId id="387" r:id="rId17"/>
    <p:sldId id="407" r:id="rId18"/>
    <p:sldId id="388" r:id="rId19"/>
    <p:sldId id="389" r:id="rId20"/>
    <p:sldId id="390" r:id="rId21"/>
    <p:sldId id="408" r:id="rId22"/>
    <p:sldId id="278" r:id="rId23"/>
    <p:sldId id="279" r:id="rId24"/>
    <p:sldId id="280" r:id="rId25"/>
    <p:sldId id="281" r:id="rId26"/>
    <p:sldId id="282" r:id="rId27"/>
    <p:sldId id="412" r:id="rId28"/>
    <p:sldId id="258" r:id="rId29"/>
    <p:sldId id="259" r:id="rId30"/>
    <p:sldId id="409" r:id="rId31"/>
    <p:sldId id="260" r:id="rId32"/>
    <p:sldId id="410" r:id="rId33"/>
    <p:sldId id="419" r:id="rId34"/>
    <p:sldId id="411" r:id="rId35"/>
    <p:sldId id="261" r:id="rId36"/>
    <p:sldId id="262" r:id="rId37"/>
    <p:sldId id="422" r:id="rId38"/>
    <p:sldId id="421" r:id="rId39"/>
    <p:sldId id="424" r:id="rId40"/>
    <p:sldId id="420" r:id="rId41"/>
    <p:sldId id="263" r:id="rId42"/>
    <p:sldId id="425" r:id="rId43"/>
    <p:sldId id="264" r:id="rId44"/>
    <p:sldId id="414" r:id="rId45"/>
    <p:sldId id="416" r:id="rId46"/>
    <p:sldId id="413" r:id="rId47"/>
    <p:sldId id="265" r:id="rId48"/>
    <p:sldId id="426" r:id="rId49"/>
    <p:sldId id="417" r:id="rId50"/>
    <p:sldId id="267" r:id="rId51"/>
    <p:sldId id="268" r:id="rId52"/>
    <p:sldId id="269" r:id="rId53"/>
    <p:sldId id="270" r:id="rId54"/>
    <p:sldId id="271" r:id="rId55"/>
    <p:sldId id="272" r:id="rId56"/>
    <p:sldId id="273" r:id="rId57"/>
    <p:sldId id="397" r:id="rId58"/>
    <p:sldId id="396" r:id="rId59"/>
    <p:sldId id="398" r:id="rId60"/>
    <p:sldId id="399" r:id="rId61"/>
    <p:sldId id="400" r:id="rId62"/>
    <p:sldId id="274" r:id="rId63"/>
    <p:sldId id="275" r:id="rId64"/>
    <p:sldId id="276" r:id="rId65"/>
    <p:sldId id="401" r:id="rId66"/>
    <p:sldId id="402" r:id="rId67"/>
    <p:sldId id="403" r:id="rId68"/>
    <p:sldId id="394"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D60093"/>
    <a:srgbClr val="EF1141"/>
    <a:srgbClr val="B5D2ED"/>
    <a:srgbClr val="FF3399"/>
    <a:srgbClr val="FF0000"/>
    <a:srgbClr val="EDDDEB"/>
    <a:srgbClr val="F6E0E4"/>
    <a:srgbClr val="33CCFF"/>
    <a:srgbClr val="A3153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4552" autoAdjust="0"/>
    <p:restoredTop sz="94660"/>
  </p:normalViewPr>
  <p:slideViewPr>
    <p:cSldViewPr snapToGrid="0">
      <p:cViewPr varScale="1">
        <p:scale>
          <a:sx n="114" d="100"/>
          <a:sy n="114" d="100"/>
        </p:scale>
        <p:origin x="176" y="46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712F230-F2EC-4EAF-BC9C-BF3D6FA37A5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1E7403D-4B56-4702-A94B-0236197E02AC}">
      <dgm:prSet/>
      <dgm:spPr/>
      <dgm:t>
        <a:bodyPr/>
        <a:lstStyle/>
        <a:p>
          <a:pPr>
            <a:lnSpc>
              <a:spcPct val="100000"/>
            </a:lnSpc>
          </a:pPr>
          <a:r>
            <a:rPr lang="en-US" dirty="0"/>
            <a:t>select those tuples of the instructor relation where the instructor is in the “Physics” department.</a:t>
          </a:r>
        </a:p>
      </dgm:t>
    </dgm:pt>
    <dgm:pt modelId="{07C4CA8B-336F-4952-8A3C-771CA2E01E7C}" type="parTrans" cxnId="{64AFCBA9-871B-41F7-8CD5-71170F991FB3}">
      <dgm:prSet/>
      <dgm:spPr/>
      <dgm:t>
        <a:bodyPr/>
        <a:lstStyle/>
        <a:p>
          <a:endParaRPr lang="en-US"/>
        </a:p>
      </dgm:t>
    </dgm:pt>
    <dgm:pt modelId="{84B3A1C0-90CA-4702-B747-B9B983A1A46A}" type="sibTrans" cxnId="{64AFCBA9-871B-41F7-8CD5-71170F991FB3}">
      <dgm:prSet/>
      <dgm:spPr/>
      <dgm:t>
        <a:bodyPr/>
        <a:lstStyle/>
        <a:p>
          <a:endParaRPr lang="en-US"/>
        </a:p>
      </dgm:t>
    </dgm:pt>
    <dgm:pt modelId="{A7FCE091-BFF9-4179-AA1D-ED488ED38A1A}">
      <dgm:prSet/>
      <dgm:spPr/>
      <dgm:t>
        <a:bodyPr/>
        <a:lstStyle/>
        <a:p>
          <a:pPr>
            <a:lnSpc>
              <a:spcPct val="100000"/>
            </a:lnSpc>
          </a:pPr>
          <a:r>
            <a:rPr lang="en-US"/>
            <a:t>find all instructors with salary greater than $90,000 </a:t>
          </a:r>
        </a:p>
      </dgm:t>
    </dgm:pt>
    <dgm:pt modelId="{0B0E0C2B-5A17-4FDC-BA9B-E0D7A259771A}" type="parTrans" cxnId="{3636BDB3-6142-4C3B-BB3C-4867C0D3919E}">
      <dgm:prSet/>
      <dgm:spPr/>
      <dgm:t>
        <a:bodyPr/>
        <a:lstStyle/>
        <a:p>
          <a:endParaRPr lang="en-US"/>
        </a:p>
      </dgm:t>
    </dgm:pt>
    <dgm:pt modelId="{23702A94-D141-44BD-B9C0-6A92D01AFFFA}" type="sibTrans" cxnId="{3636BDB3-6142-4C3B-BB3C-4867C0D3919E}">
      <dgm:prSet/>
      <dgm:spPr/>
      <dgm:t>
        <a:bodyPr/>
        <a:lstStyle/>
        <a:p>
          <a:endParaRPr lang="en-US"/>
        </a:p>
      </dgm:t>
    </dgm:pt>
    <dgm:pt modelId="{31574CC9-4F28-41ED-9B08-2B28D3C4F5DD}">
      <dgm:prSet/>
      <dgm:spPr/>
      <dgm:t>
        <a:bodyPr/>
        <a:lstStyle/>
        <a:p>
          <a:pPr>
            <a:lnSpc>
              <a:spcPct val="100000"/>
            </a:lnSpc>
          </a:pPr>
          <a:r>
            <a:rPr lang="en-US"/>
            <a:t>find the instructors in Physics with a salary greater than $90,000</a:t>
          </a:r>
        </a:p>
      </dgm:t>
    </dgm:pt>
    <dgm:pt modelId="{92E3DDBA-BD7D-49FF-8EF8-D6C5FBA5771A}" type="parTrans" cxnId="{D7452B3E-3D1C-4B7A-8778-37B643F4CEF5}">
      <dgm:prSet/>
      <dgm:spPr/>
      <dgm:t>
        <a:bodyPr/>
        <a:lstStyle/>
        <a:p>
          <a:endParaRPr lang="en-US"/>
        </a:p>
      </dgm:t>
    </dgm:pt>
    <dgm:pt modelId="{74DD82A1-F4B0-4FCB-88D7-D44AA12E5F9B}" type="sibTrans" cxnId="{D7452B3E-3D1C-4B7A-8778-37B643F4CEF5}">
      <dgm:prSet/>
      <dgm:spPr/>
      <dgm:t>
        <a:bodyPr/>
        <a:lstStyle/>
        <a:p>
          <a:endParaRPr lang="en-US"/>
        </a:p>
      </dgm:t>
    </dgm:pt>
    <dgm:pt modelId="{96EB48EF-42D3-4774-A5CF-165F010CE3DB}" type="pres">
      <dgm:prSet presAssocID="{4712F230-F2EC-4EAF-BC9C-BF3D6FA37A59}" presName="root" presStyleCnt="0">
        <dgm:presLayoutVars>
          <dgm:dir/>
          <dgm:resizeHandles val="exact"/>
        </dgm:presLayoutVars>
      </dgm:prSet>
      <dgm:spPr/>
    </dgm:pt>
    <dgm:pt modelId="{1C9BC7C7-2370-48D2-AB0E-05B6ED15E820}" type="pres">
      <dgm:prSet presAssocID="{B1E7403D-4B56-4702-A94B-0236197E02AC}" presName="compNode" presStyleCnt="0"/>
      <dgm:spPr/>
    </dgm:pt>
    <dgm:pt modelId="{05DD0C9A-60E8-438C-9661-41B2B96F3CA2}" type="pres">
      <dgm:prSet presAssocID="{B1E7403D-4B56-4702-A94B-0236197E02AC}" presName="bgRect" presStyleLbl="bgShp" presStyleIdx="0" presStyleCnt="3"/>
      <dgm:spPr/>
    </dgm:pt>
    <dgm:pt modelId="{B7D03233-1E24-4065-9657-968B20A87624}" type="pres">
      <dgm:prSet presAssocID="{B1E7403D-4B56-4702-A94B-0236197E02A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raduation Cap"/>
        </a:ext>
      </dgm:extLst>
    </dgm:pt>
    <dgm:pt modelId="{9242A9A9-2E4C-4B4A-ACF6-3068EC8863F9}" type="pres">
      <dgm:prSet presAssocID="{B1E7403D-4B56-4702-A94B-0236197E02AC}" presName="spaceRect" presStyleCnt="0"/>
      <dgm:spPr/>
    </dgm:pt>
    <dgm:pt modelId="{6532FB40-5B72-43E6-87D9-C2C700F87767}" type="pres">
      <dgm:prSet presAssocID="{B1E7403D-4B56-4702-A94B-0236197E02AC}" presName="parTx" presStyleLbl="revTx" presStyleIdx="0" presStyleCnt="3">
        <dgm:presLayoutVars>
          <dgm:chMax val="0"/>
          <dgm:chPref val="0"/>
        </dgm:presLayoutVars>
      </dgm:prSet>
      <dgm:spPr/>
    </dgm:pt>
    <dgm:pt modelId="{3178BDD8-0291-4E2A-8287-149102C64BDD}" type="pres">
      <dgm:prSet presAssocID="{84B3A1C0-90CA-4702-B747-B9B983A1A46A}" presName="sibTrans" presStyleCnt="0"/>
      <dgm:spPr/>
    </dgm:pt>
    <dgm:pt modelId="{5E383247-0A0C-4593-AE1E-82E22D7F11AF}" type="pres">
      <dgm:prSet presAssocID="{A7FCE091-BFF9-4179-AA1D-ED488ED38A1A}" presName="compNode" presStyleCnt="0"/>
      <dgm:spPr/>
    </dgm:pt>
    <dgm:pt modelId="{E5BC60AC-38AC-4FA9-93E0-5E9078BD2DFF}" type="pres">
      <dgm:prSet presAssocID="{A7FCE091-BFF9-4179-AA1D-ED488ED38A1A}" presName="bgRect" presStyleLbl="bgShp" presStyleIdx="1" presStyleCnt="3"/>
      <dgm:spPr/>
    </dgm:pt>
    <dgm:pt modelId="{579EC493-45B1-4208-81AA-5352A4218D8B}" type="pres">
      <dgm:prSet presAssocID="{A7FCE091-BFF9-4179-AA1D-ED488ED38A1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Money"/>
        </a:ext>
      </dgm:extLst>
    </dgm:pt>
    <dgm:pt modelId="{7416627C-2CB7-407A-A404-755B24DC8E9A}" type="pres">
      <dgm:prSet presAssocID="{A7FCE091-BFF9-4179-AA1D-ED488ED38A1A}" presName="spaceRect" presStyleCnt="0"/>
      <dgm:spPr/>
    </dgm:pt>
    <dgm:pt modelId="{E86AA99B-3253-4296-9EAC-62F1F45B2642}" type="pres">
      <dgm:prSet presAssocID="{A7FCE091-BFF9-4179-AA1D-ED488ED38A1A}" presName="parTx" presStyleLbl="revTx" presStyleIdx="1" presStyleCnt="3">
        <dgm:presLayoutVars>
          <dgm:chMax val="0"/>
          <dgm:chPref val="0"/>
        </dgm:presLayoutVars>
      </dgm:prSet>
      <dgm:spPr/>
    </dgm:pt>
    <dgm:pt modelId="{9A5D1829-0DA0-49EB-BA40-1512FD62E720}" type="pres">
      <dgm:prSet presAssocID="{23702A94-D141-44BD-B9C0-6A92D01AFFFA}" presName="sibTrans" presStyleCnt="0"/>
      <dgm:spPr/>
    </dgm:pt>
    <dgm:pt modelId="{1AAB8FC9-ACF5-44C7-A514-A1C634A3EC18}" type="pres">
      <dgm:prSet presAssocID="{31574CC9-4F28-41ED-9B08-2B28D3C4F5DD}" presName="compNode" presStyleCnt="0"/>
      <dgm:spPr/>
    </dgm:pt>
    <dgm:pt modelId="{DCE4FE3C-8560-4EE2-BE28-1D127DC4E72B}" type="pres">
      <dgm:prSet presAssocID="{31574CC9-4F28-41ED-9B08-2B28D3C4F5DD}" presName="bgRect" presStyleLbl="bgShp" presStyleIdx="2" presStyleCnt="3"/>
      <dgm:spPr/>
    </dgm:pt>
    <dgm:pt modelId="{F723BAF6-55EC-47CE-8B8B-A1528164DA88}" type="pres">
      <dgm:prSet presAssocID="{31574CC9-4F28-41ED-9B08-2B28D3C4F5D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ooks"/>
        </a:ext>
      </dgm:extLst>
    </dgm:pt>
    <dgm:pt modelId="{F21FB64F-1D67-4DF4-966F-F14EF9E15AB1}" type="pres">
      <dgm:prSet presAssocID="{31574CC9-4F28-41ED-9B08-2B28D3C4F5DD}" presName="spaceRect" presStyleCnt="0"/>
      <dgm:spPr/>
    </dgm:pt>
    <dgm:pt modelId="{DF107CBE-635D-401D-B6ED-2A684FD2D6EC}" type="pres">
      <dgm:prSet presAssocID="{31574CC9-4F28-41ED-9B08-2B28D3C4F5DD}" presName="parTx" presStyleLbl="revTx" presStyleIdx="2" presStyleCnt="3">
        <dgm:presLayoutVars>
          <dgm:chMax val="0"/>
          <dgm:chPref val="0"/>
        </dgm:presLayoutVars>
      </dgm:prSet>
      <dgm:spPr/>
    </dgm:pt>
  </dgm:ptLst>
  <dgm:cxnLst>
    <dgm:cxn modelId="{315FE73D-B45E-4BAE-A0FF-C9FA494D2661}" type="presOf" srcId="{B1E7403D-4B56-4702-A94B-0236197E02AC}" destId="{6532FB40-5B72-43E6-87D9-C2C700F87767}" srcOrd="0" destOrd="0" presId="urn:microsoft.com/office/officeart/2018/2/layout/IconVerticalSolidList"/>
    <dgm:cxn modelId="{D7452B3E-3D1C-4B7A-8778-37B643F4CEF5}" srcId="{4712F230-F2EC-4EAF-BC9C-BF3D6FA37A59}" destId="{31574CC9-4F28-41ED-9B08-2B28D3C4F5DD}" srcOrd="2" destOrd="0" parTransId="{92E3DDBA-BD7D-49FF-8EF8-D6C5FBA5771A}" sibTransId="{74DD82A1-F4B0-4FCB-88D7-D44AA12E5F9B}"/>
    <dgm:cxn modelId="{38A3D851-0D17-4878-9290-300C02AB1484}" type="presOf" srcId="{A7FCE091-BFF9-4179-AA1D-ED488ED38A1A}" destId="{E86AA99B-3253-4296-9EAC-62F1F45B2642}" srcOrd="0" destOrd="0" presId="urn:microsoft.com/office/officeart/2018/2/layout/IconVerticalSolidList"/>
    <dgm:cxn modelId="{33FCE867-F7E3-4E56-B863-12D85355119D}" type="presOf" srcId="{31574CC9-4F28-41ED-9B08-2B28D3C4F5DD}" destId="{DF107CBE-635D-401D-B6ED-2A684FD2D6EC}" srcOrd="0" destOrd="0" presId="urn:microsoft.com/office/officeart/2018/2/layout/IconVerticalSolidList"/>
    <dgm:cxn modelId="{A55C8BA2-1F45-4C2C-BFAA-CAFB2F3E1A6E}" type="presOf" srcId="{4712F230-F2EC-4EAF-BC9C-BF3D6FA37A59}" destId="{96EB48EF-42D3-4774-A5CF-165F010CE3DB}" srcOrd="0" destOrd="0" presId="urn:microsoft.com/office/officeart/2018/2/layout/IconVerticalSolidList"/>
    <dgm:cxn modelId="{64AFCBA9-871B-41F7-8CD5-71170F991FB3}" srcId="{4712F230-F2EC-4EAF-BC9C-BF3D6FA37A59}" destId="{B1E7403D-4B56-4702-A94B-0236197E02AC}" srcOrd="0" destOrd="0" parTransId="{07C4CA8B-336F-4952-8A3C-771CA2E01E7C}" sibTransId="{84B3A1C0-90CA-4702-B747-B9B983A1A46A}"/>
    <dgm:cxn modelId="{3636BDB3-6142-4C3B-BB3C-4867C0D3919E}" srcId="{4712F230-F2EC-4EAF-BC9C-BF3D6FA37A59}" destId="{A7FCE091-BFF9-4179-AA1D-ED488ED38A1A}" srcOrd="1" destOrd="0" parTransId="{0B0E0C2B-5A17-4FDC-BA9B-E0D7A259771A}" sibTransId="{23702A94-D141-44BD-B9C0-6A92D01AFFFA}"/>
    <dgm:cxn modelId="{D75C7C40-0A59-49EA-9AF5-96C6899A9559}" type="presParOf" srcId="{96EB48EF-42D3-4774-A5CF-165F010CE3DB}" destId="{1C9BC7C7-2370-48D2-AB0E-05B6ED15E820}" srcOrd="0" destOrd="0" presId="urn:microsoft.com/office/officeart/2018/2/layout/IconVerticalSolidList"/>
    <dgm:cxn modelId="{83906E33-30AA-4C78-9043-5AAC7894A702}" type="presParOf" srcId="{1C9BC7C7-2370-48D2-AB0E-05B6ED15E820}" destId="{05DD0C9A-60E8-438C-9661-41B2B96F3CA2}" srcOrd="0" destOrd="0" presId="urn:microsoft.com/office/officeart/2018/2/layout/IconVerticalSolidList"/>
    <dgm:cxn modelId="{C213408D-3F20-4552-A1BE-B09B247194E3}" type="presParOf" srcId="{1C9BC7C7-2370-48D2-AB0E-05B6ED15E820}" destId="{B7D03233-1E24-4065-9657-968B20A87624}" srcOrd="1" destOrd="0" presId="urn:microsoft.com/office/officeart/2018/2/layout/IconVerticalSolidList"/>
    <dgm:cxn modelId="{BE0AE893-D1A4-4524-B6D6-BD3C181CD0A8}" type="presParOf" srcId="{1C9BC7C7-2370-48D2-AB0E-05B6ED15E820}" destId="{9242A9A9-2E4C-4B4A-ACF6-3068EC8863F9}" srcOrd="2" destOrd="0" presId="urn:microsoft.com/office/officeart/2018/2/layout/IconVerticalSolidList"/>
    <dgm:cxn modelId="{E0289A78-4B5C-4F8A-B6FB-BC69B9736E14}" type="presParOf" srcId="{1C9BC7C7-2370-48D2-AB0E-05B6ED15E820}" destId="{6532FB40-5B72-43E6-87D9-C2C700F87767}" srcOrd="3" destOrd="0" presId="urn:microsoft.com/office/officeart/2018/2/layout/IconVerticalSolidList"/>
    <dgm:cxn modelId="{A4772D61-6946-41B9-9908-B5D7DE7F981A}" type="presParOf" srcId="{96EB48EF-42D3-4774-A5CF-165F010CE3DB}" destId="{3178BDD8-0291-4E2A-8287-149102C64BDD}" srcOrd="1" destOrd="0" presId="urn:microsoft.com/office/officeart/2018/2/layout/IconVerticalSolidList"/>
    <dgm:cxn modelId="{C1850AC7-3021-4788-94B8-DD6BCA172804}" type="presParOf" srcId="{96EB48EF-42D3-4774-A5CF-165F010CE3DB}" destId="{5E383247-0A0C-4593-AE1E-82E22D7F11AF}" srcOrd="2" destOrd="0" presId="urn:microsoft.com/office/officeart/2018/2/layout/IconVerticalSolidList"/>
    <dgm:cxn modelId="{66B112B4-02E4-4F5F-8B1D-CF4BF074E60D}" type="presParOf" srcId="{5E383247-0A0C-4593-AE1E-82E22D7F11AF}" destId="{E5BC60AC-38AC-4FA9-93E0-5E9078BD2DFF}" srcOrd="0" destOrd="0" presId="urn:microsoft.com/office/officeart/2018/2/layout/IconVerticalSolidList"/>
    <dgm:cxn modelId="{CD17DE6E-1B35-4049-BA86-A4C1962B76EA}" type="presParOf" srcId="{5E383247-0A0C-4593-AE1E-82E22D7F11AF}" destId="{579EC493-45B1-4208-81AA-5352A4218D8B}" srcOrd="1" destOrd="0" presId="urn:microsoft.com/office/officeart/2018/2/layout/IconVerticalSolidList"/>
    <dgm:cxn modelId="{98036CF5-617E-4FAB-A27E-09B76E369F60}" type="presParOf" srcId="{5E383247-0A0C-4593-AE1E-82E22D7F11AF}" destId="{7416627C-2CB7-407A-A404-755B24DC8E9A}" srcOrd="2" destOrd="0" presId="urn:microsoft.com/office/officeart/2018/2/layout/IconVerticalSolidList"/>
    <dgm:cxn modelId="{0E5D9ADB-C2AD-4A58-973F-35274D5C0F79}" type="presParOf" srcId="{5E383247-0A0C-4593-AE1E-82E22D7F11AF}" destId="{E86AA99B-3253-4296-9EAC-62F1F45B2642}" srcOrd="3" destOrd="0" presId="urn:microsoft.com/office/officeart/2018/2/layout/IconVerticalSolidList"/>
    <dgm:cxn modelId="{92089289-0815-407E-BCA0-D57EFB7DAA9A}" type="presParOf" srcId="{96EB48EF-42D3-4774-A5CF-165F010CE3DB}" destId="{9A5D1829-0DA0-49EB-BA40-1512FD62E720}" srcOrd="3" destOrd="0" presId="urn:microsoft.com/office/officeart/2018/2/layout/IconVerticalSolidList"/>
    <dgm:cxn modelId="{3E842A3B-8971-448F-8456-7E65D6771E7A}" type="presParOf" srcId="{96EB48EF-42D3-4774-A5CF-165F010CE3DB}" destId="{1AAB8FC9-ACF5-44C7-A514-A1C634A3EC18}" srcOrd="4" destOrd="0" presId="urn:microsoft.com/office/officeart/2018/2/layout/IconVerticalSolidList"/>
    <dgm:cxn modelId="{55323EEF-A404-49D0-8776-EC9A49425F80}" type="presParOf" srcId="{1AAB8FC9-ACF5-44C7-A514-A1C634A3EC18}" destId="{DCE4FE3C-8560-4EE2-BE28-1D127DC4E72B}" srcOrd="0" destOrd="0" presId="urn:microsoft.com/office/officeart/2018/2/layout/IconVerticalSolidList"/>
    <dgm:cxn modelId="{722204C1-CD94-486B-92AA-8968C1E3F19F}" type="presParOf" srcId="{1AAB8FC9-ACF5-44C7-A514-A1C634A3EC18}" destId="{F723BAF6-55EC-47CE-8B8B-A1528164DA88}" srcOrd="1" destOrd="0" presId="urn:microsoft.com/office/officeart/2018/2/layout/IconVerticalSolidList"/>
    <dgm:cxn modelId="{D6802083-750C-41A2-9994-DA4A83412183}" type="presParOf" srcId="{1AAB8FC9-ACF5-44C7-A514-A1C634A3EC18}" destId="{F21FB64F-1D67-4DF4-966F-F14EF9E15AB1}" srcOrd="2" destOrd="0" presId="urn:microsoft.com/office/officeart/2018/2/layout/IconVerticalSolidList"/>
    <dgm:cxn modelId="{EFB7CB2D-21D4-4CE3-8AE8-B4786E7975F0}" type="presParOf" srcId="{1AAB8FC9-ACF5-44C7-A514-A1C634A3EC18}" destId="{DF107CBE-635D-401D-B6ED-2A684FD2D6EC}"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DD0C9A-60E8-438C-9661-41B2B96F3CA2}">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D03233-1E24-4065-9657-968B20A87624}">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32FB40-5B72-43E6-87D9-C2C700F87767}">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dirty="0"/>
            <a:t>select those tuples of the instructor relation where the instructor is in the “Physics” department.</a:t>
          </a:r>
        </a:p>
      </dsp:txBody>
      <dsp:txXfrm>
        <a:off x="1435590" y="531"/>
        <a:ext cx="9080009" cy="1242935"/>
      </dsp:txXfrm>
    </dsp:sp>
    <dsp:sp modelId="{E5BC60AC-38AC-4FA9-93E0-5E9078BD2DFF}">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9EC493-45B1-4208-81AA-5352A4218D8B}">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86AA99B-3253-4296-9EAC-62F1F45B2642}">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find all instructors with salary greater than $90,000 </a:t>
          </a:r>
        </a:p>
      </dsp:txBody>
      <dsp:txXfrm>
        <a:off x="1435590" y="1554201"/>
        <a:ext cx="9080009" cy="1242935"/>
      </dsp:txXfrm>
    </dsp:sp>
    <dsp:sp modelId="{DCE4FE3C-8560-4EE2-BE28-1D127DC4E72B}">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723BAF6-55EC-47CE-8B8B-A1528164DA88}">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F107CBE-635D-401D-B6ED-2A684FD2D6EC}">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find the instructors in Physics with a salary greater than $90,000</a:t>
          </a:r>
        </a:p>
      </dsp:txBody>
      <dsp:txXfrm>
        <a:off x="1435590" y="3107870"/>
        <a:ext cx="9080009" cy="124293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1011028-0D5F-49A4-AD52-7E63317FA96E}" type="datetimeFigureOut">
              <a:rPr lang="en-IN" smtClean="0"/>
              <a:pPr/>
              <a:t>18/04/26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940383-098B-40A0-88D4-542F69EF9466}" type="slidenum">
              <a:rPr lang="en-IN" smtClean="0"/>
              <a:pPr/>
              <a:t>‹#›</a:t>
            </a:fld>
            <a:endParaRPr lang="en-IN"/>
          </a:p>
        </p:txBody>
      </p:sp>
    </p:spTree>
    <p:extLst>
      <p:ext uri="{BB962C8B-B14F-4D97-AF65-F5344CB8AC3E}">
        <p14:creationId xmlns:p14="http://schemas.microsoft.com/office/powerpoint/2010/main" val="319353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7E940383-098B-40A0-88D4-542F69EF9466}" type="slidenum">
              <a:rPr lang="en-IN" smtClean="0"/>
              <a:pPr/>
              <a:t>1</a:t>
            </a:fld>
            <a:endParaRPr lang="en-IN"/>
          </a:p>
        </p:txBody>
      </p:sp>
    </p:spTree>
    <p:extLst>
      <p:ext uri="{BB962C8B-B14F-4D97-AF65-F5344CB8AC3E}">
        <p14:creationId xmlns:p14="http://schemas.microsoft.com/office/powerpoint/2010/main" val="327483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EBE56D9-DEE6-4CC2-82DB-C8F8B934D55B}" type="datetime1">
              <a:rPr lang="en-IN" smtClean="0"/>
              <a:t>18/04/26</a:t>
            </a:fld>
            <a:endParaRPr lang="en-IN"/>
          </a:p>
        </p:txBody>
      </p:sp>
      <p:sp>
        <p:nvSpPr>
          <p:cNvPr id="5" name="Footer Placeholder 4"/>
          <p:cNvSpPr>
            <a:spLocks noGrp="1"/>
          </p:cNvSpPr>
          <p:nvPr>
            <p:ph type="ftr" sz="quarter" idx="11"/>
          </p:nvPr>
        </p:nvSpPr>
        <p:spPr/>
        <p:txBody>
          <a:bodyPr/>
          <a:lstStyle/>
          <a:p>
            <a:r>
              <a:rPr lang="pt-BR"/>
              <a:t>Dr.B.Muruganantham                                   Associate Professor / C.Tech</a:t>
            </a:r>
            <a:endParaRPr lang="en-IN"/>
          </a:p>
        </p:txBody>
      </p:sp>
      <p:sp>
        <p:nvSpPr>
          <p:cNvPr id="6" name="Slide Number Placeholder 5"/>
          <p:cNvSpPr>
            <a:spLocks noGrp="1"/>
          </p:cNvSpPr>
          <p:nvPr>
            <p:ph type="sldNum" sz="quarter" idx="12"/>
          </p:nvPr>
        </p:nvSpPr>
        <p:spPr/>
        <p:txBody>
          <a:bodyPr/>
          <a:lstStyle/>
          <a:p>
            <a:fld id="{AD7ED525-5088-40CF-8CE0-E4296ADF624B}" type="slidenum">
              <a:rPr lang="en-IN" smtClean="0"/>
              <a:pPr/>
              <a:t>‹#›</a:t>
            </a:fld>
            <a:endParaRPr lang="en-IN"/>
          </a:p>
        </p:txBody>
      </p:sp>
    </p:spTree>
    <p:extLst>
      <p:ext uri="{BB962C8B-B14F-4D97-AF65-F5344CB8AC3E}">
        <p14:creationId xmlns:p14="http://schemas.microsoft.com/office/powerpoint/2010/main" val="427197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22425"/>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90649" y="50800"/>
            <a:ext cx="963251" cy="960203"/>
          </a:xfrm>
          <a:prstGeom prst="rect">
            <a:avLst/>
          </a:prstGeom>
        </p:spPr>
      </p:pic>
      <p:sp>
        <p:nvSpPr>
          <p:cNvPr id="8" name="Date Placeholder 7"/>
          <p:cNvSpPr>
            <a:spLocks noGrp="1"/>
          </p:cNvSpPr>
          <p:nvPr>
            <p:ph type="dt" sz="half" idx="10"/>
          </p:nvPr>
        </p:nvSpPr>
        <p:spPr>
          <a:xfrm>
            <a:off x="0" y="6496050"/>
            <a:ext cx="4038600" cy="365125"/>
          </a:xfrm>
          <a:ln>
            <a:noFill/>
          </a:ln>
        </p:spPr>
        <p:style>
          <a:lnRef idx="1">
            <a:schemeClr val="accent1"/>
          </a:lnRef>
          <a:fillRef idx="2">
            <a:schemeClr val="accent1"/>
          </a:fillRef>
          <a:effectRef idx="1">
            <a:schemeClr val="accent1"/>
          </a:effectRef>
          <a:fontRef idx="none"/>
        </p:style>
        <p:txBody>
          <a:bodyPr/>
          <a:lstStyle>
            <a:lvl1pPr>
              <a:defRPr b="1">
                <a:solidFill>
                  <a:srgbClr val="0000FF"/>
                </a:solidFill>
                <a:latin typeface="Bookman Old Style" panose="02050604050505020204" pitchFamily="18" charset="0"/>
              </a:defRPr>
            </a:lvl1pPr>
          </a:lstStyle>
          <a:p>
            <a:fld id="{BDB40317-F420-4858-BB42-FE95AF1C833F}" type="datetime1">
              <a:rPr lang="en-IN" smtClean="0"/>
              <a:t>18/04/26</a:t>
            </a:fld>
            <a:endParaRPr lang="en-IN" dirty="0"/>
          </a:p>
        </p:txBody>
      </p:sp>
      <p:sp>
        <p:nvSpPr>
          <p:cNvPr id="9" name="Footer Placeholder 8"/>
          <p:cNvSpPr>
            <a:spLocks noGrp="1"/>
          </p:cNvSpPr>
          <p:nvPr>
            <p:ph type="ftr" sz="quarter" idx="11"/>
          </p:nvPr>
        </p:nvSpPr>
        <p:spPr>
          <a:xfrm>
            <a:off x="4038600" y="6496050"/>
            <a:ext cx="4114800" cy="365125"/>
          </a:xfrm>
          <a:ln>
            <a:noFill/>
          </a:ln>
        </p:spPr>
        <p:style>
          <a:lnRef idx="1">
            <a:schemeClr val="accent1"/>
          </a:lnRef>
          <a:fillRef idx="2">
            <a:schemeClr val="accent1"/>
          </a:fillRef>
          <a:effectRef idx="1">
            <a:schemeClr val="accent1"/>
          </a:effectRef>
          <a:fontRef idx="none"/>
        </p:style>
        <p:txBody>
          <a:bodyPr/>
          <a:lstStyle>
            <a:lvl1pPr>
              <a:defRPr b="1">
                <a:solidFill>
                  <a:srgbClr val="0000FF"/>
                </a:solidFill>
                <a:latin typeface="Bookman Old Style" panose="02050604050505020204" pitchFamily="18" charset="0"/>
              </a:defRPr>
            </a:lvl1pPr>
          </a:lstStyle>
          <a:p>
            <a:r>
              <a:rPr lang="en-IN" dirty="0" err="1"/>
              <a:t>Dr.B.Muruganantham</a:t>
            </a:r>
            <a:r>
              <a:rPr lang="en-IN" dirty="0"/>
              <a:t>                                   Associate Professor / </a:t>
            </a:r>
            <a:r>
              <a:rPr lang="en-IN" dirty="0" err="1"/>
              <a:t>C.Tech</a:t>
            </a:r>
            <a:endParaRPr lang="en-IN" dirty="0"/>
          </a:p>
        </p:txBody>
      </p:sp>
      <p:sp>
        <p:nvSpPr>
          <p:cNvPr id="10" name="Slide Number Placeholder 9"/>
          <p:cNvSpPr>
            <a:spLocks noGrp="1"/>
          </p:cNvSpPr>
          <p:nvPr>
            <p:ph type="sldNum" sz="quarter" idx="12"/>
          </p:nvPr>
        </p:nvSpPr>
        <p:spPr>
          <a:xfrm>
            <a:off x="8153400" y="6483350"/>
            <a:ext cx="4038600" cy="365125"/>
          </a:xfrm>
          <a:ln>
            <a:noFill/>
          </a:ln>
        </p:spPr>
        <p:style>
          <a:lnRef idx="1">
            <a:schemeClr val="accent1"/>
          </a:lnRef>
          <a:fillRef idx="2">
            <a:schemeClr val="accent1"/>
          </a:fillRef>
          <a:effectRef idx="1">
            <a:schemeClr val="accent1"/>
          </a:effectRef>
          <a:fontRef idx="none"/>
        </p:style>
        <p:txBody>
          <a:bodyPr/>
          <a:lstStyle>
            <a:lvl1pPr>
              <a:defRPr b="1">
                <a:solidFill>
                  <a:srgbClr val="0000FF"/>
                </a:solidFill>
              </a:defRPr>
            </a:lvl1pPr>
          </a:lstStyle>
          <a:p>
            <a:fld id="{AD7ED525-5088-40CF-8CE0-E4296ADF624B}" type="slidenum">
              <a:rPr lang="en-IN" smtClean="0"/>
              <a:pPr/>
              <a:t>‹#›</a:t>
            </a:fld>
            <a:endParaRPr lang="en-IN"/>
          </a:p>
        </p:txBody>
      </p:sp>
    </p:spTree>
    <p:extLst>
      <p:ext uri="{BB962C8B-B14F-4D97-AF65-F5344CB8AC3E}">
        <p14:creationId xmlns:p14="http://schemas.microsoft.com/office/powerpoint/2010/main" val="41915952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D670416-94BC-4E14-BB13-BFAFB60E75BD}" type="datetime1">
              <a:rPr lang="en-IN" smtClean="0"/>
              <a:t>18/04/26</a:t>
            </a:fld>
            <a:endParaRPr lang="en-IN"/>
          </a:p>
        </p:txBody>
      </p:sp>
      <p:sp>
        <p:nvSpPr>
          <p:cNvPr id="5" name="Footer Placeholder 4"/>
          <p:cNvSpPr>
            <a:spLocks noGrp="1"/>
          </p:cNvSpPr>
          <p:nvPr>
            <p:ph type="ftr" sz="quarter" idx="11"/>
          </p:nvPr>
        </p:nvSpPr>
        <p:spPr/>
        <p:txBody>
          <a:bodyPr/>
          <a:lstStyle/>
          <a:p>
            <a:r>
              <a:rPr lang="pt-BR"/>
              <a:t>Dr.B.Muruganantham                                   Associate Professor / C.Tech</a:t>
            </a:r>
            <a:endParaRPr lang="en-IN"/>
          </a:p>
        </p:txBody>
      </p:sp>
      <p:sp>
        <p:nvSpPr>
          <p:cNvPr id="6" name="Slide Number Placeholder 5"/>
          <p:cNvSpPr>
            <a:spLocks noGrp="1"/>
          </p:cNvSpPr>
          <p:nvPr>
            <p:ph type="sldNum" sz="quarter" idx="12"/>
          </p:nvPr>
        </p:nvSpPr>
        <p:spPr/>
        <p:txBody>
          <a:bodyPr/>
          <a:lstStyle/>
          <a:p>
            <a:fld id="{AD7ED525-5088-40CF-8CE0-E4296ADF624B}" type="slidenum">
              <a:rPr lang="en-IN" smtClean="0"/>
              <a:pPr/>
              <a:t>‹#›</a:t>
            </a:fld>
            <a:endParaRPr lang="en-IN"/>
          </a:p>
        </p:txBody>
      </p:sp>
    </p:spTree>
    <p:extLst>
      <p:ext uri="{BB962C8B-B14F-4D97-AF65-F5344CB8AC3E}">
        <p14:creationId xmlns:p14="http://schemas.microsoft.com/office/powerpoint/2010/main" val="2223202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7B2D81F4-14EF-43F0-A425-02128D0D9206}" type="datetime1">
              <a:rPr lang="en-IN" smtClean="0"/>
              <a:t>18/04/26</a:t>
            </a:fld>
            <a:endParaRPr lang="en-IN"/>
          </a:p>
        </p:txBody>
      </p:sp>
      <p:sp>
        <p:nvSpPr>
          <p:cNvPr id="6" name="Footer Placeholder 5"/>
          <p:cNvSpPr>
            <a:spLocks noGrp="1"/>
          </p:cNvSpPr>
          <p:nvPr>
            <p:ph type="ftr" sz="quarter" idx="11"/>
          </p:nvPr>
        </p:nvSpPr>
        <p:spPr/>
        <p:txBody>
          <a:bodyPr/>
          <a:lstStyle/>
          <a:p>
            <a:r>
              <a:rPr lang="pt-BR"/>
              <a:t>Dr.B.Muruganantham                                   Associate Professor / C.Tech</a:t>
            </a:r>
            <a:endParaRPr lang="en-IN"/>
          </a:p>
        </p:txBody>
      </p:sp>
      <p:sp>
        <p:nvSpPr>
          <p:cNvPr id="7" name="Slide Number Placeholder 6"/>
          <p:cNvSpPr>
            <a:spLocks noGrp="1"/>
          </p:cNvSpPr>
          <p:nvPr>
            <p:ph type="sldNum" sz="quarter" idx="12"/>
          </p:nvPr>
        </p:nvSpPr>
        <p:spPr/>
        <p:txBody>
          <a:bodyPr/>
          <a:lstStyle/>
          <a:p>
            <a:fld id="{AD7ED525-5088-40CF-8CE0-E4296ADF624B}" type="slidenum">
              <a:rPr lang="en-IN" smtClean="0"/>
              <a:pPr/>
              <a:t>‹#›</a:t>
            </a:fld>
            <a:endParaRPr lang="en-IN"/>
          </a:p>
        </p:txBody>
      </p:sp>
    </p:spTree>
    <p:extLst>
      <p:ext uri="{BB962C8B-B14F-4D97-AF65-F5344CB8AC3E}">
        <p14:creationId xmlns:p14="http://schemas.microsoft.com/office/powerpoint/2010/main" val="5426710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D29C794-FF33-4D0E-B85D-08380FCDBD22}" type="datetime1">
              <a:rPr lang="en-IN" smtClean="0"/>
              <a:t>18/04/26</a:t>
            </a:fld>
            <a:endParaRPr lang="en-IN"/>
          </a:p>
        </p:txBody>
      </p:sp>
      <p:sp>
        <p:nvSpPr>
          <p:cNvPr id="8" name="Footer Placeholder 7"/>
          <p:cNvSpPr>
            <a:spLocks noGrp="1"/>
          </p:cNvSpPr>
          <p:nvPr>
            <p:ph type="ftr" sz="quarter" idx="11"/>
          </p:nvPr>
        </p:nvSpPr>
        <p:spPr/>
        <p:txBody>
          <a:bodyPr/>
          <a:lstStyle/>
          <a:p>
            <a:r>
              <a:rPr lang="pt-BR"/>
              <a:t>Dr.B.Muruganantham                                   Associate Professor / C.Tech</a:t>
            </a:r>
            <a:endParaRPr lang="en-IN"/>
          </a:p>
        </p:txBody>
      </p:sp>
      <p:sp>
        <p:nvSpPr>
          <p:cNvPr id="9" name="Slide Number Placeholder 8"/>
          <p:cNvSpPr>
            <a:spLocks noGrp="1"/>
          </p:cNvSpPr>
          <p:nvPr>
            <p:ph type="sldNum" sz="quarter" idx="12"/>
          </p:nvPr>
        </p:nvSpPr>
        <p:spPr/>
        <p:txBody>
          <a:bodyPr/>
          <a:lstStyle/>
          <a:p>
            <a:fld id="{AD7ED525-5088-40CF-8CE0-E4296ADF624B}" type="slidenum">
              <a:rPr lang="en-IN" smtClean="0"/>
              <a:pPr/>
              <a:t>‹#›</a:t>
            </a:fld>
            <a:endParaRPr lang="en-IN"/>
          </a:p>
        </p:txBody>
      </p:sp>
    </p:spTree>
    <p:extLst>
      <p:ext uri="{BB962C8B-B14F-4D97-AF65-F5344CB8AC3E}">
        <p14:creationId xmlns:p14="http://schemas.microsoft.com/office/powerpoint/2010/main" val="1101443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D273659E-48D4-4974-B6A6-A3003994CE3E}" type="datetime1">
              <a:rPr lang="en-IN" smtClean="0"/>
              <a:t>18/04/26</a:t>
            </a:fld>
            <a:endParaRPr lang="en-IN"/>
          </a:p>
        </p:txBody>
      </p:sp>
      <p:sp>
        <p:nvSpPr>
          <p:cNvPr id="4" name="Footer Placeholder 3"/>
          <p:cNvSpPr>
            <a:spLocks noGrp="1"/>
          </p:cNvSpPr>
          <p:nvPr>
            <p:ph type="ftr" sz="quarter" idx="11"/>
          </p:nvPr>
        </p:nvSpPr>
        <p:spPr/>
        <p:txBody>
          <a:bodyPr/>
          <a:lstStyle/>
          <a:p>
            <a:r>
              <a:rPr lang="pt-BR"/>
              <a:t>Dr.B.Muruganantham                                   Associate Professor / C.Tech</a:t>
            </a:r>
            <a:endParaRPr lang="en-IN"/>
          </a:p>
        </p:txBody>
      </p:sp>
      <p:sp>
        <p:nvSpPr>
          <p:cNvPr id="5" name="Slide Number Placeholder 4"/>
          <p:cNvSpPr>
            <a:spLocks noGrp="1"/>
          </p:cNvSpPr>
          <p:nvPr>
            <p:ph type="sldNum" sz="quarter" idx="12"/>
          </p:nvPr>
        </p:nvSpPr>
        <p:spPr/>
        <p:txBody>
          <a:bodyPr/>
          <a:lstStyle/>
          <a:p>
            <a:fld id="{AD7ED525-5088-40CF-8CE0-E4296ADF624B}" type="slidenum">
              <a:rPr lang="en-IN" smtClean="0"/>
              <a:pPr/>
              <a:t>‹#›</a:t>
            </a:fld>
            <a:endParaRPr lang="en-IN"/>
          </a:p>
        </p:txBody>
      </p:sp>
    </p:spTree>
    <p:extLst>
      <p:ext uri="{BB962C8B-B14F-4D97-AF65-F5344CB8AC3E}">
        <p14:creationId xmlns:p14="http://schemas.microsoft.com/office/powerpoint/2010/main" val="11535917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232608-CC09-438B-9953-60F19B2EC23D}" type="datetime1">
              <a:rPr lang="en-IN" smtClean="0"/>
              <a:t>18/04/26</a:t>
            </a:fld>
            <a:endParaRPr lang="en-IN"/>
          </a:p>
        </p:txBody>
      </p:sp>
      <p:sp>
        <p:nvSpPr>
          <p:cNvPr id="3" name="Footer Placeholder 2"/>
          <p:cNvSpPr>
            <a:spLocks noGrp="1"/>
          </p:cNvSpPr>
          <p:nvPr>
            <p:ph type="ftr" sz="quarter" idx="11"/>
          </p:nvPr>
        </p:nvSpPr>
        <p:spPr/>
        <p:txBody>
          <a:bodyPr/>
          <a:lstStyle/>
          <a:p>
            <a:r>
              <a:rPr lang="pt-BR"/>
              <a:t>Dr.B.Muruganantham                                   Associate Professor / C.Tech</a:t>
            </a:r>
            <a:endParaRPr lang="en-IN"/>
          </a:p>
        </p:txBody>
      </p:sp>
      <p:sp>
        <p:nvSpPr>
          <p:cNvPr id="4" name="Slide Number Placeholder 3"/>
          <p:cNvSpPr>
            <a:spLocks noGrp="1"/>
          </p:cNvSpPr>
          <p:nvPr>
            <p:ph type="sldNum" sz="quarter" idx="12"/>
          </p:nvPr>
        </p:nvSpPr>
        <p:spPr/>
        <p:txBody>
          <a:bodyPr/>
          <a:lstStyle/>
          <a:p>
            <a:fld id="{AD7ED525-5088-40CF-8CE0-E4296ADF624B}" type="slidenum">
              <a:rPr lang="en-IN" smtClean="0"/>
              <a:pPr/>
              <a:t>‹#›</a:t>
            </a:fld>
            <a:endParaRPr lang="en-IN"/>
          </a:p>
        </p:txBody>
      </p:sp>
    </p:spTree>
    <p:extLst>
      <p:ext uri="{BB962C8B-B14F-4D97-AF65-F5344CB8AC3E}">
        <p14:creationId xmlns:p14="http://schemas.microsoft.com/office/powerpoint/2010/main" val="661037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83E1632-E4A3-4297-983A-55F2955DF000}" type="datetime1">
              <a:rPr lang="en-IN" smtClean="0"/>
              <a:t>18/04/26</a:t>
            </a:fld>
            <a:endParaRPr lang="en-IN"/>
          </a:p>
        </p:txBody>
      </p:sp>
      <p:sp>
        <p:nvSpPr>
          <p:cNvPr id="6" name="Footer Placeholder 5"/>
          <p:cNvSpPr>
            <a:spLocks noGrp="1"/>
          </p:cNvSpPr>
          <p:nvPr>
            <p:ph type="ftr" sz="quarter" idx="11"/>
          </p:nvPr>
        </p:nvSpPr>
        <p:spPr/>
        <p:txBody>
          <a:bodyPr/>
          <a:lstStyle/>
          <a:p>
            <a:r>
              <a:rPr lang="pt-BR"/>
              <a:t>Dr.B.Muruganantham                                   Associate Professor / C.Tech</a:t>
            </a:r>
            <a:endParaRPr lang="en-IN"/>
          </a:p>
        </p:txBody>
      </p:sp>
      <p:sp>
        <p:nvSpPr>
          <p:cNvPr id="7" name="Slide Number Placeholder 6"/>
          <p:cNvSpPr>
            <a:spLocks noGrp="1"/>
          </p:cNvSpPr>
          <p:nvPr>
            <p:ph type="sldNum" sz="quarter" idx="12"/>
          </p:nvPr>
        </p:nvSpPr>
        <p:spPr/>
        <p:txBody>
          <a:bodyPr/>
          <a:lstStyle/>
          <a:p>
            <a:fld id="{AD7ED525-5088-40CF-8CE0-E4296ADF624B}" type="slidenum">
              <a:rPr lang="en-IN" smtClean="0"/>
              <a:pPr/>
              <a:t>‹#›</a:t>
            </a:fld>
            <a:endParaRPr lang="en-IN"/>
          </a:p>
        </p:txBody>
      </p:sp>
    </p:spTree>
    <p:extLst>
      <p:ext uri="{BB962C8B-B14F-4D97-AF65-F5344CB8AC3E}">
        <p14:creationId xmlns:p14="http://schemas.microsoft.com/office/powerpoint/2010/main" val="37613228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E599BA9-B048-429F-A61B-D6BF214F3F13}" type="datetime1">
              <a:rPr lang="en-IN" smtClean="0"/>
              <a:t>18/04/26</a:t>
            </a:fld>
            <a:endParaRPr lang="en-IN"/>
          </a:p>
        </p:txBody>
      </p:sp>
      <p:sp>
        <p:nvSpPr>
          <p:cNvPr id="6" name="Footer Placeholder 5"/>
          <p:cNvSpPr>
            <a:spLocks noGrp="1"/>
          </p:cNvSpPr>
          <p:nvPr>
            <p:ph type="ftr" sz="quarter" idx="11"/>
          </p:nvPr>
        </p:nvSpPr>
        <p:spPr/>
        <p:txBody>
          <a:bodyPr/>
          <a:lstStyle/>
          <a:p>
            <a:r>
              <a:rPr lang="pt-BR"/>
              <a:t>Dr.B.Muruganantham                                   Associate Professor / C.Tech</a:t>
            </a:r>
            <a:endParaRPr lang="en-IN"/>
          </a:p>
        </p:txBody>
      </p:sp>
      <p:sp>
        <p:nvSpPr>
          <p:cNvPr id="7" name="Slide Number Placeholder 6"/>
          <p:cNvSpPr>
            <a:spLocks noGrp="1"/>
          </p:cNvSpPr>
          <p:nvPr>
            <p:ph type="sldNum" sz="quarter" idx="12"/>
          </p:nvPr>
        </p:nvSpPr>
        <p:spPr/>
        <p:txBody>
          <a:bodyPr/>
          <a:lstStyle/>
          <a:p>
            <a:fld id="{AD7ED525-5088-40CF-8CE0-E4296ADF624B}" type="slidenum">
              <a:rPr lang="en-IN" smtClean="0"/>
              <a:pPr/>
              <a:t>‹#›</a:t>
            </a:fld>
            <a:endParaRPr lang="en-IN"/>
          </a:p>
        </p:txBody>
      </p:sp>
    </p:spTree>
    <p:extLst>
      <p:ext uri="{BB962C8B-B14F-4D97-AF65-F5344CB8AC3E}">
        <p14:creationId xmlns:p14="http://schemas.microsoft.com/office/powerpoint/2010/main" val="1806247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FA31778-364D-4019-867B-87A3B4A1B3AE}" type="datetime1">
              <a:rPr lang="en-IN" smtClean="0"/>
              <a:t>18/04/26</a:t>
            </a:fld>
            <a:endParaRPr lang="en-IN"/>
          </a:p>
        </p:txBody>
      </p:sp>
      <p:sp>
        <p:nvSpPr>
          <p:cNvPr id="5" name="Footer Placeholder 4"/>
          <p:cNvSpPr>
            <a:spLocks noGrp="1"/>
          </p:cNvSpPr>
          <p:nvPr>
            <p:ph type="ftr" sz="quarter" idx="11"/>
          </p:nvPr>
        </p:nvSpPr>
        <p:spPr/>
        <p:txBody>
          <a:bodyPr/>
          <a:lstStyle/>
          <a:p>
            <a:r>
              <a:rPr lang="pt-BR"/>
              <a:t>Dr.B.Muruganantham                                   Associate Professor / C.Tech</a:t>
            </a:r>
            <a:endParaRPr lang="en-IN"/>
          </a:p>
        </p:txBody>
      </p:sp>
      <p:sp>
        <p:nvSpPr>
          <p:cNvPr id="6" name="Slide Number Placeholder 5"/>
          <p:cNvSpPr>
            <a:spLocks noGrp="1"/>
          </p:cNvSpPr>
          <p:nvPr>
            <p:ph type="sldNum" sz="quarter" idx="12"/>
          </p:nvPr>
        </p:nvSpPr>
        <p:spPr/>
        <p:txBody>
          <a:bodyPr/>
          <a:lstStyle/>
          <a:p>
            <a:fld id="{AD7ED525-5088-40CF-8CE0-E4296ADF624B}" type="slidenum">
              <a:rPr lang="en-IN" smtClean="0"/>
              <a:pPr/>
              <a:t>‹#›</a:t>
            </a:fld>
            <a:endParaRPr lang="en-IN"/>
          </a:p>
        </p:txBody>
      </p:sp>
    </p:spTree>
    <p:extLst>
      <p:ext uri="{BB962C8B-B14F-4D97-AF65-F5344CB8AC3E}">
        <p14:creationId xmlns:p14="http://schemas.microsoft.com/office/powerpoint/2010/main" val="39146364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F264C73-7024-4D80-AB52-11B3996884A6}" type="datetime1">
              <a:rPr lang="en-IN" smtClean="0"/>
              <a:t>18/04/26</a:t>
            </a:fld>
            <a:endParaRPr lang="en-IN"/>
          </a:p>
        </p:txBody>
      </p:sp>
      <p:sp>
        <p:nvSpPr>
          <p:cNvPr id="5" name="Footer Placeholder 4"/>
          <p:cNvSpPr>
            <a:spLocks noGrp="1"/>
          </p:cNvSpPr>
          <p:nvPr>
            <p:ph type="ftr" sz="quarter" idx="11"/>
          </p:nvPr>
        </p:nvSpPr>
        <p:spPr/>
        <p:txBody>
          <a:bodyPr/>
          <a:lstStyle/>
          <a:p>
            <a:r>
              <a:rPr lang="pt-BR"/>
              <a:t>Dr.B.Muruganantham                                   Associate Professor / C.Tech</a:t>
            </a:r>
            <a:endParaRPr lang="en-IN"/>
          </a:p>
        </p:txBody>
      </p:sp>
      <p:sp>
        <p:nvSpPr>
          <p:cNvPr id="6" name="Slide Number Placeholder 5"/>
          <p:cNvSpPr>
            <a:spLocks noGrp="1"/>
          </p:cNvSpPr>
          <p:nvPr>
            <p:ph type="sldNum" sz="quarter" idx="12"/>
          </p:nvPr>
        </p:nvSpPr>
        <p:spPr/>
        <p:txBody>
          <a:bodyPr/>
          <a:lstStyle/>
          <a:p>
            <a:fld id="{AD7ED525-5088-40CF-8CE0-E4296ADF624B}" type="slidenum">
              <a:rPr lang="en-IN" smtClean="0"/>
              <a:pPr/>
              <a:t>‹#›</a:t>
            </a:fld>
            <a:endParaRPr lang="en-IN"/>
          </a:p>
        </p:txBody>
      </p:sp>
    </p:spTree>
    <p:extLst>
      <p:ext uri="{BB962C8B-B14F-4D97-AF65-F5344CB8AC3E}">
        <p14:creationId xmlns:p14="http://schemas.microsoft.com/office/powerpoint/2010/main" val="1572548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5556F3-CE39-49DD-B077-865DD19B920B}" type="datetime1">
              <a:rPr lang="en-IN" smtClean="0"/>
              <a:t>18/04/26</a:t>
            </a:fld>
            <a:endParaRPr lang="en-US"/>
          </a:p>
        </p:txBody>
      </p:sp>
      <p:sp>
        <p:nvSpPr>
          <p:cNvPr id="5" name="Footer Placeholder 4"/>
          <p:cNvSpPr>
            <a:spLocks noGrp="1"/>
          </p:cNvSpPr>
          <p:nvPr>
            <p:ph type="ftr" sz="quarter" idx="11"/>
          </p:nvPr>
        </p:nvSpPr>
        <p:spPr/>
        <p:txBody>
          <a:bodyPr/>
          <a:lstStyle/>
          <a:p>
            <a:r>
              <a:rPr lang="pt-BR"/>
              <a:t>Dr.B.Muruganantham                                   Associate Professor / C.Tech</a:t>
            </a:r>
            <a:endParaRPr lang="en-US"/>
          </a:p>
        </p:txBody>
      </p:sp>
      <p:sp>
        <p:nvSpPr>
          <p:cNvPr id="6" name="Slide Number Placeholder 5"/>
          <p:cNvSpPr>
            <a:spLocks noGrp="1"/>
          </p:cNvSpPr>
          <p:nvPr>
            <p:ph type="sldNum" sz="quarter" idx="12"/>
          </p:nvPr>
        </p:nvSpPr>
        <p:spPr/>
        <p:txBody>
          <a:bodyPr/>
          <a:lstStyle/>
          <a:p>
            <a:fld id="{30BB16E2-1063-4ECC-B0F4-DD6A8CC0C30D}" type="slidenum">
              <a:rPr lang="en-US" smtClean="0"/>
              <a:pPr/>
              <a:t>‹#›</a:t>
            </a:fld>
            <a:endParaRPr lang="en-US"/>
          </a:p>
        </p:txBody>
      </p:sp>
    </p:spTree>
    <p:extLst>
      <p:ext uri="{BB962C8B-B14F-4D97-AF65-F5344CB8AC3E}">
        <p14:creationId xmlns:p14="http://schemas.microsoft.com/office/powerpoint/2010/main" val="15919104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82C975-0856-4600-BB2F-8EA3F6A846C9}" type="datetime1">
              <a:rPr lang="en-IN" smtClean="0"/>
              <a:t>18/04/26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pt-BR"/>
              <a:t>Dr.B.Muruganantham                                   Associate Professor / C.Tech</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7ED525-5088-40CF-8CE0-E4296ADF624B}" type="slidenum">
              <a:rPr lang="en-IN" smtClean="0"/>
              <a:pPr/>
              <a:t>‹#›</a:t>
            </a:fld>
            <a:endParaRPr lang="en-IN"/>
          </a:p>
        </p:txBody>
      </p:sp>
    </p:spTree>
    <p:extLst>
      <p:ext uri="{BB962C8B-B14F-4D97-AF65-F5344CB8AC3E}">
        <p14:creationId xmlns:p14="http://schemas.microsoft.com/office/powerpoint/2010/main" val="10913084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1.xml"/><Relationship Id="rId7" Type="http://schemas.openxmlformats.org/officeDocument/2006/relationships/image" Target="../media/image14.png"/><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11" Type="http://schemas.openxmlformats.org/officeDocument/2006/relationships/image" Target="../media/image18.png"/><Relationship Id="rId5" Type="http://schemas.openxmlformats.org/officeDocument/2006/relationships/diagramColors" Target="../diagrams/colors1.xml"/><Relationship Id="rId10" Type="http://schemas.openxmlformats.org/officeDocument/2006/relationships/image" Target="../media/image17.png"/><Relationship Id="rId4" Type="http://schemas.openxmlformats.org/officeDocument/2006/relationships/diagramQuickStyle" Target="../diagrams/quickStyle1.xml"/><Relationship Id="rId9"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5" Type="http://schemas.openxmlformats.org/officeDocument/2006/relationships/image" Target="../media/image27.png"/><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idx="4294967295"/>
          </p:nvPr>
        </p:nvSpPr>
        <p:spPr>
          <a:xfrm>
            <a:off x="7314394" y="2005988"/>
            <a:ext cx="4269883" cy="785611"/>
          </a:xfrm>
        </p:spPr>
        <p:txBody>
          <a:bodyPr>
            <a:normAutofit fontScale="90000"/>
          </a:bodyPr>
          <a:lstStyle/>
          <a:p>
            <a:r>
              <a:rPr lang="en-US" sz="2800" dirty="0">
                <a:solidFill>
                  <a:srgbClr val="FF0000"/>
                </a:solidFill>
                <a:latin typeface="Copperplate Gothic Light" panose="020E0507020206020404" pitchFamily="34" charset="0"/>
              </a:rPr>
              <a:t>21CSC205P Database Management Systems</a:t>
            </a:r>
            <a:endParaRPr lang="en-IN" sz="2800" dirty="0">
              <a:solidFill>
                <a:srgbClr val="FF0000"/>
              </a:solidFill>
              <a:latin typeface="Copperplate Gothic Light" panose="020E0507020206020404" pitchFamily="34" charset="0"/>
            </a:endParaRPr>
          </a:p>
        </p:txBody>
      </p:sp>
      <p:sp>
        <p:nvSpPr>
          <p:cNvPr id="5" name="Content Placeholder 4"/>
          <p:cNvSpPr>
            <a:spLocks noGrp="1"/>
          </p:cNvSpPr>
          <p:nvPr>
            <p:ph idx="1"/>
          </p:nvPr>
        </p:nvSpPr>
        <p:spPr>
          <a:xfrm>
            <a:off x="6706673" y="3546777"/>
            <a:ext cx="5485327" cy="2063795"/>
          </a:xfrm>
        </p:spPr>
        <p:txBody>
          <a:bodyPr>
            <a:noAutofit/>
          </a:bodyPr>
          <a:lstStyle/>
          <a:p>
            <a:pPr marL="0" indent="0">
              <a:buNone/>
            </a:pPr>
            <a:endParaRPr lang="en-US" sz="1800" dirty="0">
              <a:solidFill>
                <a:srgbClr val="0000FF"/>
              </a:solidFill>
              <a:latin typeface="Copperplate Gothic Light" panose="020E0507020206020404" pitchFamily="34" charset="0"/>
            </a:endParaRPr>
          </a:p>
          <a:p>
            <a:pPr marL="0" indent="0">
              <a:buNone/>
            </a:pPr>
            <a:r>
              <a:rPr lang="en-US" sz="1800" dirty="0">
                <a:solidFill>
                  <a:srgbClr val="0000FF"/>
                </a:solidFill>
                <a:latin typeface="Copperplate Gothic Light" panose="020E0507020206020404" pitchFamily="34" charset="0"/>
              </a:rPr>
              <a:t> </a:t>
            </a:r>
          </a:p>
          <a:p>
            <a:pPr marL="0" indent="0">
              <a:buNone/>
            </a:pPr>
            <a:endParaRPr lang="en-IN" sz="1800" dirty="0">
              <a:solidFill>
                <a:srgbClr val="0000FF"/>
              </a:solidFill>
              <a:latin typeface="Copperplate Gothic Light" panose="020E0507020206020404" pitchFamily="34" charset="0"/>
            </a:endParaRPr>
          </a:p>
        </p:txBody>
      </p:sp>
      <p:pic>
        <p:nvPicPr>
          <p:cNvPr id="10" name="Picture 9" descr="UB.jpg"/>
          <p:cNvPicPr>
            <a:picLocks noChangeAspect="1"/>
          </p:cNvPicPr>
          <p:nvPr/>
        </p:nvPicPr>
        <p:blipFill>
          <a:blip r:embed="rId3"/>
          <a:stretch>
            <a:fillRect/>
          </a:stretch>
        </p:blipFill>
        <p:spPr>
          <a:xfrm>
            <a:off x="0" y="0"/>
            <a:ext cx="6694099" cy="6858000"/>
          </a:xfrm>
          <a:prstGeom prst="rect">
            <a:avLst/>
          </a:prstGeom>
        </p:spPr>
      </p:pic>
      <p:sp>
        <p:nvSpPr>
          <p:cNvPr id="2" name="Slide Number Placeholder 1">
            <a:extLst>
              <a:ext uri="{FF2B5EF4-FFF2-40B4-BE49-F238E27FC236}">
                <a16:creationId xmlns:a16="http://schemas.microsoft.com/office/drawing/2014/main" id="{1589196A-12C5-F90C-72C4-787EBAA85659}"/>
              </a:ext>
            </a:extLst>
          </p:cNvPr>
          <p:cNvSpPr>
            <a:spLocks noGrp="1"/>
          </p:cNvSpPr>
          <p:nvPr>
            <p:ph type="sldNum" sz="quarter" idx="12"/>
          </p:nvPr>
        </p:nvSpPr>
        <p:spPr/>
        <p:txBody>
          <a:bodyPr/>
          <a:lstStyle/>
          <a:p>
            <a:fld id="{AD7ED525-5088-40CF-8CE0-E4296ADF624B}" type="slidenum">
              <a:rPr lang="en-IN" smtClean="0"/>
              <a:pPr/>
              <a:t>1</a:t>
            </a:fld>
            <a:endParaRPr lang="en-IN"/>
          </a:p>
        </p:txBody>
      </p:sp>
    </p:spTree>
    <p:extLst>
      <p:ext uri="{BB962C8B-B14F-4D97-AF65-F5344CB8AC3E}">
        <p14:creationId xmlns:p14="http://schemas.microsoft.com/office/powerpoint/2010/main" val="19796126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1120" y="152400"/>
            <a:ext cx="10515600" cy="463639"/>
          </a:xfrm>
        </p:spPr>
        <p:txBody>
          <a:bodyPr>
            <a:normAutofit fontScale="90000"/>
          </a:bodyPr>
          <a:lstStyle/>
          <a:p>
            <a:r>
              <a:rPr lang="en-US" sz="3200" dirty="0">
                <a:solidFill>
                  <a:srgbClr val="FF0000"/>
                </a:solidFill>
                <a:latin typeface="Copperplate Gothic Light" panose="020E0507020206020404" pitchFamily="34" charset="0"/>
              </a:rPr>
              <a:t>Outline of the Presentation</a:t>
            </a:r>
            <a:endParaRPr lang="en-IN" sz="3200" dirty="0">
              <a:solidFill>
                <a:srgbClr val="FF0000"/>
              </a:solidFill>
              <a:latin typeface="Copperplate Gothic Light" panose="020E0507020206020404" pitchFamily="34" charset="0"/>
            </a:endParaRPr>
          </a:p>
        </p:txBody>
      </p:sp>
      <p:sp>
        <p:nvSpPr>
          <p:cNvPr id="3" name="Content Placeholder 2"/>
          <p:cNvSpPr>
            <a:spLocks noGrp="1"/>
          </p:cNvSpPr>
          <p:nvPr>
            <p:ph idx="1"/>
          </p:nvPr>
        </p:nvSpPr>
        <p:spPr>
          <a:xfrm>
            <a:off x="426720" y="813994"/>
            <a:ext cx="11268404" cy="5047010"/>
          </a:xfrm>
        </p:spPr>
        <p:txBody>
          <a:bodyPr>
            <a:noAutofit/>
          </a:bodyPr>
          <a:lstStyle/>
          <a:p>
            <a:pPr algn="l"/>
            <a:r>
              <a:rPr lang="en-US" sz="2400" b="0" u="none" strike="noStrike" baseline="0" dirty="0">
                <a:solidFill>
                  <a:srgbClr val="0000FF"/>
                </a:solidFill>
                <a:latin typeface="Times New Roman" panose="02020603050405020304" pitchFamily="18" charset="0"/>
                <a:cs typeface="Times New Roman" panose="02020603050405020304" pitchFamily="18" charset="0"/>
              </a:rPr>
              <a:t>Conversion of ER model to Relational Table</a:t>
            </a:r>
          </a:p>
          <a:p>
            <a:pPr algn="l"/>
            <a:r>
              <a:rPr lang="en-US" sz="2400" b="0" u="none" strike="noStrike" baseline="0" dirty="0">
                <a:solidFill>
                  <a:srgbClr val="0000FF"/>
                </a:solidFill>
                <a:latin typeface="Times New Roman" panose="02020603050405020304" pitchFamily="18" charset="0"/>
                <a:cs typeface="Times New Roman" panose="02020603050405020304" pitchFamily="18" charset="0"/>
              </a:rPr>
              <a:t>Case study: Apply conversion concept. Discussion of various design issues</a:t>
            </a:r>
          </a:p>
          <a:p>
            <a:pPr algn="l"/>
            <a:r>
              <a:rPr lang="en-US" sz="2400" b="0" u="none" strike="noStrike" baseline="0" dirty="0">
                <a:solidFill>
                  <a:srgbClr val="0000FF"/>
                </a:solidFill>
                <a:latin typeface="Times New Roman" panose="02020603050405020304" pitchFamily="18" charset="0"/>
                <a:cs typeface="Times New Roman" panose="02020603050405020304" pitchFamily="18" charset="0"/>
              </a:rPr>
              <a:t>Pitfalls in Relational Database systems</a:t>
            </a:r>
          </a:p>
          <a:p>
            <a:pPr algn="l"/>
            <a:r>
              <a:rPr lang="en-US" sz="2400" b="0" u="none" strike="noStrike" baseline="0" dirty="0">
                <a:solidFill>
                  <a:srgbClr val="0000FF"/>
                </a:solidFill>
                <a:latin typeface="Times New Roman" panose="02020603050405020304" pitchFamily="18" charset="0"/>
                <a:cs typeface="Times New Roman" panose="02020603050405020304" pitchFamily="18" charset="0"/>
              </a:rPr>
              <a:t>Understanding various Relational languages such as </a:t>
            </a:r>
          </a:p>
          <a:p>
            <a:pPr algn="l"/>
            <a:r>
              <a:rPr lang="en-US" sz="2400" b="0" u="none" strike="noStrike" baseline="0" dirty="0">
                <a:solidFill>
                  <a:srgbClr val="0000FF"/>
                </a:solidFill>
                <a:latin typeface="Times New Roman" panose="02020603050405020304" pitchFamily="18" charset="0"/>
                <a:cs typeface="Times New Roman" panose="02020603050405020304" pitchFamily="18" charset="0"/>
              </a:rPr>
              <a:t>Tuple Relational calculus, </a:t>
            </a:r>
          </a:p>
          <a:p>
            <a:pPr algn="l"/>
            <a:r>
              <a:rPr lang="en-US" sz="2400" b="0" u="none" strike="noStrike" baseline="0" dirty="0">
                <a:solidFill>
                  <a:srgbClr val="0000FF"/>
                </a:solidFill>
                <a:latin typeface="Times New Roman" panose="02020603050405020304" pitchFamily="18" charset="0"/>
                <a:cs typeface="Times New Roman" panose="02020603050405020304" pitchFamily="18" charset="0"/>
              </a:rPr>
              <a:t>Domain relational calculus, </a:t>
            </a:r>
          </a:p>
          <a:p>
            <a:pPr algn="l"/>
            <a:r>
              <a:rPr lang="en-US" sz="2400" b="0" u="none" strike="noStrike" baseline="0">
                <a:solidFill>
                  <a:srgbClr val="0000FF"/>
                </a:solidFill>
                <a:latin typeface="Times New Roman" panose="02020603050405020304" pitchFamily="18" charset="0"/>
                <a:cs typeface="Times New Roman" panose="02020603050405020304" pitchFamily="18" charset="0"/>
              </a:rPr>
              <a:t>Calculus </a:t>
            </a:r>
            <a:r>
              <a:rPr lang="en-US" sz="2400" b="0" u="none" strike="noStrike" baseline="0" dirty="0">
                <a:solidFill>
                  <a:srgbClr val="0000FF"/>
                </a:solidFill>
                <a:latin typeface="Times New Roman" panose="02020603050405020304" pitchFamily="18" charset="0"/>
                <a:cs typeface="Times New Roman" panose="02020603050405020304" pitchFamily="18" charset="0"/>
              </a:rPr>
              <a:t>Vs Algebra</a:t>
            </a:r>
            <a:r>
              <a:rPr lang="en-US" sz="2400" b="0" u="none" strike="noStrike" baseline="0">
                <a:solidFill>
                  <a:srgbClr val="0000FF"/>
                </a:solidFill>
                <a:latin typeface="Times New Roman" panose="02020603050405020304" pitchFamily="18" charset="0"/>
                <a:cs typeface="Times New Roman" panose="02020603050405020304" pitchFamily="18" charset="0"/>
              </a:rPr>
              <a:t>, </a:t>
            </a:r>
          </a:p>
          <a:p>
            <a:pPr algn="l"/>
            <a:r>
              <a:rPr lang="en-US" sz="2400" b="0" u="none" strike="noStrike" baseline="0">
                <a:solidFill>
                  <a:srgbClr val="0000FF"/>
                </a:solidFill>
                <a:latin typeface="Times New Roman" panose="02020603050405020304" pitchFamily="18" charset="0"/>
                <a:cs typeface="Times New Roman" panose="02020603050405020304" pitchFamily="18" charset="0"/>
              </a:rPr>
              <a:t>Computational </a:t>
            </a:r>
            <a:r>
              <a:rPr lang="en-US" sz="2400" b="0" u="none" strike="noStrike" baseline="0" dirty="0">
                <a:solidFill>
                  <a:srgbClr val="0000FF"/>
                </a:solidFill>
                <a:latin typeface="Times New Roman" panose="02020603050405020304" pitchFamily="18" charset="0"/>
                <a:cs typeface="Times New Roman" panose="02020603050405020304" pitchFamily="18" charset="0"/>
              </a:rPr>
              <a:t>capabilities. </a:t>
            </a:r>
          </a:p>
          <a:p>
            <a:pPr algn="l"/>
            <a:r>
              <a:rPr lang="en-US" sz="2400" b="0" u="none" strike="noStrike" baseline="0" dirty="0">
                <a:solidFill>
                  <a:srgbClr val="0000FF"/>
                </a:solidFill>
                <a:latin typeface="Times New Roman" panose="02020603050405020304" pitchFamily="18" charset="0"/>
                <a:cs typeface="Times New Roman" panose="02020603050405020304" pitchFamily="18" charset="0"/>
              </a:rPr>
              <a:t>Case Study: Applying Relational Algebra for all the queries of application Designed.</a:t>
            </a:r>
            <a:endParaRPr lang="en-IN" sz="2400" dirty="0">
              <a:solidFill>
                <a:srgbClr val="0000FF"/>
              </a:solidFill>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630EB299-1453-A9D5-4AC0-B442BCAFE4A7}"/>
              </a:ext>
            </a:extLst>
          </p:cNvPr>
          <p:cNvSpPr>
            <a:spLocks noGrp="1"/>
          </p:cNvSpPr>
          <p:nvPr>
            <p:ph type="sldNum" sz="quarter" idx="12"/>
          </p:nvPr>
        </p:nvSpPr>
        <p:spPr/>
        <p:txBody>
          <a:bodyPr/>
          <a:lstStyle/>
          <a:p>
            <a:fld id="{AD7ED525-5088-40CF-8CE0-E4296ADF624B}" type="slidenum">
              <a:rPr lang="en-IN" smtClean="0"/>
              <a:pPr/>
              <a:t>2</a:t>
            </a:fld>
            <a:endParaRPr lang="en-IN"/>
          </a:p>
        </p:txBody>
      </p:sp>
    </p:spTree>
    <p:extLst>
      <p:ext uri="{BB962C8B-B14F-4D97-AF65-F5344CB8AC3E}">
        <p14:creationId xmlns:p14="http://schemas.microsoft.com/office/powerpoint/2010/main" val="16003957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19178" y="741873"/>
            <a:ext cx="11326482" cy="5805576"/>
          </a:xfrm>
        </p:spPr>
        <p:txBody>
          <a:bodyPr>
            <a:noAutofit/>
          </a:bodyPr>
          <a:lstStyle/>
          <a:p>
            <a:pPr>
              <a:buClr>
                <a:srgbClr val="C00000"/>
              </a:buClr>
              <a:buFont typeface="Wingdings" pitchFamily="2" charset="2"/>
              <a:buChar char="ü"/>
            </a:pPr>
            <a:r>
              <a:rPr lang="en-US" sz="2400" dirty="0">
                <a:solidFill>
                  <a:srgbClr val="0000FF"/>
                </a:solidFill>
                <a:latin typeface="Bookman Old Style" pitchFamily="18" charset="0"/>
              </a:rPr>
              <a:t>After completing the ER diagram</a:t>
            </a:r>
          </a:p>
          <a:p>
            <a:pPr>
              <a:buClr>
                <a:srgbClr val="C00000"/>
              </a:buClr>
              <a:buFont typeface="Wingdings" pitchFamily="2" charset="2"/>
              <a:buChar char="ü"/>
            </a:pPr>
            <a:r>
              <a:rPr lang="en-US" sz="2400" dirty="0">
                <a:solidFill>
                  <a:srgbClr val="0000FF"/>
                </a:solidFill>
                <a:latin typeface="Bookman Old Style" pitchFamily="18" charset="0"/>
              </a:rPr>
              <a:t>ER diagram is converted into the tables in relational model</a:t>
            </a:r>
          </a:p>
          <a:p>
            <a:pPr>
              <a:buClr>
                <a:srgbClr val="C00000"/>
              </a:buClr>
              <a:buFont typeface="Wingdings" pitchFamily="2" charset="2"/>
              <a:buChar char="ü"/>
            </a:pPr>
            <a:r>
              <a:rPr lang="en-US" sz="2400" dirty="0">
                <a:solidFill>
                  <a:srgbClr val="0000FF"/>
                </a:solidFill>
                <a:latin typeface="Bookman Old Style" pitchFamily="18" charset="0"/>
              </a:rPr>
              <a:t>Relational model can be easily implemented in ORACLE, MYSQL , etc., </a:t>
            </a:r>
          </a:p>
          <a:p>
            <a:pPr>
              <a:buClr>
                <a:srgbClr val="C00000"/>
              </a:buClr>
              <a:buFont typeface="Wingdings" pitchFamily="2" charset="2"/>
              <a:buChar char="ü"/>
            </a:pPr>
            <a:r>
              <a:rPr lang="en-US" sz="2400" dirty="0">
                <a:solidFill>
                  <a:srgbClr val="0000FF"/>
                </a:solidFill>
                <a:latin typeface="Bookman Old Style" pitchFamily="18" charset="0"/>
              </a:rPr>
              <a:t>The below points to be considered for converting ER diagram into tables.</a:t>
            </a:r>
          </a:p>
          <a:p>
            <a:pPr lvl="1">
              <a:lnSpc>
                <a:spcPct val="100000"/>
              </a:lnSpc>
              <a:buClr>
                <a:srgbClr val="C00000"/>
              </a:buClr>
            </a:pPr>
            <a:r>
              <a:rPr lang="en-US" dirty="0">
                <a:solidFill>
                  <a:srgbClr val="0000FF"/>
                </a:solidFill>
                <a:latin typeface="Bookman Old Style" pitchFamily="18" charset="0"/>
              </a:rPr>
              <a:t>Strong Entity Set With Only Simple Attributes</a:t>
            </a:r>
          </a:p>
          <a:p>
            <a:pPr lvl="1">
              <a:lnSpc>
                <a:spcPct val="100000"/>
              </a:lnSpc>
              <a:buClr>
                <a:srgbClr val="C00000"/>
              </a:buClr>
            </a:pPr>
            <a:r>
              <a:rPr lang="en-US" dirty="0">
                <a:solidFill>
                  <a:srgbClr val="0000FF"/>
                </a:solidFill>
                <a:latin typeface="Bookman Old Style" pitchFamily="18" charset="0"/>
              </a:rPr>
              <a:t>Strong Entity Set With Composite Attributes</a:t>
            </a:r>
          </a:p>
          <a:p>
            <a:pPr lvl="1">
              <a:lnSpc>
                <a:spcPct val="100000"/>
              </a:lnSpc>
              <a:buClr>
                <a:srgbClr val="C00000"/>
              </a:buClr>
            </a:pPr>
            <a:r>
              <a:rPr lang="en-US" dirty="0">
                <a:solidFill>
                  <a:srgbClr val="0000FF"/>
                </a:solidFill>
                <a:latin typeface="Bookman Old Style" pitchFamily="18" charset="0"/>
              </a:rPr>
              <a:t>Strong Entity Set With Multi Valued Attributes</a:t>
            </a:r>
          </a:p>
          <a:p>
            <a:pPr lvl="1">
              <a:lnSpc>
                <a:spcPct val="100000"/>
              </a:lnSpc>
              <a:buClr>
                <a:srgbClr val="C00000"/>
              </a:buClr>
            </a:pPr>
            <a:r>
              <a:rPr lang="en-US" dirty="0">
                <a:solidFill>
                  <a:srgbClr val="0000FF"/>
                </a:solidFill>
                <a:latin typeface="Bookman Old Style" pitchFamily="18" charset="0"/>
              </a:rPr>
              <a:t>Translating Relationship Set into a Table</a:t>
            </a:r>
          </a:p>
          <a:p>
            <a:pPr lvl="1">
              <a:lnSpc>
                <a:spcPct val="100000"/>
              </a:lnSpc>
              <a:buClr>
                <a:srgbClr val="C00000"/>
              </a:buClr>
            </a:pPr>
            <a:r>
              <a:rPr lang="en-US" dirty="0">
                <a:solidFill>
                  <a:srgbClr val="0000FF"/>
                </a:solidFill>
                <a:latin typeface="Bookman Old Style" pitchFamily="18" charset="0"/>
              </a:rPr>
              <a:t>Binary Relationships With Cardinality Ratios</a:t>
            </a:r>
          </a:p>
          <a:p>
            <a:pPr lvl="1">
              <a:lnSpc>
                <a:spcPct val="100000"/>
              </a:lnSpc>
              <a:buClr>
                <a:srgbClr val="C00000"/>
              </a:buClr>
            </a:pPr>
            <a:r>
              <a:rPr lang="en-US" dirty="0">
                <a:solidFill>
                  <a:srgbClr val="0000FF"/>
                </a:solidFill>
                <a:latin typeface="Bookman Old Style" pitchFamily="18" charset="0"/>
              </a:rPr>
              <a:t>Binary Relationship With Both Cardinality Constraints and Participation Constraints</a:t>
            </a:r>
          </a:p>
          <a:p>
            <a:pPr lvl="1">
              <a:lnSpc>
                <a:spcPct val="100000"/>
              </a:lnSpc>
              <a:buClr>
                <a:srgbClr val="C00000"/>
              </a:buClr>
            </a:pPr>
            <a:r>
              <a:rPr lang="en-US" dirty="0">
                <a:solidFill>
                  <a:srgbClr val="0000FF"/>
                </a:solidFill>
                <a:latin typeface="Bookman Old Style" pitchFamily="18" charset="0"/>
              </a:rPr>
              <a:t>Binary Relationship With Weak Entity Set</a:t>
            </a:r>
          </a:p>
          <a:p>
            <a:pPr>
              <a:buClr>
                <a:srgbClr val="C00000"/>
              </a:buClr>
              <a:buNone/>
            </a:pPr>
            <a:endParaRPr lang="en-US" sz="2400" dirty="0">
              <a:solidFill>
                <a:srgbClr val="0000FF"/>
              </a:solidFill>
            </a:endParaRPr>
          </a:p>
        </p:txBody>
      </p:sp>
      <p:sp>
        <p:nvSpPr>
          <p:cNvPr id="6" name="Rectangle 5"/>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Conversion of ER to Relational Table</a:t>
            </a:r>
            <a:r>
              <a:rPr lang="en-IN" sz="2700" dirty="0">
                <a:solidFill>
                  <a:srgbClr val="FF0000"/>
                </a:solidFill>
                <a:latin typeface="Copperplate Gothic Light" pitchFamily="34" charset="0"/>
              </a:rPr>
              <a:t> </a:t>
            </a:r>
          </a:p>
        </p:txBody>
      </p:sp>
      <p:sp>
        <p:nvSpPr>
          <p:cNvPr id="7" name="Slide Number Placeholder 6">
            <a:extLst>
              <a:ext uri="{FF2B5EF4-FFF2-40B4-BE49-F238E27FC236}">
                <a16:creationId xmlns:a16="http://schemas.microsoft.com/office/drawing/2014/main" id="{DB1C5960-4A56-4742-CDA0-9D4F8EDE091B}"/>
              </a:ext>
            </a:extLst>
          </p:cNvPr>
          <p:cNvSpPr>
            <a:spLocks noGrp="1"/>
          </p:cNvSpPr>
          <p:nvPr>
            <p:ph type="sldNum" sz="quarter" idx="12"/>
          </p:nvPr>
        </p:nvSpPr>
        <p:spPr/>
        <p:txBody>
          <a:bodyPr/>
          <a:lstStyle/>
          <a:p>
            <a:fld id="{AD7ED525-5088-40CF-8CE0-E4296ADF624B}" type="slidenum">
              <a:rPr lang="en-IN" smtClean="0"/>
              <a:pPr/>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68857" y="854674"/>
            <a:ext cx="11005868" cy="2535507"/>
          </a:xfrm>
        </p:spPr>
        <p:txBody>
          <a:bodyPr/>
          <a:lstStyle/>
          <a:p>
            <a:pPr marL="228600" lvl="1">
              <a:spcBef>
                <a:spcPts val="1000"/>
              </a:spcBef>
              <a:buNone/>
            </a:pPr>
            <a:r>
              <a:rPr lang="en-US" dirty="0">
                <a:solidFill>
                  <a:srgbClr val="C00000"/>
                </a:solidFill>
                <a:latin typeface="Copperplate Gothic Light" pitchFamily="34" charset="0"/>
              </a:rPr>
              <a:t>Strong Entity Set With Only Simple Attributes</a:t>
            </a:r>
          </a:p>
          <a:p>
            <a:pPr>
              <a:buClr>
                <a:srgbClr val="C00000"/>
              </a:buClr>
              <a:buFont typeface="Wingdings" pitchFamily="2" charset="2"/>
              <a:buChar char="ü"/>
            </a:pPr>
            <a:r>
              <a:rPr lang="en-US" sz="2400" dirty="0">
                <a:solidFill>
                  <a:srgbClr val="0000FF"/>
                </a:solidFill>
                <a:latin typeface="Bookman Old Style" pitchFamily="18" charset="0"/>
              </a:rPr>
              <a:t>A strong entity set with only simple attributes will require only one table in relational model.</a:t>
            </a:r>
          </a:p>
          <a:p>
            <a:pPr fontAlgn="base">
              <a:buClr>
                <a:srgbClr val="C00000"/>
              </a:buClr>
              <a:buFont typeface="Wingdings" pitchFamily="2" charset="2"/>
              <a:buChar char="ü"/>
            </a:pPr>
            <a:r>
              <a:rPr lang="en-US" sz="2400" dirty="0">
                <a:solidFill>
                  <a:srgbClr val="0000FF"/>
                </a:solidFill>
                <a:latin typeface="Bookman Old Style" pitchFamily="18" charset="0"/>
              </a:rPr>
              <a:t>Attributes of the table will be the attributes of the entity set.</a:t>
            </a:r>
          </a:p>
          <a:p>
            <a:pPr fontAlgn="base">
              <a:buClr>
                <a:srgbClr val="C00000"/>
              </a:buClr>
              <a:buFont typeface="Wingdings" pitchFamily="2" charset="2"/>
              <a:buChar char="ü"/>
            </a:pPr>
            <a:r>
              <a:rPr lang="en-US" sz="2400" dirty="0">
                <a:solidFill>
                  <a:srgbClr val="0000FF"/>
                </a:solidFill>
                <a:latin typeface="Bookman Old Style" pitchFamily="18" charset="0"/>
              </a:rPr>
              <a:t>The primary key of the table will be the key attribute of the entity set.</a:t>
            </a:r>
          </a:p>
          <a:p>
            <a:pPr>
              <a:buNone/>
            </a:pPr>
            <a:endParaRPr lang="en-US" dirty="0"/>
          </a:p>
        </p:txBody>
      </p:sp>
      <p:sp>
        <p:nvSpPr>
          <p:cNvPr id="6" name="Rectangle 5"/>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Conversion of ER to Relational Table</a:t>
            </a:r>
            <a:r>
              <a:rPr lang="en-IN" sz="2700" dirty="0">
                <a:solidFill>
                  <a:srgbClr val="FF0000"/>
                </a:solidFill>
                <a:latin typeface="Copperplate Gothic Light" pitchFamily="34" charset="0"/>
              </a:rPr>
              <a:t> </a:t>
            </a:r>
          </a:p>
        </p:txBody>
      </p:sp>
      <p:sp>
        <p:nvSpPr>
          <p:cNvPr id="7" name="Rectangle 6"/>
          <p:cNvSpPr/>
          <p:nvPr/>
        </p:nvSpPr>
        <p:spPr>
          <a:xfrm>
            <a:off x="1362974" y="4822165"/>
            <a:ext cx="1509622" cy="54346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FF"/>
                </a:solidFill>
                <a:latin typeface="Copperplate Gothic Light" pitchFamily="34" charset="0"/>
              </a:rPr>
              <a:t>STUDENT</a:t>
            </a:r>
          </a:p>
        </p:txBody>
      </p:sp>
      <p:sp>
        <p:nvSpPr>
          <p:cNvPr id="8" name="Oval 7"/>
          <p:cNvSpPr/>
          <p:nvPr/>
        </p:nvSpPr>
        <p:spPr>
          <a:xfrm>
            <a:off x="327804" y="3856007"/>
            <a:ext cx="1483743" cy="569343"/>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REG_NO</a:t>
            </a:r>
          </a:p>
        </p:txBody>
      </p:sp>
      <p:sp>
        <p:nvSpPr>
          <p:cNvPr id="9" name="Oval 8"/>
          <p:cNvSpPr/>
          <p:nvPr/>
        </p:nvSpPr>
        <p:spPr>
          <a:xfrm>
            <a:off x="1385975" y="5742317"/>
            <a:ext cx="1483743" cy="569343"/>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DOB</a:t>
            </a:r>
          </a:p>
        </p:txBody>
      </p:sp>
      <p:sp>
        <p:nvSpPr>
          <p:cNvPr id="10" name="Oval 9"/>
          <p:cNvSpPr/>
          <p:nvPr/>
        </p:nvSpPr>
        <p:spPr>
          <a:xfrm>
            <a:off x="2815088" y="3936521"/>
            <a:ext cx="1483743" cy="569343"/>
          </a:xfrm>
          <a:prstGeom prst="ellipse">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NAME</a:t>
            </a:r>
          </a:p>
        </p:txBody>
      </p:sp>
      <p:cxnSp>
        <p:nvCxnSpPr>
          <p:cNvPr id="12" name="Straight Connector 11"/>
          <p:cNvCxnSpPr>
            <a:endCxn id="8" idx="4"/>
          </p:cNvCxnSpPr>
          <p:nvPr/>
        </p:nvCxnSpPr>
        <p:spPr>
          <a:xfrm rot="10800000">
            <a:off x="1069676" y="4425350"/>
            <a:ext cx="759124" cy="3968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0" idx="4"/>
          </p:cNvCxnSpPr>
          <p:nvPr/>
        </p:nvCxnSpPr>
        <p:spPr>
          <a:xfrm rot="5400000">
            <a:off x="2875473" y="4157931"/>
            <a:ext cx="333555" cy="10294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7" idx="2"/>
            <a:endCxn id="9" idx="0"/>
          </p:cNvCxnSpPr>
          <p:nvPr/>
        </p:nvCxnSpPr>
        <p:spPr>
          <a:xfrm rot="16200000" flipH="1">
            <a:off x="1934473" y="5548942"/>
            <a:ext cx="376687" cy="1006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328467" y="3312544"/>
            <a:ext cx="2070340" cy="369332"/>
          </a:xfrm>
          <a:prstGeom prst="rect">
            <a:avLst/>
          </a:prstGeom>
          <a:noFill/>
        </p:spPr>
        <p:txBody>
          <a:bodyPr wrap="square" rtlCol="0">
            <a:spAutoFit/>
          </a:bodyPr>
          <a:lstStyle/>
          <a:p>
            <a:r>
              <a:rPr lang="en-US" dirty="0">
                <a:solidFill>
                  <a:srgbClr val="0000FF"/>
                </a:solidFill>
                <a:latin typeface="Copperplate Gothic Light" pitchFamily="34" charset="0"/>
              </a:rPr>
              <a:t>ER DIAGRAM</a:t>
            </a:r>
          </a:p>
        </p:txBody>
      </p:sp>
      <p:sp>
        <p:nvSpPr>
          <p:cNvPr id="18" name="TextBox 17"/>
          <p:cNvSpPr txBox="1"/>
          <p:nvPr/>
        </p:nvSpPr>
        <p:spPr>
          <a:xfrm>
            <a:off x="8166284" y="3361428"/>
            <a:ext cx="3022122" cy="369332"/>
          </a:xfrm>
          <a:prstGeom prst="rect">
            <a:avLst/>
          </a:prstGeom>
          <a:noFill/>
        </p:spPr>
        <p:txBody>
          <a:bodyPr wrap="square" rtlCol="0">
            <a:spAutoFit/>
          </a:bodyPr>
          <a:lstStyle/>
          <a:p>
            <a:r>
              <a:rPr lang="en-US" dirty="0">
                <a:solidFill>
                  <a:srgbClr val="0000FF"/>
                </a:solidFill>
                <a:latin typeface="Copperplate Gothic Light" pitchFamily="34" charset="0"/>
              </a:rPr>
              <a:t>RELATIONAL TABLE</a:t>
            </a:r>
          </a:p>
        </p:txBody>
      </p:sp>
      <p:graphicFrame>
        <p:nvGraphicFramePr>
          <p:cNvPr id="19" name="Table 18"/>
          <p:cNvGraphicFramePr>
            <a:graphicFrameLocks noGrp="1"/>
          </p:cNvGraphicFramePr>
          <p:nvPr/>
        </p:nvGraphicFramePr>
        <p:xfrm>
          <a:off x="7763718" y="3997703"/>
          <a:ext cx="3735240" cy="1483360"/>
        </p:xfrm>
        <a:graphic>
          <a:graphicData uri="http://schemas.openxmlformats.org/drawingml/2006/table">
            <a:tbl>
              <a:tblPr firstRow="1" bandRow="1">
                <a:tableStyleId>{5940675A-B579-460E-94D1-54222C63F5DA}</a:tableStyleId>
              </a:tblPr>
              <a:tblGrid>
                <a:gridCol w="1245080">
                  <a:extLst>
                    <a:ext uri="{9D8B030D-6E8A-4147-A177-3AD203B41FA5}">
                      <a16:colId xmlns:a16="http://schemas.microsoft.com/office/drawing/2014/main" val="20000"/>
                    </a:ext>
                  </a:extLst>
                </a:gridCol>
                <a:gridCol w="1245080">
                  <a:extLst>
                    <a:ext uri="{9D8B030D-6E8A-4147-A177-3AD203B41FA5}">
                      <a16:colId xmlns:a16="http://schemas.microsoft.com/office/drawing/2014/main" val="20001"/>
                    </a:ext>
                  </a:extLst>
                </a:gridCol>
                <a:gridCol w="1245080">
                  <a:extLst>
                    <a:ext uri="{9D8B030D-6E8A-4147-A177-3AD203B41FA5}">
                      <a16:colId xmlns:a16="http://schemas.microsoft.com/office/drawing/2014/main" val="20002"/>
                    </a:ext>
                  </a:extLst>
                </a:gridCol>
              </a:tblGrid>
              <a:tr h="370840">
                <a:tc>
                  <a:txBody>
                    <a:bodyPr/>
                    <a:lstStyle/>
                    <a:p>
                      <a:r>
                        <a:rPr lang="en-US" dirty="0">
                          <a:solidFill>
                            <a:srgbClr val="0000FF"/>
                          </a:solidFill>
                          <a:latin typeface="Copperplate Gothic Light" pitchFamily="34" charset="0"/>
                        </a:rPr>
                        <a:t>REG_NO</a:t>
                      </a:r>
                    </a:p>
                  </a:txBody>
                  <a:tcPr/>
                </a:tc>
                <a:tc>
                  <a:txBody>
                    <a:bodyPr/>
                    <a:lstStyle/>
                    <a:p>
                      <a:r>
                        <a:rPr lang="en-US" dirty="0">
                          <a:solidFill>
                            <a:srgbClr val="0000FF"/>
                          </a:solidFill>
                          <a:latin typeface="Copperplate Gothic Light" pitchFamily="34" charset="0"/>
                        </a:rPr>
                        <a:t>NAME</a:t>
                      </a:r>
                    </a:p>
                  </a:txBody>
                  <a:tcPr/>
                </a:tc>
                <a:tc>
                  <a:txBody>
                    <a:bodyPr/>
                    <a:lstStyle/>
                    <a:p>
                      <a:r>
                        <a:rPr lang="en-US" dirty="0">
                          <a:solidFill>
                            <a:srgbClr val="0000FF"/>
                          </a:solidFill>
                          <a:latin typeface="Copperplate Gothic Light" pitchFamily="34" charset="0"/>
                        </a:rPr>
                        <a:t>DOB</a:t>
                      </a:r>
                    </a:p>
                  </a:txBody>
                  <a:tcPr/>
                </a:tc>
                <a:extLst>
                  <a:ext uri="{0D108BD9-81ED-4DB2-BD59-A6C34878D82A}">
                    <a16:rowId xmlns:a16="http://schemas.microsoft.com/office/drawing/2014/main" val="10000"/>
                  </a:ext>
                </a:extLst>
              </a:tr>
              <a:tr h="370840">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1"/>
                  </a:ext>
                </a:extLst>
              </a:tr>
              <a:tr h="370840">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2"/>
                  </a:ext>
                </a:extLst>
              </a:tr>
              <a:tr h="370840">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3"/>
                  </a:ext>
                </a:extLst>
              </a:tr>
            </a:tbl>
          </a:graphicData>
        </a:graphic>
      </p:graphicFrame>
      <p:sp>
        <p:nvSpPr>
          <p:cNvPr id="20" name="Right Arrow 19"/>
          <p:cNvSpPr/>
          <p:nvPr/>
        </p:nvSpPr>
        <p:spPr>
          <a:xfrm>
            <a:off x="4011284" y="3303918"/>
            <a:ext cx="3795622" cy="491705"/>
          </a:xfrm>
          <a:prstGeom prst="rightArrow">
            <a:avLst/>
          </a:prstGeom>
          <a:noFill/>
          <a:ln w="317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a:solidFill>
                  <a:schemeClr val="accent6">
                    <a:lumMod val="50000"/>
                  </a:schemeClr>
                </a:solidFill>
                <a:latin typeface="Bookman Old Style" pitchFamily="18" charset="0"/>
              </a:rPr>
              <a:t>Er</a:t>
            </a:r>
            <a:r>
              <a:rPr lang="en-US" sz="1600" dirty="0">
                <a:solidFill>
                  <a:schemeClr val="accent6">
                    <a:lumMod val="50000"/>
                  </a:schemeClr>
                </a:solidFill>
                <a:latin typeface="Bookman Old Style" pitchFamily="18" charset="0"/>
              </a:rPr>
              <a:t> Diagram to relational table</a:t>
            </a:r>
          </a:p>
        </p:txBody>
      </p:sp>
      <p:sp>
        <p:nvSpPr>
          <p:cNvPr id="21" name="TextBox 20"/>
          <p:cNvSpPr txBox="1"/>
          <p:nvPr/>
        </p:nvSpPr>
        <p:spPr>
          <a:xfrm>
            <a:off x="7550989" y="5817080"/>
            <a:ext cx="4761780" cy="369332"/>
          </a:xfrm>
          <a:prstGeom prst="rect">
            <a:avLst/>
          </a:prstGeom>
          <a:noFill/>
        </p:spPr>
        <p:txBody>
          <a:bodyPr wrap="square" rtlCol="0">
            <a:spAutoFit/>
          </a:bodyPr>
          <a:lstStyle/>
          <a:p>
            <a:r>
              <a:rPr lang="en-US" dirty="0">
                <a:solidFill>
                  <a:srgbClr val="0000FF"/>
                </a:solidFill>
                <a:latin typeface="Bookman Old Style" pitchFamily="18" charset="0"/>
              </a:rPr>
              <a:t>Schema : student (</a:t>
            </a:r>
            <a:r>
              <a:rPr lang="en-US" dirty="0" err="1">
                <a:solidFill>
                  <a:srgbClr val="0000FF"/>
                </a:solidFill>
                <a:latin typeface="Bookman Old Style" pitchFamily="18" charset="0"/>
              </a:rPr>
              <a:t>reg_no</a:t>
            </a:r>
            <a:r>
              <a:rPr lang="en-US" dirty="0">
                <a:solidFill>
                  <a:srgbClr val="0000FF"/>
                </a:solidFill>
                <a:latin typeface="Bookman Old Style" pitchFamily="18" charset="0"/>
              </a:rPr>
              <a:t>, name, dob)</a:t>
            </a:r>
          </a:p>
        </p:txBody>
      </p:sp>
      <p:sp>
        <p:nvSpPr>
          <p:cNvPr id="11" name="Slide Number Placeholder 10">
            <a:extLst>
              <a:ext uri="{FF2B5EF4-FFF2-40B4-BE49-F238E27FC236}">
                <a16:creationId xmlns:a16="http://schemas.microsoft.com/office/drawing/2014/main" id="{301E7C61-8CC8-A76C-963D-24B4B3E5A160}"/>
              </a:ext>
            </a:extLst>
          </p:cNvPr>
          <p:cNvSpPr>
            <a:spLocks noGrp="1"/>
          </p:cNvSpPr>
          <p:nvPr>
            <p:ph type="sldNum" sz="quarter" idx="12"/>
          </p:nvPr>
        </p:nvSpPr>
        <p:spPr/>
        <p:txBody>
          <a:bodyPr/>
          <a:lstStyle/>
          <a:p>
            <a:fld id="{AD7ED525-5088-40CF-8CE0-E4296ADF624B}"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89781" y="707366"/>
            <a:ext cx="11164019" cy="5266397"/>
          </a:xfrm>
        </p:spPr>
        <p:txBody>
          <a:bodyPr/>
          <a:lstStyle/>
          <a:p>
            <a:pPr marL="228600" lvl="1">
              <a:spcBef>
                <a:spcPts val="1000"/>
              </a:spcBef>
              <a:buNone/>
            </a:pPr>
            <a:r>
              <a:rPr lang="en-US" dirty="0">
                <a:solidFill>
                  <a:srgbClr val="C00000"/>
                </a:solidFill>
                <a:latin typeface="Copperplate Gothic Light" pitchFamily="34" charset="0"/>
              </a:rPr>
              <a:t>Strong Entity Set With Composite Attributes</a:t>
            </a:r>
          </a:p>
          <a:p>
            <a:pPr fontAlgn="base">
              <a:buClr>
                <a:srgbClr val="C00000"/>
              </a:buClr>
              <a:buFont typeface="Wingdings" pitchFamily="2" charset="2"/>
              <a:buChar char="ü"/>
            </a:pPr>
            <a:r>
              <a:rPr lang="en-US" sz="2000" dirty="0">
                <a:solidFill>
                  <a:srgbClr val="0000FF"/>
                </a:solidFill>
                <a:latin typeface="Bookman Old Style" pitchFamily="18" charset="0"/>
              </a:rPr>
              <a:t>A strong entity set with any number of composite attributes will require only one table in relational model.</a:t>
            </a:r>
          </a:p>
          <a:p>
            <a:pPr fontAlgn="base">
              <a:buClr>
                <a:srgbClr val="C00000"/>
              </a:buClr>
              <a:buFont typeface="Wingdings" pitchFamily="2" charset="2"/>
              <a:buChar char="ü"/>
            </a:pPr>
            <a:r>
              <a:rPr lang="en-US" sz="2000" dirty="0">
                <a:solidFill>
                  <a:srgbClr val="0000FF"/>
                </a:solidFill>
                <a:latin typeface="Bookman Old Style" pitchFamily="18" charset="0"/>
              </a:rPr>
              <a:t>While conversion, simple attributes of the composite attributes are taken into account and not the composite attribute itself.</a:t>
            </a:r>
          </a:p>
          <a:p>
            <a:pPr>
              <a:buNone/>
            </a:pPr>
            <a:endParaRPr lang="en-US" dirty="0"/>
          </a:p>
          <a:p>
            <a:pPr>
              <a:buNone/>
            </a:pPr>
            <a:endParaRPr lang="en-US" dirty="0"/>
          </a:p>
        </p:txBody>
      </p:sp>
      <p:sp>
        <p:nvSpPr>
          <p:cNvPr id="6" name="Rectangle 5"/>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Conversion of ER to Relational Table</a:t>
            </a:r>
            <a:r>
              <a:rPr lang="en-IN" sz="2700" dirty="0">
                <a:solidFill>
                  <a:srgbClr val="FF0000"/>
                </a:solidFill>
                <a:latin typeface="Copperplate Gothic Light" pitchFamily="34" charset="0"/>
              </a:rPr>
              <a:t> </a:t>
            </a:r>
          </a:p>
        </p:txBody>
      </p:sp>
      <p:sp>
        <p:nvSpPr>
          <p:cNvPr id="7" name="Rectangle 6"/>
          <p:cNvSpPr/>
          <p:nvPr/>
        </p:nvSpPr>
        <p:spPr>
          <a:xfrm>
            <a:off x="1362974" y="4822165"/>
            <a:ext cx="1509622" cy="543465"/>
          </a:xfrm>
          <a:prstGeom prst="rect">
            <a:avLst/>
          </a:prstGeom>
          <a:solidFill>
            <a:schemeClr val="accent5">
              <a:lumMod val="40000"/>
              <a:lumOff val="6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FF"/>
                </a:solidFill>
                <a:latin typeface="Copperplate Gothic Light" pitchFamily="34" charset="0"/>
              </a:rPr>
              <a:t>STUDENT</a:t>
            </a:r>
          </a:p>
        </p:txBody>
      </p:sp>
      <p:sp>
        <p:nvSpPr>
          <p:cNvPr id="8" name="Oval 7"/>
          <p:cNvSpPr/>
          <p:nvPr/>
        </p:nvSpPr>
        <p:spPr>
          <a:xfrm>
            <a:off x="327804" y="3856007"/>
            <a:ext cx="1483743"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REG_NO</a:t>
            </a:r>
          </a:p>
        </p:txBody>
      </p:sp>
      <p:sp>
        <p:nvSpPr>
          <p:cNvPr id="9" name="Oval 8"/>
          <p:cNvSpPr/>
          <p:nvPr/>
        </p:nvSpPr>
        <p:spPr>
          <a:xfrm>
            <a:off x="1385975" y="5742317"/>
            <a:ext cx="1483743"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address</a:t>
            </a:r>
          </a:p>
        </p:txBody>
      </p:sp>
      <p:sp>
        <p:nvSpPr>
          <p:cNvPr id="10" name="Oval 9"/>
          <p:cNvSpPr/>
          <p:nvPr/>
        </p:nvSpPr>
        <p:spPr>
          <a:xfrm>
            <a:off x="2815088" y="3936521"/>
            <a:ext cx="1483743"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NAME</a:t>
            </a:r>
          </a:p>
        </p:txBody>
      </p:sp>
      <p:cxnSp>
        <p:nvCxnSpPr>
          <p:cNvPr id="11" name="Straight Connector 10"/>
          <p:cNvCxnSpPr>
            <a:endCxn id="8" idx="4"/>
          </p:cNvCxnSpPr>
          <p:nvPr/>
        </p:nvCxnSpPr>
        <p:spPr>
          <a:xfrm rot="10800000">
            <a:off x="1069676" y="4425350"/>
            <a:ext cx="759124" cy="3968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10" idx="4"/>
          </p:cNvCxnSpPr>
          <p:nvPr/>
        </p:nvCxnSpPr>
        <p:spPr>
          <a:xfrm rot="5400000">
            <a:off x="2875473" y="4157931"/>
            <a:ext cx="333555" cy="10294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7" idx="2"/>
            <a:endCxn id="9" idx="0"/>
          </p:cNvCxnSpPr>
          <p:nvPr/>
        </p:nvCxnSpPr>
        <p:spPr>
          <a:xfrm rot="16200000" flipH="1">
            <a:off x="1934473" y="5548942"/>
            <a:ext cx="376687" cy="1006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2139352" y="3019246"/>
            <a:ext cx="1483743" cy="569343"/>
          </a:xfrm>
          <a:prstGeom prst="ellipse">
            <a:avLst/>
          </a:prstGeom>
          <a:solidFill>
            <a:schemeClr val="accent6">
              <a:lumMod val="20000"/>
              <a:lumOff val="8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F_NAME</a:t>
            </a:r>
          </a:p>
        </p:txBody>
      </p:sp>
      <p:sp>
        <p:nvSpPr>
          <p:cNvPr id="15" name="Oval 14"/>
          <p:cNvSpPr/>
          <p:nvPr/>
        </p:nvSpPr>
        <p:spPr>
          <a:xfrm>
            <a:off x="4042914" y="3024997"/>
            <a:ext cx="1483743" cy="569343"/>
          </a:xfrm>
          <a:prstGeom prst="ellipse">
            <a:avLst/>
          </a:prstGeom>
          <a:solidFill>
            <a:schemeClr val="accent6">
              <a:lumMod val="20000"/>
              <a:lumOff val="8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L_NAME</a:t>
            </a:r>
          </a:p>
        </p:txBody>
      </p:sp>
      <p:sp>
        <p:nvSpPr>
          <p:cNvPr id="16" name="Oval 15"/>
          <p:cNvSpPr/>
          <p:nvPr/>
        </p:nvSpPr>
        <p:spPr>
          <a:xfrm>
            <a:off x="25878" y="5371382"/>
            <a:ext cx="1483743" cy="569343"/>
          </a:xfrm>
          <a:prstGeom prst="ellipse">
            <a:avLst/>
          </a:prstGeom>
          <a:solidFill>
            <a:schemeClr val="accent6">
              <a:lumMod val="20000"/>
              <a:lumOff val="8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rgbClr val="C00000"/>
                </a:solidFill>
                <a:latin typeface="Copperplate Gothic Light" pitchFamily="34" charset="0"/>
              </a:rPr>
              <a:t>Dno</a:t>
            </a:r>
            <a:endParaRPr lang="en-US" sz="1400" b="1" dirty="0">
              <a:solidFill>
                <a:srgbClr val="C00000"/>
              </a:solidFill>
              <a:latin typeface="Copperplate Gothic Light" pitchFamily="34" charset="0"/>
            </a:endParaRPr>
          </a:p>
        </p:txBody>
      </p:sp>
      <p:sp>
        <p:nvSpPr>
          <p:cNvPr id="17" name="Oval 16"/>
          <p:cNvSpPr/>
          <p:nvPr/>
        </p:nvSpPr>
        <p:spPr>
          <a:xfrm>
            <a:off x="3168768" y="4928559"/>
            <a:ext cx="1483743" cy="569343"/>
          </a:xfrm>
          <a:prstGeom prst="ellipse">
            <a:avLst/>
          </a:prstGeom>
          <a:solidFill>
            <a:schemeClr val="accent6">
              <a:lumMod val="20000"/>
              <a:lumOff val="8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Street</a:t>
            </a:r>
          </a:p>
        </p:txBody>
      </p:sp>
      <p:sp>
        <p:nvSpPr>
          <p:cNvPr id="18" name="Oval 17"/>
          <p:cNvSpPr/>
          <p:nvPr/>
        </p:nvSpPr>
        <p:spPr>
          <a:xfrm>
            <a:off x="3131387" y="5762445"/>
            <a:ext cx="1483743" cy="569343"/>
          </a:xfrm>
          <a:prstGeom prst="ellipse">
            <a:avLst/>
          </a:prstGeom>
          <a:solidFill>
            <a:schemeClr val="accent6">
              <a:lumMod val="20000"/>
              <a:lumOff val="8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city</a:t>
            </a:r>
          </a:p>
        </p:txBody>
      </p:sp>
      <p:cxnSp>
        <p:nvCxnSpPr>
          <p:cNvPr id="20" name="Straight Connector 19"/>
          <p:cNvCxnSpPr>
            <a:stCxn id="14" idx="4"/>
          </p:cNvCxnSpPr>
          <p:nvPr/>
        </p:nvCxnSpPr>
        <p:spPr>
          <a:xfrm rot="16200000" flipH="1">
            <a:off x="2920042" y="3549770"/>
            <a:ext cx="353683" cy="431319"/>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5" idx="4"/>
            <a:endCxn id="10" idx="7"/>
          </p:cNvCxnSpPr>
          <p:nvPr/>
        </p:nvCxnSpPr>
        <p:spPr>
          <a:xfrm rot="5400000">
            <a:off x="4220385" y="3455497"/>
            <a:ext cx="425559" cy="70324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6" idx="5"/>
            <a:endCxn id="9" idx="2"/>
          </p:cNvCxnSpPr>
          <p:nvPr/>
        </p:nvCxnSpPr>
        <p:spPr>
          <a:xfrm rot="16200000" flipH="1">
            <a:off x="1254332" y="5895346"/>
            <a:ext cx="169642" cy="9364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7" idx="3"/>
            <a:endCxn id="9" idx="7"/>
          </p:cNvCxnSpPr>
          <p:nvPr/>
        </p:nvCxnSpPr>
        <p:spPr>
          <a:xfrm rot="5400000">
            <a:off x="2813658" y="5253295"/>
            <a:ext cx="411171" cy="73362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a:stCxn id="9" idx="6"/>
            <a:endCxn id="18" idx="2"/>
          </p:cNvCxnSpPr>
          <p:nvPr/>
        </p:nvCxnSpPr>
        <p:spPr>
          <a:xfrm>
            <a:off x="2869718" y="6026989"/>
            <a:ext cx="261669" cy="2012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aphicFrame>
        <p:nvGraphicFramePr>
          <p:cNvPr id="29" name="Table 28"/>
          <p:cNvGraphicFramePr>
            <a:graphicFrameLocks noGrp="1"/>
          </p:cNvGraphicFramePr>
          <p:nvPr/>
        </p:nvGraphicFramePr>
        <p:xfrm>
          <a:off x="6487010" y="3083304"/>
          <a:ext cx="5503706" cy="1592212"/>
        </p:xfrm>
        <a:graphic>
          <a:graphicData uri="http://schemas.openxmlformats.org/drawingml/2006/table">
            <a:tbl>
              <a:tblPr firstRow="1" bandRow="1">
                <a:tableStyleId>{5940675A-B579-460E-94D1-54222C63F5DA}</a:tableStyleId>
              </a:tblPr>
              <a:tblGrid>
                <a:gridCol w="973941">
                  <a:extLst>
                    <a:ext uri="{9D8B030D-6E8A-4147-A177-3AD203B41FA5}">
                      <a16:colId xmlns:a16="http://schemas.microsoft.com/office/drawing/2014/main" val="20000"/>
                    </a:ext>
                  </a:extLst>
                </a:gridCol>
                <a:gridCol w="928797">
                  <a:extLst>
                    <a:ext uri="{9D8B030D-6E8A-4147-A177-3AD203B41FA5}">
                      <a16:colId xmlns:a16="http://schemas.microsoft.com/office/drawing/2014/main" val="20001"/>
                    </a:ext>
                  </a:extLst>
                </a:gridCol>
                <a:gridCol w="964868">
                  <a:extLst>
                    <a:ext uri="{9D8B030D-6E8A-4147-A177-3AD203B41FA5}">
                      <a16:colId xmlns:a16="http://schemas.microsoft.com/office/drawing/2014/main" val="20002"/>
                    </a:ext>
                  </a:extLst>
                </a:gridCol>
                <a:gridCol w="662554">
                  <a:extLst>
                    <a:ext uri="{9D8B030D-6E8A-4147-A177-3AD203B41FA5}">
                      <a16:colId xmlns:a16="http://schemas.microsoft.com/office/drawing/2014/main" val="20003"/>
                    </a:ext>
                  </a:extLst>
                </a:gridCol>
                <a:gridCol w="986773">
                  <a:extLst>
                    <a:ext uri="{9D8B030D-6E8A-4147-A177-3AD203B41FA5}">
                      <a16:colId xmlns:a16="http://schemas.microsoft.com/office/drawing/2014/main" val="20004"/>
                    </a:ext>
                  </a:extLst>
                </a:gridCol>
                <a:gridCol w="986773">
                  <a:extLst>
                    <a:ext uri="{9D8B030D-6E8A-4147-A177-3AD203B41FA5}">
                      <a16:colId xmlns:a16="http://schemas.microsoft.com/office/drawing/2014/main" val="20005"/>
                    </a:ext>
                  </a:extLst>
                </a:gridCol>
              </a:tblGrid>
              <a:tr h="398053">
                <a:tc>
                  <a:txBody>
                    <a:bodyPr/>
                    <a:lstStyle/>
                    <a:p>
                      <a:r>
                        <a:rPr lang="en-US" sz="1400" dirty="0" err="1">
                          <a:solidFill>
                            <a:srgbClr val="0000FF"/>
                          </a:solidFill>
                          <a:latin typeface="Copperplate Gothic Light" pitchFamily="34" charset="0"/>
                        </a:rPr>
                        <a:t>Reg_no</a:t>
                      </a:r>
                      <a:endParaRPr lang="en-US" sz="1400" dirty="0">
                        <a:solidFill>
                          <a:srgbClr val="0000FF"/>
                        </a:solidFill>
                        <a:latin typeface="Copperplate Gothic Light" pitchFamily="34" charset="0"/>
                      </a:endParaRPr>
                    </a:p>
                  </a:txBody>
                  <a:tcPr/>
                </a:tc>
                <a:tc>
                  <a:txBody>
                    <a:bodyPr/>
                    <a:lstStyle/>
                    <a:p>
                      <a:r>
                        <a:rPr lang="en-US" sz="1400" dirty="0" err="1">
                          <a:solidFill>
                            <a:srgbClr val="0000FF"/>
                          </a:solidFill>
                          <a:latin typeface="Copperplate Gothic Light" pitchFamily="34" charset="0"/>
                        </a:rPr>
                        <a:t>F_name</a:t>
                      </a:r>
                      <a:endParaRPr lang="en-US" sz="1400" dirty="0">
                        <a:solidFill>
                          <a:srgbClr val="0000FF"/>
                        </a:solidFill>
                        <a:latin typeface="Copperplate Gothic Light" pitchFamily="34" charset="0"/>
                      </a:endParaRPr>
                    </a:p>
                  </a:txBody>
                  <a:tcPr/>
                </a:tc>
                <a:tc>
                  <a:txBody>
                    <a:bodyPr/>
                    <a:lstStyle/>
                    <a:p>
                      <a:r>
                        <a:rPr lang="en-US" sz="1400" dirty="0" err="1">
                          <a:solidFill>
                            <a:srgbClr val="0000FF"/>
                          </a:solidFill>
                          <a:latin typeface="Copperplate Gothic Light" pitchFamily="34" charset="0"/>
                        </a:rPr>
                        <a:t>L_name</a:t>
                      </a:r>
                      <a:endParaRPr lang="en-US" sz="1400" dirty="0">
                        <a:solidFill>
                          <a:srgbClr val="0000FF"/>
                        </a:solidFill>
                        <a:latin typeface="Copperplate Gothic Light" pitchFamily="34" charset="0"/>
                      </a:endParaRPr>
                    </a:p>
                  </a:txBody>
                  <a:tcPr/>
                </a:tc>
                <a:tc>
                  <a:txBody>
                    <a:bodyPr/>
                    <a:lstStyle/>
                    <a:p>
                      <a:r>
                        <a:rPr lang="en-US" sz="1400" dirty="0" err="1">
                          <a:solidFill>
                            <a:srgbClr val="0000FF"/>
                          </a:solidFill>
                          <a:latin typeface="Copperplate Gothic Light" pitchFamily="34" charset="0"/>
                        </a:rPr>
                        <a:t>dno</a:t>
                      </a:r>
                      <a:endParaRPr lang="en-US" sz="1400" dirty="0">
                        <a:solidFill>
                          <a:srgbClr val="0000FF"/>
                        </a:solidFill>
                        <a:latin typeface="Copperplate Gothic Light" pitchFamily="34" charset="0"/>
                      </a:endParaRPr>
                    </a:p>
                  </a:txBody>
                  <a:tcPr/>
                </a:tc>
                <a:tc>
                  <a:txBody>
                    <a:bodyPr/>
                    <a:lstStyle/>
                    <a:p>
                      <a:r>
                        <a:rPr lang="en-US" sz="1400" dirty="0">
                          <a:solidFill>
                            <a:srgbClr val="0000FF"/>
                          </a:solidFill>
                          <a:latin typeface="Copperplate Gothic Light" pitchFamily="34" charset="0"/>
                        </a:rPr>
                        <a:t>street</a:t>
                      </a:r>
                    </a:p>
                  </a:txBody>
                  <a:tcPr/>
                </a:tc>
                <a:tc>
                  <a:txBody>
                    <a:bodyPr/>
                    <a:lstStyle/>
                    <a:p>
                      <a:r>
                        <a:rPr lang="en-US" sz="1400" dirty="0">
                          <a:solidFill>
                            <a:srgbClr val="0000FF"/>
                          </a:solidFill>
                          <a:latin typeface="Copperplate Gothic Light" pitchFamily="34" charset="0"/>
                        </a:rPr>
                        <a:t>city</a:t>
                      </a:r>
                    </a:p>
                  </a:txBody>
                  <a:tcPr/>
                </a:tc>
                <a:extLst>
                  <a:ext uri="{0D108BD9-81ED-4DB2-BD59-A6C34878D82A}">
                    <a16:rowId xmlns:a16="http://schemas.microsoft.com/office/drawing/2014/main" val="10000"/>
                  </a:ext>
                </a:extLst>
              </a:tr>
              <a:tr h="398053">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1"/>
                  </a:ext>
                </a:extLst>
              </a:tr>
              <a:tr h="398053">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2"/>
                  </a:ext>
                </a:extLst>
              </a:tr>
              <a:tr h="398053">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3"/>
                  </a:ext>
                </a:extLst>
              </a:tr>
            </a:tbl>
          </a:graphicData>
        </a:graphic>
      </p:graphicFrame>
      <p:grpSp>
        <p:nvGrpSpPr>
          <p:cNvPr id="34" name="Group 33"/>
          <p:cNvGrpSpPr/>
          <p:nvPr/>
        </p:nvGrpSpPr>
        <p:grpSpPr>
          <a:xfrm>
            <a:off x="1302588" y="2389560"/>
            <a:ext cx="9859939" cy="491705"/>
            <a:chOff x="1302588" y="2389560"/>
            <a:chExt cx="9859939" cy="491705"/>
          </a:xfrm>
        </p:grpSpPr>
        <p:sp>
          <p:nvSpPr>
            <p:cNvPr id="30" name="TextBox 29"/>
            <p:cNvSpPr txBox="1"/>
            <p:nvPr/>
          </p:nvSpPr>
          <p:spPr>
            <a:xfrm>
              <a:off x="1302588" y="2441318"/>
              <a:ext cx="2070340" cy="338554"/>
            </a:xfrm>
            <a:prstGeom prst="rect">
              <a:avLst/>
            </a:prstGeom>
            <a:noFill/>
          </p:spPr>
          <p:txBody>
            <a:bodyPr wrap="square" rtlCol="0">
              <a:spAutoFit/>
            </a:bodyPr>
            <a:lstStyle/>
            <a:p>
              <a:r>
                <a:rPr lang="en-US" sz="1600" dirty="0">
                  <a:solidFill>
                    <a:srgbClr val="0000FF"/>
                  </a:solidFill>
                  <a:latin typeface="Copperplate Gothic Light" pitchFamily="34" charset="0"/>
                </a:rPr>
                <a:t>ER DIAGRAM</a:t>
              </a:r>
            </a:p>
          </p:txBody>
        </p:sp>
        <p:sp>
          <p:nvSpPr>
            <p:cNvPr id="31" name="TextBox 30"/>
            <p:cNvSpPr txBox="1"/>
            <p:nvPr/>
          </p:nvSpPr>
          <p:spPr>
            <a:xfrm>
              <a:off x="8140405" y="2490202"/>
              <a:ext cx="3022122" cy="338554"/>
            </a:xfrm>
            <a:prstGeom prst="rect">
              <a:avLst/>
            </a:prstGeom>
            <a:noFill/>
          </p:spPr>
          <p:txBody>
            <a:bodyPr wrap="square" rtlCol="0">
              <a:spAutoFit/>
            </a:bodyPr>
            <a:lstStyle/>
            <a:p>
              <a:r>
                <a:rPr lang="en-US" sz="1600" dirty="0">
                  <a:solidFill>
                    <a:srgbClr val="0000FF"/>
                  </a:solidFill>
                  <a:latin typeface="Copperplate Gothic Light" pitchFamily="34" charset="0"/>
                </a:rPr>
                <a:t>RELATIONAL TABLE</a:t>
              </a:r>
            </a:p>
          </p:txBody>
        </p:sp>
        <p:sp>
          <p:nvSpPr>
            <p:cNvPr id="32" name="Right Arrow 31"/>
            <p:cNvSpPr/>
            <p:nvPr/>
          </p:nvSpPr>
          <p:spPr>
            <a:xfrm>
              <a:off x="3985405" y="2389560"/>
              <a:ext cx="3795622" cy="491705"/>
            </a:xfrm>
            <a:prstGeom prst="rightArrow">
              <a:avLst/>
            </a:prstGeom>
            <a:noFill/>
            <a:ln w="317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accent6">
                      <a:lumMod val="50000"/>
                    </a:schemeClr>
                  </a:solidFill>
                  <a:latin typeface="Bookman Old Style" pitchFamily="18" charset="0"/>
                </a:rPr>
                <a:t>Er</a:t>
              </a:r>
              <a:r>
                <a:rPr lang="en-US" sz="1400" dirty="0">
                  <a:solidFill>
                    <a:schemeClr val="accent6">
                      <a:lumMod val="50000"/>
                    </a:schemeClr>
                  </a:solidFill>
                  <a:latin typeface="Bookman Old Style" pitchFamily="18" charset="0"/>
                </a:rPr>
                <a:t> Diagram to relational table</a:t>
              </a:r>
            </a:p>
          </p:txBody>
        </p:sp>
      </p:grpSp>
      <p:sp>
        <p:nvSpPr>
          <p:cNvPr id="33" name="TextBox 32"/>
          <p:cNvSpPr txBox="1"/>
          <p:nvPr/>
        </p:nvSpPr>
        <p:spPr>
          <a:xfrm>
            <a:off x="6340415" y="4807790"/>
            <a:ext cx="6021237" cy="323165"/>
          </a:xfrm>
          <a:prstGeom prst="rect">
            <a:avLst/>
          </a:prstGeom>
          <a:noFill/>
        </p:spPr>
        <p:txBody>
          <a:bodyPr wrap="square" rtlCol="0">
            <a:spAutoFit/>
          </a:bodyPr>
          <a:lstStyle/>
          <a:p>
            <a:r>
              <a:rPr lang="en-US" sz="1500" dirty="0">
                <a:solidFill>
                  <a:srgbClr val="0000FF"/>
                </a:solidFill>
                <a:latin typeface="Bookman Old Style" pitchFamily="18" charset="0"/>
              </a:rPr>
              <a:t>Schema : student (</a:t>
            </a:r>
            <a:r>
              <a:rPr lang="en-US" sz="1500" dirty="0" err="1">
                <a:solidFill>
                  <a:srgbClr val="0000FF"/>
                </a:solidFill>
                <a:latin typeface="Bookman Old Style" pitchFamily="18" charset="0"/>
              </a:rPr>
              <a:t>reg_no</a:t>
            </a:r>
            <a:r>
              <a:rPr lang="en-US" sz="1500" dirty="0">
                <a:solidFill>
                  <a:srgbClr val="0000FF"/>
                </a:solidFill>
                <a:latin typeface="Bookman Old Style" pitchFamily="18" charset="0"/>
              </a:rPr>
              <a:t>, </a:t>
            </a:r>
            <a:r>
              <a:rPr lang="en-US" sz="1500" dirty="0" err="1">
                <a:solidFill>
                  <a:srgbClr val="0000FF"/>
                </a:solidFill>
                <a:latin typeface="Bookman Old Style" pitchFamily="18" charset="0"/>
              </a:rPr>
              <a:t>f_name</a:t>
            </a:r>
            <a:r>
              <a:rPr lang="en-US" sz="1500" dirty="0">
                <a:solidFill>
                  <a:srgbClr val="0000FF"/>
                </a:solidFill>
                <a:latin typeface="Bookman Old Style" pitchFamily="18" charset="0"/>
              </a:rPr>
              <a:t>, </a:t>
            </a:r>
            <a:r>
              <a:rPr lang="en-US" sz="1500" dirty="0" err="1">
                <a:solidFill>
                  <a:srgbClr val="0000FF"/>
                </a:solidFill>
                <a:latin typeface="Bookman Old Style" pitchFamily="18" charset="0"/>
              </a:rPr>
              <a:t>l_name</a:t>
            </a:r>
            <a:r>
              <a:rPr lang="en-US" sz="1500" dirty="0">
                <a:solidFill>
                  <a:srgbClr val="0000FF"/>
                </a:solidFill>
                <a:latin typeface="Bookman Old Style" pitchFamily="18" charset="0"/>
              </a:rPr>
              <a:t>, </a:t>
            </a:r>
            <a:r>
              <a:rPr lang="en-US" sz="1500" dirty="0" err="1">
                <a:solidFill>
                  <a:srgbClr val="0000FF"/>
                </a:solidFill>
                <a:latin typeface="Bookman Old Style" pitchFamily="18" charset="0"/>
              </a:rPr>
              <a:t>dno</a:t>
            </a:r>
            <a:r>
              <a:rPr lang="en-US" sz="1500" dirty="0">
                <a:solidFill>
                  <a:srgbClr val="0000FF"/>
                </a:solidFill>
                <a:latin typeface="Bookman Old Style" pitchFamily="18" charset="0"/>
              </a:rPr>
              <a:t>, street, city)</a:t>
            </a:r>
          </a:p>
        </p:txBody>
      </p:sp>
      <p:sp>
        <p:nvSpPr>
          <p:cNvPr id="19" name="Slide Number Placeholder 18">
            <a:extLst>
              <a:ext uri="{FF2B5EF4-FFF2-40B4-BE49-F238E27FC236}">
                <a16:creationId xmlns:a16="http://schemas.microsoft.com/office/drawing/2014/main" id="{710D2717-B40A-0B1E-4A48-C8AE3936BCD9}"/>
              </a:ext>
            </a:extLst>
          </p:cNvPr>
          <p:cNvSpPr>
            <a:spLocks noGrp="1"/>
          </p:cNvSpPr>
          <p:nvPr>
            <p:ph type="sldNum" sz="quarter" idx="12"/>
          </p:nvPr>
        </p:nvSpPr>
        <p:spPr/>
        <p:txBody>
          <a:bodyPr/>
          <a:lstStyle/>
          <a:p>
            <a:fld id="{AD7ED525-5088-40CF-8CE0-E4296ADF624B}" type="slidenum">
              <a:rPr lang="en-IN" smtClean="0"/>
              <a:pPr/>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99845" y="664892"/>
            <a:ext cx="11583837" cy="5442609"/>
          </a:xfrm>
        </p:spPr>
        <p:txBody>
          <a:bodyPr>
            <a:normAutofit/>
          </a:bodyPr>
          <a:lstStyle/>
          <a:p>
            <a:pPr>
              <a:buNone/>
            </a:pPr>
            <a:r>
              <a:rPr lang="en-US" sz="2400" dirty="0">
                <a:solidFill>
                  <a:srgbClr val="C00000"/>
                </a:solidFill>
                <a:latin typeface="Copperplate Gothic Light" pitchFamily="34" charset="0"/>
              </a:rPr>
              <a:t>Strong Entity Set With Multi Valued Attributes</a:t>
            </a:r>
          </a:p>
          <a:p>
            <a:pPr fontAlgn="base">
              <a:buClr>
                <a:srgbClr val="C00000"/>
              </a:buClr>
              <a:buFont typeface="Wingdings" pitchFamily="2" charset="2"/>
              <a:buChar char="ü"/>
            </a:pPr>
            <a:r>
              <a:rPr lang="en-US" sz="2000" dirty="0">
                <a:solidFill>
                  <a:srgbClr val="0000FF"/>
                </a:solidFill>
                <a:latin typeface="Bookman Old Style" pitchFamily="18" charset="0"/>
              </a:rPr>
              <a:t>A strong entity set with any number of multi valued attributes will require two tables in relational model.</a:t>
            </a:r>
          </a:p>
          <a:p>
            <a:pPr fontAlgn="base">
              <a:buClr>
                <a:srgbClr val="C00000"/>
              </a:buClr>
              <a:buFont typeface="Wingdings" pitchFamily="2" charset="2"/>
              <a:buChar char="ü"/>
            </a:pPr>
            <a:r>
              <a:rPr lang="en-US" sz="2000" dirty="0">
                <a:solidFill>
                  <a:srgbClr val="0000FF"/>
                </a:solidFill>
                <a:latin typeface="Bookman Old Style" pitchFamily="18" charset="0"/>
              </a:rPr>
              <a:t>One table will contain all the simple attributes with the primary key.</a:t>
            </a:r>
          </a:p>
          <a:p>
            <a:pPr fontAlgn="base">
              <a:buClr>
                <a:srgbClr val="C00000"/>
              </a:buClr>
              <a:buFont typeface="Wingdings" pitchFamily="2" charset="2"/>
              <a:buChar char="ü"/>
            </a:pPr>
            <a:r>
              <a:rPr lang="en-US" sz="2000" dirty="0">
                <a:solidFill>
                  <a:srgbClr val="0000FF"/>
                </a:solidFill>
                <a:latin typeface="Bookman Old Style" pitchFamily="18" charset="0"/>
              </a:rPr>
              <a:t>Other table will contain the primary key and all the multi valued attributes.</a:t>
            </a:r>
          </a:p>
          <a:p>
            <a:pPr>
              <a:buNone/>
            </a:pPr>
            <a:endParaRPr lang="en-US" sz="2400" dirty="0">
              <a:solidFill>
                <a:srgbClr val="C00000"/>
              </a:solidFill>
              <a:latin typeface="Copperplate Gothic Light" pitchFamily="34" charset="0"/>
            </a:endParaRPr>
          </a:p>
        </p:txBody>
      </p:sp>
      <p:sp>
        <p:nvSpPr>
          <p:cNvPr id="6" name="Rectangle 5"/>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Conversion of ER to Relational Table</a:t>
            </a:r>
            <a:r>
              <a:rPr lang="en-IN" sz="2700" dirty="0">
                <a:solidFill>
                  <a:srgbClr val="FF0000"/>
                </a:solidFill>
                <a:latin typeface="Copperplate Gothic Light" pitchFamily="34" charset="0"/>
              </a:rPr>
              <a:t> </a:t>
            </a:r>
          </a:p>
        </p:txBody>
      </p:sp>
      <p:sp>
        <p:nvSpPr>
          <p:cNvPr id="7" name="Rectangle 6"/>
          <p:cNvSpPr/>
          <p:nvPr/>
        </p:nvSpPr>
        <p:spPr>
          <a:xfrm>
            <a:off x="1362974" y="4408117"/>
            <a:ext cx="1509622" cy="54346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FF"/>
                </a:solidFill>
                <a:latin typeface="Copperplate Gothic Light" pitchFamily="34" charset="0"/>
              </a:rPr>
              <a:t>STUDENT</a:t>
            </a:r>
          </a:p>
        </p:txBody>
      </p:sp>
      <p:sp>
        <p:nvSpPr>
          <p:cNvPr id="8" name="Oval 7"/>
          <p:cNvSpPr/>
          <p:nvPr/>
        </p:nvSpPr>
        <p:spPr>
          <a:xfrm>
            <a:off x="327804" y="3441959"/>
            <a:ext cx="1483743"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REG_NO</a:t>
            </a:r>
          </a:p>
        </p:txBody>
      </p:sp>
      <p:sp>
        <p:nvSpPr>
          <p:cNvPr id="9" name="Oval 8"/>
          <p:cNvSpPr/>
          <p:nvPr/>
        </p:nvSpPr>
        <p:spPr>
          <a:xfrm>
            <a:off x="1319843" y="5328269"/>
            <a:ext cx="1673524"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rgbClr val="C00000"/>
                </a:solidFill>
                <a:latin typeface="Copperplate Gothic Light" pitchFamily="34" charset="0"/>
              </a:rPr>
              <a:t>Phone_no</a:t>
            </a:r>
            <a:endParaRPr lang="en-US" sz="1400" b="1" dirty="0">
              <a:solidFill>
                <a:srgbClr val="C00000"/>
              </a:solidFill>
              <a:latin typeface="Copperplate Gothic Light" pitchFamily="34" charset="0"/>
            </a:endParaRPr>
          </a:p>
        </p:txBody>
      </p:sp>
      <p:sp>
        <p:nvSpPr>
          <p:cNvPr id="10" name="Oval 9"/>
          <p:cNvSpPr/>
          <p:nvPr/>
        </p:nvSpPr>
        <p:spPr>
          <a:xfrm>
            <a:off x="2815088" y="3522473"/>
            <a:ext cx="1483743"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NAME</a:t>
            </a:r>
          </a:p>
        </p:txBody>
      </p:sp>
      <p:cxnSp>
        <p:nvCxnSpPr>
          <p:cNvPr id="11" name="Straight Connector 10"/>
          <p:cNvCxnSpPr>
            <a:endCxn id="8" idx="4"/>
          </p:cNvCxnSpPr>
          <p:nvPr/>
        </p:nvCxnSpPr>
        <p:spPr>
          <a:xfrm rot="10800000">
            <a:off x="1069676" y="4011302"/>
            <a:ext cx="759124" cy="3968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10" idx="4"/>
          </p:cNvCxnSpPr>
          <p:nvPr/>
        </p:nvCxnSpPr>
        <p:spPr>
          <a:xfrm rot="5400000">
            <a:off x="2875473" y="3743883"/>
            <a:ext cx="333555" cy="10294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7" idx="2"/>
            <a:endCxn id="9" idx="0"/>
          </p:cNvCxnSpPr>
          <p:nvPr/>
        </p:nvCxnSpPr>
        <p:spPr>
          <a:xfrm rot="16200000" flipH="1">
            <a:off x="1948852" y="5120515"/>
            <a:ext cx="376687" cy="3882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905773" y="2786375"/>
            <a:ext cx="9859939" cy="491705"/>
            <a:chOff x="1302588" y="2389560"/>
            <a:chExt cx="9859939" cy="491705"/>
          </a:xfrm>
        </p:grpSpPr>
        <p:sp>
          <p:nvSpPr>
            <p:cNvPr id="15" name="TextBox 14"/>
            <p:cNvSpPr txBox="1"/>
            <p:nvPr/>
          </p:nvSpPr>
          <p:spPr>
            <a:xfrm>
              <a:off x="1302588" y="2441318"/>
              <a:ext cx="2070340" cy="338554"/>
            </a:xfrm>
            <a:prstGeom prst="rect">
              <a:avLst/>
            </a:prstGeom>
            <a:noFill/>
          </p:spPr>
          <p:txBody>
            <a:bodyPr wrap="square" rtlCol="0">
              <a:spAutoFit/>
            </a:bodyPr>
            <a:lstStyle/>
            <a:p>
              <a:r>
                <a:rPr lang="en-US" sz="1600" dirty="0">
                  <a:solidFill>
                    <a:srgbClr val="0000FF"/>
                  </a:solidFill>
                  <a:latin typeface="Copperplate Gothic Light" pitchFamily="34" charset="0"/>
                </a:rPr>
                <a:t>ER DIAGRAM</a:t>
              </a:r>
            </a:p>
          </p:txBody>
        </p:sp>
        <p:sp>
          <p:nvSpPr>
            <p:cNvPr id="16" name="TextBox 15"/>
            <p:cNvSpPr txBox="1"/>
            <p:nvPr/>
          </p:nvSpPr>
          <p:spPr>
            <a:xfrm>
              <a:off x="8140405" y="2490202"/>
              <a:ext cx="3022122" cy="338554"/>
            </a:xfrm>
            <a:prstGeom prst="rect">
              <a:avLst/>
            </a:prstGeom>
            <a:noFill/>
          </p:spPr>
          <p:txBody>
            <a:bodyPr wrap="square" rtlCol="0">
              <a:spAutoFit/>
            </a:bodyPr>
            <a:lstStyle/>
            <a:p>
              <a:r>
                <a:rPr lang="en-US" sz="1600" dirty="0">
                  <a:solidFill>
                    <a:srgbClr val="0000FF"/>
                  </a:solidFill>
                  <a:latin typeface="Copperplate Gothic Light" pitchFamily="34" charset="0"/>
                </a:rPr>
                <a:t>RELATIONAL TABLE</a:t>
              </a:r>
            </a:p>
          </p:txBody>
        </p:sp>
        <p:sp>
          <p:nvSpPr>
            <p:cNvPr id="17" name="Right Arrow 16"/>
            <p:cNvSpPr/>
            <p:nvPr/>
          </p:nvSpPr>
          <p:spPr>
            <a:xfrm>
              <a:off x="3985405" y="2389560"/>
              <a:ext cx="3795622" cy="491705"/>
            </a:xfrm>
            <a:prstGeom prst="rightArrow">
              <a:avLst/>
            </a:prstGeom>
            <a:noFill/>
            <a:ln w="317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accent6">
                      <a:lumMod val="50000"/>
                    </a:schemeClr>
                  </a:solidFill>
                  <a:latin typeface="Bookman Old Style" pitchFamily="18" charset="0"/>
                </a:rPr>
                <a:t>Er</a:t>
              </a:r>
              <a:r>
                <a:rPr lang="en-US" sz="1400" dirty="0">
                  <a:solidFill>
                    <a:schemeClr val="accent6">
                      <a:lumMod val="50000"/>
                    </a:schemeClr>
                  </a:solidFill>
                  <a:latin typeface="Bookman Old Style" pitchFamily="18" charset="0"/>
                </a:rPr>
                <a:t> Diagram to relational table</a:t>
              </a:r>
            </a:p>
          </p:txBody>
        </p:sp>
      </p:grpSp>
      <p:sp>
        <p:nvSpPr>
          <p:cNvPr id="20" name="Oval 19"/>
          <p:cNvSpPr/>
          <p:nvPr/>
        </p:nvSpPr>
        <p:spPr>
          <a:xfrm>
            <a:off x="1247956" y="5282260"/>
            <a:ext cx="1814422" cy="66998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rgbClr val="C00000"/>
              </a:solidFill>
              <a:latin typeface="Copperplate Gothic Light" pitchFamily="34" charset="0"/>
            </a:endParaRPr>
          </a:p>
        </p:txBody>
      </p:sp>
      <p:graphicFrame>
        <p:nvGraphicFramePr>
          <p:cNvPr id="21" name="Table 20"/>
          <p:cNvGraphicFramePr>
            <a:graphicFrameLocks noGrp="1"/>
          </p:cNvGraphicFramePr>
          <p:nvPr/>
        </p:nvGraphicFramePr>
        <p:xfrm>
          <a:off x="5253431" y="3937317"/>
          <a:ext cx="2490160" cy="1483360"/>
        </p:xfrm>
        <a:graphic>
          <a:graphicData uri="http://schemas.openxmlformats.org/drawingml/2006/table">
            <a:tbl>
              <a:tblPr firstRow="1" bandRow="1">
                <a:tableStyleId>{5940675A-B579-460E-94D1-54222C63F5DA}</a:tableStyleId>
              </a:tblPr>
              <a:tblGrid>
                <a:gridCol w="1245080">
                  <a:extLst>
                    <a:ext uri="{9D8B030D-6E8A-4147-A177-3AD203B41FA5}">
                      <a16:colId xmlns:a16="http://schemas.microsoft.com/office/drawing/2014/main" val="20000"/>
                    </a:ext>
                  </a:extLst>
                </a:gridCol>
                <a:gridCol w="1245080">
                  <a:extLst>
                    <a:ext uri="{9D8B030D-6E8A-4147-A177-3AD203B41FA5}">
                      <a16:colId xmlns:a16="http://schemas.microsoft.com/office/drawing/2014/main" val="20001"/>
                    </a:ext>
                  </a:extLst>
                </a:gridCol>
              </a:tblGrid>
              <a:tr h="370840">
                <a:tc>
                  <a:txBody>
                    <a:bodyPr/>
                    <a:lstStyle/>
                    <a:p>
                      <a:r>
                        <a:rPr lang="en-US" dirty="0">
                          <a:solidFill>
                            <a:srgbClr val="0000FF"/>
                          </a:solidFill>
                          <a:latin typeface="Copperplate Gothic Light" pitchFamily="34" charset="0"/>
                        </a:rPr>
                        <a:t>REG_NO</a:t>
                      </a:r>
                    </a:p>
                  </a:txBody>
                  <a:tcPr/>
                </a:tc>
                <a:tc>
                  <a:txBody>
                    <a:bodyPr/>
                    <a:lstStyle/>
                    <a:p>
                      <a:r>
                        <a:rPr lang="en-US" dirty="0">
                          <a:solidFill>
                            <a:srgbClr val="0000FF"/>
                          </a:solidFill>
                          <a:latin typeface="Copperplate Gothic Light" pitchFamily="34" charset="0"/>
                        </a:rPr>
                        <a:t>NAME</a:t>
                      </a:r>
                    </a:p>
                  </a:txBody>
                  <a:tcPr/>
                </a:tc>
                <a:extLst>
                  <a:ext uri="{0D108BD9-81ED-4DB2-BD59-A6C34878D82A}">
                    <a16:rowId xmlns:a16="http://schemas.microsoft.com/office/drawing/2014/main" val="10000"/>
                  </a:ext>
                </a:extLst>
              </a:tr>
              <a:tr h="370840">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extLst>
                  <a:ext uri="{0D108BD9-81ED-4DB2-BD59-A6C34878D82A}">
                    <a16:rowId xmlns:a16="http://schemas.microsoft.com/office/drawing/2014/main" val="10001"/>
                  </a:ext>
                </a:extLst>
              </a:tr>
              <a:tr h="370840">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extLst>
                  <a:ext uri="{0D108BD9-81ED-4DB2-BD59-A6C34878D82A}">
                    <a16:rowId xmlns:a16="http://schemas.microsoft.com/office/drawing/2014/main" val="10002"/>
                  </a:ext>
                </a:extLst>
              </a:tr>
              <a:tr h="370840">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3"/>
                  </a:ext>
                </a:extLst>
              </a:tr>
            </a:tbl>
          </a:graphicData>
        </a:graphic>
      </p:graphicFrame>
      <p:graphicFrame>
        <p:nvGraphicFramePr>
          <p:cNvPr id="22" name="Table 21"/>
          <p:cNvGraphicFramePr>
            <a:graphicFrameLocks noGrp="1"/>
          </p:cNvGraphicFramePr>
          <p:nvPr/>
        </p:nvGraphicFramePr>
        <p:xfrm>
          <a:off x="8588977" y="3951695"/>
          <a:ext cx="3142948" cy="1483360"/>
        </p:xfrm>
        <a:graphic>
          <a:graphicData uri="http://schemas.openxmlformats.org/drawingml/2006/table">
            <a:tbl>
              <a:tblPr firstRow="1" bandRow="1">
                <a:tableStyleId>{5940675A-B579-460E-94D1-54222C63F5DA}</a:tableStyleId>
              </a:tblPr>
              <a:tblGrid>
                <a:gridCol w="1571474">
                  <a:extLst>
                    <a:ext uri="{9D8B030D-6E8A-4147-A177-3AD203B41FA5}">
                      <a16:colId xmlns:a16="http://schemas.microsoft.com/office/drawing/2014/main" val="20000"/>
                    </a:ext>
                  </a:extLst>
                </a:gridCol>
                <a:gridCol w="1571474">
                  <a:extLst>
                    <a:ext uri="{9D8B030D-6E8A-4147-A177-3AD203B41FA5}">
                      <a16:colId xmlns:a16="http://schemas.microsoft.com/office/drawing/2014/main" val="20001"/>
                    </a:ext>
                  </a:extLst>
                </a:gridCol>
              </a:tblGrid>
              <a:tr h="370840">
                <a:tc>
                  <a:txBody>
                    <a:bodyPr/>
                    <a:lstStyle/>
                    <a:p>
                      <a:r>
                        <a:rPr lang="en-US" dirty="0">
                          <a:solidFill>
                            <a:srgbClr val="0000FF"/>
                          </a:solidFill>
                          <a:latin typeface="Copperplate Gothic Light" pitchFamily="34" charset="0"/>
                        </a:rPr>
                        <a:t>REG_NO</a:t>
                      </a:r>
                    </a:p>
                  </a:txBody>
                  <a:tcPr/>
                </a:tc>
                <a:tc>
                  <a:txBody>
                    <a:bodyPr/>
                    <a:lstStyle/>
                    <a:p>
                      <a:r>
                        <a:rPr lang="en-US" dirty="0" err="1">
                          <a:solidFill>
                            <a:srgbClr val="0000FF"/>
                          </a:solidFill>
                          <a:latin typeface="Copperplate Gothic Light" pitchFamily="34" charset="0"/>
                        </a:rPr>
                        <a:t>Phone</a:t>
                      </a:r>
                      <a:r>
                        <a:rPr lang="en-US" baseline="0" dirty="0" err="1">
                          <a:solidFill>
                            <a:srgbClr val="0000FF"/>
                          </a:solidFill>
                          <a:latin typeface="Copperplate Gothic Light" pitchFamily="34" charset="0"/>
                        </a:rPr>
                        <a:t>_no</a:t>
                      </a:r>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0"/>
                  </a:ext>
                </a:extLst>
              </a:tr>
              <a:tr h="370840">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extLst>
                  <a:ext uri="{0D108BD9-81ED-4DB2-BD59-A6C34878D82A}">
                    <a16:rowId xmlns:a16="http://schemas.microsoft.com/office/drawing/2014/main" val="10001"/>
                  </a:ext>
                </a:extLst>
              </a:tr>
              <a:tr h="370840">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extLst>
                  <a:ext uri="{0D108BD9-81ED-4DB2-BD59-A6C34878D82A}">
                    <a16:rowId xmlns:a16="http://schemas.microsoft.com/office/drawing/2014/main" val="10002"/>
                  </a:ext>
                </a:extLst>
              </a:tr>
              <a:tr h="370840">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3"/>
                  </a:ext>
                </a:extLst>
              </a:tr>
            </a:tbl>
          </a:graphicData>
        </a:graphic>
      </p:graphicFrame>
      <p:sp>
        <p:nvSpPr>
          <p:cNvPr id="23" name="Rectangle 22"/>
          <p:cNvSpPr/>
          <p:nvPr/>
        </p:nvSpPr>
        <p:spPr>
          <a:xfrm>
            <a:off x="4779034" y="5512606"/>
            <a:ext cx="3562709" cy="338554"/>
          </a:xfrm>
          <a:prstGeom prst="rect">
            <a:avLst/>
          </a:prstGeom>
        </p:spPr>
        <p:txBody>
          <a:bodyPr wrap="square">
            <a:spAutoFit/>
          </a:bodyPr>
          <a:lstStyle/>
          <a:p>
            <a:r>
              <a:rPr lang="en-US" sz="1600" dirty="0">
                <a:solidFill>
                  <a:srgbClr val="0000FF"/>
                </a:solidFill>
                <a:latin typeface="Bookman Old Style" pitchFamily="18" charset="0"/>
              </a:rPr>
              <a:t>Schema : student (</a:t>
            </a:r>
            <a:r>
              <a:rPr lang="en-US" sz="1600" dirty="0" err="1">
                <a:solidFill>
                  <a:srgbClr val="0000FF"/>
                </a:solidFill>
                <a:latin typeface="Bookman Old Style" pitchFamily="18" charset="0"/>
              </a:rPr>
              <a:t>reg_no</a:t>
            </a:r>
            <a:r>
              <a:rPr lang="en-US" sz="1600" dirty="0">
                <a:solidFill>
                  <a:srgbClr val="0000FF"/>
                </a:solidFill>
                <a:latin typeface="Bookman Old Style" pitchFamily="18" charset="0"/>
              </a:rPr>
              <a:t>,  name)</a:t>
            </a:r>
          </a:p>
        </p:txBody>
      </p:sp>
      <p:sp>
        <p:nvSpPr>
          <p:cNvPr id="24" name="Rectangle 23"/>
          <p:cNvSpPr/>
          <p:nvPr/>
        </p:nvSpPr>
        <p:spPr>
          <a:xfrm>
            <a:off x="8315864" y="5535609"/>
            <a:ext cx="3876135" cy="338554"/>
          </a:xfrm>
          <a:prstGeom prst="rect">
            <a:avLst/>
          </a:prstGeom>
        </p:spPr>
        <p:txBody>
          <a:bodyPr wrap="square">
            <a:spAutoFit/>
          </a:bodyPr>
          <a:lstStyle/>
          <a:p>
            <a:r>
              <a:rPr lang="en-US" sz="1600" dirty="0">
                <a:solidFill>
                  <a:srgbClr val="0000FF"/>
                </a:solidFill>
                <a:latin typeface="Bookman Old Style" pitchFamily="18" charset="0"/>
              </a:rPr>
              <a:t>Schema : student (</a:t>
            </a:r>
            <a:r>
              <a:rPr lang="en-US" sz="1600" dirty="0" err="1">
                <a:solidFill>
                  <a:srgbClr val="0000FF"/>
                </a:solidFill>
                <a:latin typeface="Bookman Old Style" pitchFamily="18" charset="0"/>
              </a:rPr>
              <a:t>reg_no</a:t>
            </a:r>
            <a:r>
              <a:rPr lang="en-US" sz="1600" dirty="0">
                <a:solidFill>
                  <a:srgbClr val="0000FF"/>
                </a:solidFill>
                <a:latin typeface="Bookman Old Style" pitchFamily="18" charset="0"/>
              </a:rPr>
              <a:t>, </a:t>
            </a:r>
            <a:r>
              <a:rPr lang="en-US" sz="1600" dirty="0" err="1">
                <a:solidFill>
                  <a:srgbClr val="0000FF"/>
                </a:solidFill>
                <a:latin typeface="Bookman Old Style" pitchFamily="18" charset="0"/>
              </a:rPr>
              <a:t>phone_no</a:t>
            </a:r>
            <a:r>
              <a:rPr lang="en-US" sz="1600" dirty="0">
                <a:solidFill>
                  <a:srgbClr val="0000FF"/>
                </a:solidFill>
                <a:latin typeface="Bookman Old Style" pitchFamily="18" charset="0"/>
              </a:rPr>
              <a:t>)</a:t>
            </a:r>
          </a:p>
        </p:txBody>
      </p:sp>
      <p:sp>
        <p:nvSpPr>
          <p:cNvPr id="18" name="Slide Number Placeholder 17">
            <a:extLst>
              <a:ext uri="{FF2B5EF4-FFF2-40B4-BE49-F238E27FC236}">
                <a16:creationId xmlns:a16="http://schemas.microsoft.com/office/drawing/2014/main" id="{0EFC8BE5-E56B-D424-A89E-F9D113566E5E}"/>
              </a:ext>
            </a:extLst>
          </p:cNvPr>
          <p:cNvSpPr>
            <a:spLocks noGrp="1"/>
          </p:cNvSpPr>
          <p:nvPr>
            <p:ph type="sldNum" sz="quarter" idx="12"/>
          </p:nvPr>
        </p:nvSpPr>
        <p:spPr/>
        <p:txBody>
          <a:bodyPr/>
          <a:lstStyle/>
          <a:p>
            <a:fld id="{AD7ED525-5088-40CF-8CE0-E4296ADF624B}" type="slidenum">
              <a:rPr lang="en-IN" smtClean="0"/>
              <a:pPr/>
              <a:t>6</a:t>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62309" y="957532"/>
            <a:ext cx="10991491" cy="5016231"/>
          </a:xfrm>
        </p:spPr>
        <p:txBody>
          <a:bodyPr/>
          <a:lstStyle/>
          <a:p>
            <a:pPr>
              <a:buNone/>
            </a:pPr>
            <a:r>
              <a:rPr lang="en-US" sz="2400" dirty="0">
                <a:solidFill>
                  <a:srgbClr val="C00000"/>
                </a:solidFill>
                <a:latin typeface="Copperplate Gothic Light" pitchFamily="34" charset="0"/>
              </a:rPr>
              <a:t>Strong Entity Set With Multi Valued Attributes</a:t>
            </a:r>
          </a:p>
          <a:p>
            <a:pPr>
              <a:buClr>
                <a:srgbClr val="C00000"/>
              </a:buClr>
              <a:buFont typeface="Wingdings" pitchFamily="2" charset="2"/>
              <a:buChar char="ü"/>
            </a:pPr>
            <a:r>
              <a:rPr lang="en-US" sz="2400" dirty="0">
                <a:solidFill>
                  <a:srgbClr val="0000FF"/>
                </a:solidFill>
                <a:latin typeface="Bookman Old Style" pitchFamily="18" charset="0"/>
              </a:rPr>
              <a:t>Also the stronger entity set with any number of multi valued attributes may be converted as shown below</a:t>
            </a:r>
          </a:p>
        </p:txBody>
      </p:sp>
      <p:sp>
        <p:nvSpPr>
          <p:cNvPr id="6" name="Rectangle 5"/>
          <p:cNvSpPr/>
          <p:nvPr/>
        </p:nvSpPr>
        <p:spPr>
          <a:xfrm>
            <a:off x="1362974" y="4408117"/>
            <a:ext cx="1509622" cy="54346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FF"/>
                </a:solidFill>
                <a:latin typeface="Copperplate Gothic Light" pitchFamily="34" charset="0"/>
              </a:rPr>
              <a:t>STUDENT</a:t>
            </a:r>
          </a:p>
        </p:txBody>
      </p:sp>
      <p:sp>
        <p:nvSpPr>
          <p:cNvPr id="7" name="Oval 6"/>
          <p:cNvSpPr/>
          <p:nvPr/>
        </p:nvSpPr>
        <p:spPr>
          <a:xfrm>
            <a:off x="327804" y="3441959"/>
            <a:ext cx="1483743"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REG_NO</a:t>
            </a:r>
          </a:p>
        </p:txBody>
      </p:sp>
      <p:sp>
        <p:nvSpPr>
          <p:cNvPr id="8" name="Oval 7"/>
          <p:cNvSpPr/>
          <p:nvPr/>
        </p:nvSpPr>
        <p:spPr>
          <a:xfrm>
            <a:off x="1319843" y="5328269"/>
            <a:ext cx="1673524"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rgbClr val="C00000"/>
                </a:solidFill>
                <a:latin typeface="Copperplate Gothic Light" pitchFamily="34" charset="0"/>
              </a:rPr>
              <a:t>Phone_no</a:t>
            </a:r>
            <a:endParaRPr lang="en-US" sz="1400" b="1" dirty="0">
              <a:solidFill>
                <a:srgbClr val="C00000"/>
              </a:solidFill>
              <a:latin typeface="Copperplate Gothic Light" pitchFamily="34" charset="0"/>
            </a:endParaRPr>
          </a:p>
        </p:txBody>
      </p:sp>
      <p:sp>
        <p:nvSpPr>
          <p:cNvPr id="9" name="Oval 8"/>
          <p:cNvSpPr/>
          <p:nvPr/>
        </p:nvSpPr>
        <p:spPr>
          <a:xfrm>
            <a:off x="2815088" y="3522473"/>
            <a:ext cx="1483743"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NAME</a:t>
            </a:r>
          </a:p>
        </p:txBody>
      </p:sp>
      <p:cxnSp>
        <p:nvCxnSpPr>
          <p:cNvPr id="10" name="Straight Connector 9"/>
          <p:cNvCxnSpPr>
            <a:endCxn id="7" idx="4"/>
          </p:cNvCxnSpPr>
          <p:nvPr/>
        </p:nvCxnSpPr>
        <p:spPr>
          <a:xfrm rot="10800000">
            <a:off x="1069676" y="4011302"/>
            <a:ext cx="759124" cy="39681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9" idx="4"/>
          </p:cNvCxnSpPr>
          <p:nvPr/>
        </p:nvCxnSpPr>
        <p:spPr>
          <a:xfrm rot="5400000">
            <a:off x="2875473" y="3743883"/>
            <a:ext cx="333555" cy="102942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6" idx="2"/>
            <a:endCxn id="8" idx="0"/>
          </p:cNvCxnSpPr>
          <p:nvPr/>
        </p:nvCxnSpPr>
        <p:spPr>
          <a:xfrm rot="16200000" flipH="1">
            <a:off x="1948852" y="5120515"/>
            <a:ext cx="376687" cy="38820"/>
          </a:xfrm>
          <a:prstGeom prst="line">
            <a:avLst/>
          </a:prstGeom>
          <a:ln w="19050"/>
        </p:spPr>
        <p:style>
          <a:lnRef idx="1">
            <a:schemeClr val="accent1"/>
          </a:lnRef>
          <a:fillRef idx="0">
            <a:schemeClr val="accent1"/>
          </a:fillRef>
          <a:effectRef idx="0">
            <a:schemeClr val="accent1"/>
          </a:effectRef>
          <a:fontRef idx="minor">
            <a:schemeClr val="tx1"/>
          </a:fontRef>
        </p:style>
      </p:cxnSp>
      <p:grpSp>
        <p:nvGrpSpPr>
          <p:cNvPr id="13" name="Group 12"/>
          <p:cNvGrpSpPr/>
          <p:nvPr/>
        </p:nvGrpSpPr>
        <p:grpSpPr>
          <a:xfrm>
            <a:off x="905773" y="2786375"/>
            <a:ext cx="9859939" cy="491705"/>
            <a:chOff x="1302588" y="2389560"/>
            <a:chExt cx="9859939" cy="491705"/>
          </a:xfrm>
        </p:grpSpPr>
        <p:sp>
          <p:nvSpPr>
            <p:cNvPr id="14" name="TextBox 13"/>
            <p:cNvSpPr txBox="1"/>
            <p:nvPr/>
          </p:nvSpPr>
          <p:spPr>
            <a:xfrm>
              <a:off x="1302588" y="2441318"/>
              <a:ext cx="2070340" cy="338554"/>
            </a:xfrm>
            <a:prstGeom prst="rect">
              <a:avLst/>
            </a:prstGeom>
            <a:noFill/>
          </p:spPr>
          <p:txBody>
            <a:bodyPr wrap="square" rtlCol="0">
              <a:spAutoFit/>
            </a:bodyPr>
            <a:lstStyle/>
            <a:p>
              <a:r>
                <a:rPr lang="en-US" sz="1600" dirty="0">
                  <a:solidFill>
                    <a:srgbClr val="0000FF"/>
                  </a:solidFill>
                  <a:latin typeface="Copperplate Gothic Light" pitchFamily="34" charset="0"/>
                </a:rPr>
                <a:t>ER DIAGRAM</a:t>
              </a:r>
            </a:p>
          </p:txBody>
        </p:sp>
        <p:sp>
          <p:nvSpPr>
            <p:cNvPr id="15" name="TextBox 14"/>
            <p:cNvSpPr txBox="1"/>
            <p:nvPr/>
          </p:nvSpPr>
          <p:spPr>
            <a:xfrm>
              <a:off x="8140405" y="2490202"/>
              <a:ext cx="3022122" cy="338554"/>
            </a:xfrm>
            <a:prstGeom prst="rect">
              <a:avLst/>
            </a:prstGeom>
            <a:noFill/>
          </p:spPr>
          <p:txBody>
            <a:bodyPr wrap="square" rtlCol="0">
              <a:spAutoFit/>
            </a:bodyPr>
            <a:lstStyle/>
            <a:p>
              <a:r>
                <a:rPr lang="en-US" sz="1600" dirty="0">
                  <a:solidFill>
                    <a:srgbClr val="0000FF"/>
                  </a:solidFill>
                  <a:latin typeface="Copperplate Gothic Light" pitchFamily="34" charset="0"/>
                </a:rPr>
                <a:t>RELATIONAL TABLE</a:t>
              </a:r>
            </a:p>
          </p:txBody>
        </p:sp>
        <p:sp>
          <p:nvSpPr>
            <p:cNvPr id="16" name="Right Arrow 15"/>
            <p:cNvSpPr/>
            <p:nvPr/>
          </p:nvSpPr>
          <p:spPr>
            <a:xfrm>
              <a:off x="3985405" y="2389560"/>
              <a:ext cx="3795622" cy="491705"/>
            </a:xfrm>
            <a:prstGeom prst="rightArrow">
              <a:avLst/>
            </a:prstGeom>
            <a:noFill/>
            <a:ln w="317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accent6">
                      <a:lumMod val="50000"/>
                    </a:schemeClr>
                  </a:solidFill>
                  <a:latin typeface="Bookman Old Style" pitchFamily="18" charset="0"/>
                </a:rPr>
                <a:t>Er</a:t>
              </a:r>
              <a:r>
                <a:rPr lang="en-US" sz="1400" dirty="0">
                  <a:solidFill>
                    <a:schemeClr val="accent6">
                      <a:lumMod val="50000"/>
                    </a:schemeClr>
                  </a:solidFill>
                  <a:latin typeface="Bookman Old Style" pitchFamily="18" charset="0"/>
                </a:rPr>
                <a:t> Diagram to relational table</a:t>
              </a:r>
            </a:p>
          </p:txBody>
        </p:sp>
      </p:grpSp>
      <p:sp>
        <p:nvSpPr>
          <p:cNvPr id="17" name="Oval 16"/>
          <p:cNvSpPr/>
          <p:nvPr/>
        </p:nvSpPr>
        <p:spPr>
          <a:xfrm>
            <a:off x="1247956" y="5282260"/>
            <a:ext cx="1814422" cy="66998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rgbClr val="C00000"/>
              </a:solidFill>
              <a:latin typeface="Copperplate Gothic Light" pitchFamily="34" charset="0"/>
            </a:endParaRPr>
          </a:p>
        </p:txBody>
      </p:sp>
      <p:graphicFrame>
        <p:nvGraphicFramePr>
          <p:cNvPr id="18" name="Table 17"/>
          <p:cNvGraphicFramePr>
            <a:graphicFrameLocks noGrp="1"/>
          </p:cNvGraphicFramePr>
          <p:nvPr/>
        </p:nvGraphicFramePr>
        <p:xfrm>
          <a:off x="5339750" y="3971823"/>
          <a:ext cx="6521569" cy="1447800"/>
        </p:xfrm>
        <a:graphic>
          <a:graphicData uri="http://schemas.openxmlformats.org/drawingml/2006/table">
            <a:tbl>
              <a:tblPr firstRow="1" bandRow="1">
                <a:tableStyleId>{5940675A-B579-460E-94D1-54222C63F5DA}</a:tableStyleId>
              </a:tblPr>
              <a:tblGrid>
                <a:gridCol w="1017918">
                  <a:extLst>
                    <a:ext uri="{9D8B030D-6E8A-4147-A177-3AD203B41FA5}">
                      <a16:colId xmlns:a16="http://schemas.microsoft.com/office/drawing/2014/main" val="20000"/>
                    </a:ext>
                  </a:extLst>
                </a:gridCol>
                <a:gridCol w="810883">
                  <a:extLst>
                    <a:ext uri="{9D8B030D-6E8A-4147-A177-3AD203B41FA5}">
                      <a16:colId xmlns:a16="http://schemas.microsoft.com/office/drawing/2014/main" val="20001"/>
                    </a:ext>
                  </a:extLst>
                </a:gridCol>
                <a:gridCol w="1449238">
                  <a:extLst>
                    <a:ext uri="{9D8B030D-6E8A-4147-A177-3AD203B41FA5}">
                      <a16:colId xmlns:a16="http://schemas.microsoft.com/office/drawing/2014/main" val="20002"/>
                    </a:ext>
                  </a:extLst>
                </a:gridCol>
                <a:gridCol w="1621766">
                  <a:extLst>
                    <a:ext uri="{9D8B030D-6E8A-4147-A177-3AD203B41FA5}">
                      <a16:colId xmlns:a16="http://schemas.microsoft.com/office/drawing/2014/main" val="20003"/>
                    </a:ext>
                  </a:extLst>
                </a:gridCol>
                <a:gridCol w="1621764">
                  <a:extLst>
                    <a:ext uri="{9D8B030D-6E8A-4147-A177-3AD203B41FA5}">
                      <a16:colId xmlns:a16="http://schemas.microsoft.com/office/drawing/2014/main" val="20004"/>
                    </a:ext>
                  </a:extLst>
                </a:gridCol>
              </a:tblGrid>
              <a:tr h="306879">
                <a:tc>
                  <a:txBody>
                    <a:bodyPr/>
                    <a:lstStyle/>
                    <a:p>
                      <a:r>
                        <a:rPr lang="en-US" sz="1600" dirty="0" err="1">
                          <a:solidFill>
                            <a:srgbClr val="0000FF"/>
                          </a:solidFill>
                          <a:latin typeface="Copperplate Gothic Light" pitchFamily="34" charset="0"/>
                        </a:rPr>
                        <a:t>reg_no</a:t>
                      </a:r>
                      <a:endParaRPr lang="en-US" sz="1600" dirty="0">
                        <a:solidFill>
                          <a:srgbClr val="0000FF"/>
                        </a:solidFill>
                        <a:latin typeface="Copperplate Gothic Light" pitchFamily="34" charset="0"/>
                      </a:endParaRPr>
                    </a:p>
                  </a:txBody>
                  <a:tcPr/>
                </a:tc>
                <a:tc>
                  <a:txBody>
                    <a:bodyPr/>
                    <a:lstStyle/>
                    <a:p>
                      <a:r>
                        <a:rPr lang="en-US" sz="1600" dirty="0">
                          <a:solidFill>
                            <a:srgbClr val="0000FF"/>
                          </a:solidFill>
                          <a:latin typeface="Copperplate Gothic Light" pitchFamily="34" charset="0"/>
                        </a:rPr>
                        <a:t>name</a:t>
                      </a:r>
                    </a:p>
                  </a:txBody>
                  <a:tcPr/>
                </a:tc>
                <a:tc>
                  <a:txBody>
                    <a:bodyPr/>
                    <a:lstStyle/>
                    <a:p>
                      <a:r>
                        <a:rPr lang="en-US" sz="1600" dirty="0">
                          <a:solidFill>
                            <a:srgbClr val="0000FF"/>
                          </a:solidFill>
                          <a:latin typeface="Copperplate Gothic Light" pitchFamily="34" charset="0"/>
                        </a:rPr>
                        <a:t>phone_no1</a:t>
                      </a:r>
                    </a:p>
                  </a:txBody>
                  <a:tcPr/>
                </a:tc>
                <a:tc>
                  <a:txBody>
                    <a:bodyPr/>
                    <a:lstStyle/>
                    <a:p>
                      <a:r>
                        <a:rPr lang="en-US" sz="1600" dirty="0">
                          <a:solidFill>
                            <a:srgbClr val="0000FF"/>
                          </a:solidFill>
                          <a:latin typeface="Copperplate Gothic Light" pitchFamily="34" charset="0"/>
                        </a:rPr>
                        <a:t>phone_no2</a:t>
                      </a:r>
                    </a:p>
                  </a:txBody>
                  <a:tcPr/>
                </a:tc>
                <a:tc>
                  <a:txBody>
                    <a:bodyPr/>
                    <a:lstStyle/>
                    <a:p>
                      <a:r>
                        <a:rPr lang="en-US" sz="1600" dirty="0">
                          <a:solidFill>
                            <a:srgbClr val="0000FF"/>
                          </a:solidFill>
                          <a:latin typeface="Copperplate Gothic Light" pitchFamily="34" charset="0"/>
                        </a:rPr>
                        <a:t>Phone_no3</a:t>
                      </a:r>
                    </a:p>
                  </a:txBody>
                  <a:tcPr/>
                </a:tc>
                <a:extLst>
                  <a:ext uri="{0D108BD9-81ED-4DB2-BD59-A6C34878D82A}">
                    <a16:rowId xmlns:a16="http://schemas.microsoft.com/office/drawing/2014/main" val="10000"/>
                  </a:ext>
                </a:extLst>
              </a:tr>
              <a:tr h="370840">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1"/>
                  </a:ext>
                </a:extLst>
              </a:tr>
              <a:tr h="370840">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extLst>
                  <a:ext uri="{0D108BD9-81ED-4DB2-BD59-A6C34878D82A}">
                    <a16:rowId xmlns:a16="http://schemas.microsoft.com/office/drawing/2014/main" val="10002"/>
                  </a:ext>
                </a:extLst>
              </a:tr>
              <a:tr h="370840">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3"/>
                  </a:ext>
                </a:extLst>
              </a:tr>
            </a:tbl>
          </a:graphicData>
        </a:graphic>
      </p:graphicFrame>
      <p:sp>
        <p:nvSpPr>
          <p:cNvPr id="20" name="Rectangle 19"/>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Conversion of ER to Relational Table</a:t>
            </a:r>
            <a:r>
              <a:rPr lang="en-IN" sz="2700" dirty="0">
                <a:solidFill>
                  <a:srgbClr val="FF0000"/>
                </a:solidFill>
                <a:latin typeface="Copperplate Gothic Light" pitchFamily="34" charset="0"/>
              </a:rPr>
              <a:t> </a:t>
            </a:r>
          </a:p>
        </p:txBody>
      </p:sp>
      <p:sp>
        <p:nvSpPr>
          <p:cNvPr id="22" name="Rectangle 21"/>
          <p:cNvSpPr/>
          <p:nvPr/>
        </p:nvSpPr>
        <p:spPr>
          <a:xfrm>
            <a:off x="4934310" y="5521232"/>
            <a:ext cx="7401464" cy="338554"/>
          </a:xfrm>
          <a:prstGeom prst="rect">
            <a:avLst/>
          </a:prstGeom>
        </p:spPr>
        <p:txBody>
          <a:bodyPr wrap="square">
            <a:spAutoFit/>
          </a:bodyPr>
          <a:lstStyle/>
          <a:p>
            <a:r>
              <a:rPr lang="en-US" sz="1600" dirty="0">
                <a:solidFill>
                  <a:srgbClr val="0000FF"/>
                </a:solidFill>
                <a:latin typeface="Bookman Old Style" pitchFamily="18" charset="0"/>
              </a:rPr>
              <a:t>Schema : student (</a:t>
            </a:r>
            <a:r>
              <a:rPr lang="en-US" sz="1600" dirty="0" err="1">
                <a:solidFill>
                  <a:srgbClr val="0000FF"/>
                </a:solidFill>
                <a:latin typeface="Bookman Old Style" pitchFamily="18" charset="0"/>
              </a:rPr>
              <a:t>reg_no</a:t>
            </a:r>
            <a:r>
              <a:rPr lang="en-US" sz="1600" dirty="0">
                <a:solidFill>
                  <a:srgbClr val="0000FF"/>
                </a:solidFill>
                <a:latin typeface="Bookman Old Style" pitchFamily="18" charset="0"/>
              </a:rPr>
              <a:t>,  name, phone_no1 ,phone_no2, phone_no3)</a:t>
            </a:r>
          </a:p>
        </p:txBody>
      </p:sp>
      <p:sp>
        <p:nvSpPr>
          <p:cNvPr id="19" name="Slide Number Placeholder 18">
            <a:extLst>
              <a:ext uri="{FF2B5EF4-FFF2-40B4-BE49-F238E27FC236}">
                <a16:creationId xmlns:a16="http://schemas.microsoft.com/office/drawing/2014/main" id="{5C751C9A-5AE0-E980-80D4-C49D9748F78E}"/>
              </a:ext>
            </a:extLst>
          </p:cNvPr>
          <p:cNvSpPr>
            <a:spLocks noGrp="1"/>
          </p:cNvSpPr>
          <p:nvPr>
            <p:ph type="sldNum" sz="quarter" idx="12"/>
          </p:nvPr>
        </p:nvSpPr>
        <p:spPr/>
        <p:txBody>
          <a:bodyPr/>
          <a:lstStyle/>
          <a:p>
            <a:fld id="{AD7ED525-5088-40CF-8CE0-E4296ADF624B}" type="slidenum">
              <a:rPr lang="en-IN" smtClean="0"/>
              <a:pPr/>
              <a:t>7</a:t>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89781" y="724619"/>
            <a:ext cx="11164019" cy="5249144"/>
          </a:xfrm>
        </p:spPr>
        <p:txBody>
          <a:bodyPr/>
          <a:lstStyle/>
          <a:p>
            <a:pPr marL="228600" lvl="1">
              <a:spcBef>
                <a:spcPts val="1000"/>
              </a:spcBef>
              <a:buNone/>
            </a:pPr>
            <a:r>
              <a:rPr lang="en-US" dirty="0">
                <a:solidFill>
                  <a:srgbClr val="C00000"/>
                </a:solidFill>
                <a:latin typeface="Copperplate Gothic Light" pitchFamily="34" charset="0"/>
              </a:rPr>
              <a:t>Translating Relationship Set into a Table</a:t>
            </a:r>
          </a:p>
          <a:p>
            <a:pPr marL="228600" lvl="1">
              <a:spcBef>
                <a:spcPts val="1000"/>
              </a:spcBef>
              <a:buClr>
                <a:srgbClr val="C00000"/>
              </a:buClr>
              <a:buFont typeface="Wingdings" pitchFamily="2" charset="2"/>
              <a:buChar char="ü"/>
            </a:pPr>
            <a:r>
              <a:rPr lang="en-US" sz="2000" dirty="0">
                <a:solidFill>
                  <a:srgbClr val="0000FF"/>
                </a:solidFill>
                <a:latin typeface="Bookman Old Style" pitchFamily="18" charset="0"/>
              </a:rPr>
              <a:t>A relationship set will require one table in the relational model.</a:t>
            </a:r>
          </a:p>
          <a:p>
            <a:pPr fontAlgn="base">
              <a:buClr>
                <a:srgbClr val="C00000"/>
              </a:buClr>
              <a:buFont typeface="Wingdings" pitchFamily="2" charset="2"/>
              <a:buChar char="ü"/>
            </a:pPr>
            <a:r>
              <a:rPr lang="en-US" sz="2000" dirty="0">
                <a:solidFill>
                  <a:srgbClr val="0000FF"/>
                </a:solidFill>
                <a:latin typeface="Bookman Old Style" pitchFamily="18" charset="0"/>
              </a:rPr>
              <a:t>Attributes of the table are :</a:t>
            </a:r>
          </a:p>
          <a:p>
            <a:pPr lvl="1" fontAlgn="base">
              <a:buClr>
                <a:srgbClr val="C00000"/>
              </a:buClr>
            </a:pPr>
            <a:r>
              <a:rPr lang="en-US" sz="2000" dirty="0">
                <a:solidFill>
                  <a:srgbClr val="0000FF"/>
                </a:solidFill>
                <a:latin typeface="Bookman Old Style" pitchFamily="18" charset="0"/>
              </a:rPr>
              <a:t>Primary key attributes of the participating entity sets</a:t>
            </a:r>
          </a:p>
          <a:p>
            <a:pPr lvl="1" fontAlgn="base">
              <a:buClr>
                <a:srgbClr val="C00000"/>
              </a:buClr>
            </a:pPr>
            <a:r>
              <a:rPr lang="en-US" sz="2000" dirty="0">
                <a:solidFill>
                  <a:srgbClr val="0000FF"/>
                </a:solidFill>
                <a:latin typeface="Bookman Old Style" pitchFamily="18" charset="0"/>
              </a:rPr>
              <a:t>Its own descriptive attributes if any.</a:t>
            </a:r>
          </a:p>
          <a:p>
            <a:pPr fontAlgn="base">
              <a:buClr>
                <a:srgbClr val="C00000"/>
              </a:buClr>
              <a:buFont typeface="Wingdings" pitchFamily="2" charset="2"/>
              <a:buChar char="ü"/>
            </a:pPr>
            <a:r>
              <a:rPr lang="en-US" sz="2000" dirty="0">
                <a:solidFill>
                  <a:srgbClr val="0000FF"/>
                </a:solidFill>
                <a:latin typeface="Bookman Old Style" pitchFamily="18" charset="0"/>
              </a:rPr>
              <a:t>Set of non-descriptive attributes will be the primary key.</a:t>
            </a:r>
          </a:p>
          <a:p>
            <a:pPr marL="228600" lvl="1">
              <a:spcBef>
                <a:spcPts val="1000"/>
              </a:spcBef>
              <a:buNone/>
            </a:pPr>
            <a:endParaRPr lang="en-US" dirty="0">
              <a:solidFill>
                <a:srgbClr val="C00000"/>
              </a:solidFill>
              <a:latin typeface="Copperplate Gothic Light" pitchFamily="34" charset="0"/>
            </a:endParaRPr>
          </a:p>
          <a:p>
            <a:pPr>
              <a:buNone/>
            </a:pPr>
            <a:endParaRPr lang="en-US" dirty="0"/>
          </a:p>
        </p:txBody>
      </p:sp>
      <p:sp>
        <p:nvSpPr>
          <p:cNvPr id="6" name="Rectangle 5"/>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Conversion of ER to Relational Table</a:t>
            </a:r>
            <a:r>
              <a:rPr lang="en-IN" sz="2700" dirty="0">
                <a:solidFill>
                  <a:srgbClr val="FF0000"/>
                </a:solidFill>
                <a:latin typeface="Copperplate Gothic Light" pitchFamily="34" charset="0"/>
              </a:rPr>
              <a:t> </a:t>
            </a:r>
          </a:p>
        </p:txBody>
      </p:sp>
      <p:grpSp>
        <p:nvGrpSpPr>
          <p:cNvPr id="26" name="Group 25"/>
          <p:cNvGrpSpPr/>
          <p:nvPr/>
        </p:nvGrpSpPr>
        <p:grpSpPr>
          <a:xfrm>
            <a:off x="112144" y="3631741"/>
            <a:ext cx="6814867" cy="2484387"/>
            <a:chOff x="60398" y="3058130"/>
            <a:chExt cx="9242199" cy="2894116"/>
          </a:xfrm>
        </p:grpSpPr>
        <p:sp>
          <p:nvSpPr>
            <p:cNvPr id="7" name="Rectangle 6"/>
            <p:cNvSpPr/>
            <p:nvPr/>
          </p:nvSpPr>
          <p:spPr>
            <a:xfrm>
              <a:off x="1095568" y="4488506"/>
              <a:ext cx="1509622" cy="54346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err="1">
                  <a:solidFill>
                    <a:srgbClr val="0000FF"/>
                  </a:solidFill>
                  <a:latin typeface="Copperplate Gothic Light" pitchFamily="34" charset="0"/>
                </a:rPr>
                <a:t>emp</a:t>
              </a:r>
              <a:endParaRPr lang="en-US" sz="1100" b="1" dirty="0">
                <a:solidFill>
                  <a:srgbClr val="0000FF"/>
                </a:solidFill>
                <a:latin typeface="Copperplate Gothic Light" pitchFamily="34" charset="0"/>
              </a:endParaRPr>
            </a:p>
          </p:txBody>
        </p:sp>
        <p:sp>
          <p:nvSpPr>
            <p:cNvPr id="8" name="Oval 7"/>
            <p:cNvSpPr/>
            <p:nvPr/>
          </p:nvSpPr>
          <p:spPr>
            <a:xfrm>
              <a:off x="60398" y="3441959"/>
              <a:ext cx="1483743"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u="sng" dirty="0" err="1">
                  <a:solidFill>
                    <a:srgbClr val="C00000"/>
                  </a:solidFill>
                  <a:latin typeface="Copperplate Gothic Light" pitchFamily="34" charset="0"/>
                </a:rPr>
                <a:t>empno</a:t>
              </a:r>
              <a:endParaRPr lang="en-US" sz="1100" b="1" u="sng" dirty="0">
                <a:solidFill>
                  <a:srgbClr val="C00000"/>
                </a:solidFill>
                <a:latin typeface="Copperplate Gothic Light" pitchFamily="34" charset="0"/>
              </a:endParaRPr>
            </a:p>
          </p:txBody>
        </p:sp>
        <p:sp>
          <p:nvSpPr>
            <p:cNvPr id="9" name="Oval 8"/>
            <p:cNvSpPr/>
            <p:nvPr/>
          </p:nvSpPr>
          <p:spPr>
            <a:xfrm>
              <a:off x="1017342" y="5328269"/>
              <a:ext cx="1673524"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rgbClr val="C00000"/>
                  </a:solidFill>
                  <a:latin typeface="Copperplate Gothic Light" pitchFamily="34" charset="0"/>
                </a:rPr>
                <a:t>salary</a:t>
              </a:r>
            </a:p>
          </p:txBody>
        </p:sp>
        <p:sp>
          <p:nvSpPr>
            <p:cNvPr id="10" name="Oval 9"/>
            <p:cNvSpPr/>
            <p:nvPr/>
          </p:nvSpPr>
          <p:spPr>
            <a:xfrm>
              <a:off x="2556309" y="3496593"/>
              <a:ext cx="1483743"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err="1">
                  <a:solidFill>
                    <a:srgbClr val="C00000"/>
                  </a:solidFill>
                  <a:latin typeface="Copperplate Gothic Light" pitchFamily="34" charset="0"/>
                </a:rPr>
                <a:t>ename</a:t>
              </a:r>
              <a:endParaRPr lang="en-US" sz="1100" b="1" dirty="0">
                <a:solidFill>
                  <a:srgbClr val="C00000"/>
                </a:solidFill>
                <a:latin typeface="Copperplate Gothic Light" pitchFamily="34" charset="0"/>
              </a:endParaRPr>
            </a:p>
          </p:txBody>
        </p:sp>
        <p:cxnSp>
          <p:nvCxnSpPr>
            <p:cNvPr id="11" name="Straight Connector 10"/>
            <p:cNvCxnSpPr>
              <a:endCxn id="8" idx="4"/>
            </p:cNvCxnSpPr>
            <p:nvPr/>
          </p:nvCxnSpPr>
          <p:spPr>
            <a:xfrm rot="10800000">
              <a:off x="802270" y="4011302"/>
              <a:ext cx="673705" cy="49387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10" idx="4"/>
            </p:cNvCxnSpPr>
            <p:nvPr/>
          </p:nvCxnSpPr>
          <p:spPr>
            <a:xfrm rot="5400000">
              <a:off x="2587796" y="3784743"/>
              <a:ext cx="429196" cy="99157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7" idx="2"/>
              <a:endCxn id="14" idx="0"/>
            </p:cNvCxnSpPr>
            <p:nvPr/>
          </p:nvCxnSpPr>
          <p:spPr>
            <a:xfrm rot="16200000" flipH="1">
              <a:off x="1726378" y="5155972"/>
              <a:ext cx="250289" cy="2287"/>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Oval 13"/>
            <p:cNvSpPr/>
            <p:nvPr/>
          </p:nvSpPr>
          <p:spPr>
            <a:xfrm>
              <a:off x="945454" y="5282260"/>
              <a:ext cx="1814422" cy="669986"/>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rgbClr val="C00000"/>
                </a:solidFill>
                <a:latin typeface="Copperplate Gothic Light" pitchFamily="34" charset="0"/>
              </a:endParaRPr>
            </a:p>
          </p:txBody>
        </p:sp>
        <p:sp>
          <p:nvSpPr>
            <p:cNvPr id="16" name="Diamond 15"/>
            <p:cNvSpPr/>
            <p:nvPr/>
          </p:nvSpPr>
          <p:spPr>
            <a:xfrm>
              <a:off x="3605842" y="3976777"/>
              <a:ext cx="2173856" cy="1604513"/>
            </a:xfrm>
            <a:prstGeom prst="diamond">
              <a:avLst/>
            </a:prstGeom>
            <a:solidFill>
              <a:srgbClr val="EF114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err="1">
                  <a:latin typeface="Copperplate Gothic Light" pitchFamily="34" charset="0"/>
                </a:rPr>
                <a:t>Works_in</a:t>
              </a:r>
              <a:endParaRPr lang="en-US" sz="1100" b="1" dirty="0">
                <a:latin typeface="Copperplate Gothic Light" pitchFamily="34" charset="0"/>
              </a:endParaRPr>
            </a:p>
          </p:txBody>
        </p:sp>
        <p:sp>
          <p:nvSpPr>
            <p:cNvPr id="17" name="Oval 16"/>
            <p:cNvSpPr/>
            <p:nvPr/>
          </p:nvSpPr>
          <p:spPr>
            <a:xfrm>
              <a:off x="3825303" y="3058130"/>
              <a:ext cx="1757022" cy="569343"/>
            </a:xfrm>
            <a:prstGeom prst="ellipse">
              <a:avLst/>
            </a:prstGeom>
            <a:solidFill>
              <a:schemeClr val="accent6">
                <a:lumMod val="40000"/>
                <a:lumOff val="6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err="1">
                  <a:solidFill>
                    <a:schemeClr val="accent6">
                      <a:lumMod val="75000"/>
                    </a:schemeClr>
                  </a:solidFill>
                  <a:latin typeface="Copperplate Gothic Light" pitchFamily="34" charset="0"/>
                </a:rPr>
                <a:t>Date_of</a:t>
              </a:r>
              <a:r>
                <a:rPr lang="en-US" sz="1100" b="1" dirty="0">
                  <a:solidFill>
                    <a:schemeClr val="accent6">
                      <a:lumMod val="75000"/>
                    </a:schemeClr>
                  </a:solidFill>
                  <a:latin typeface="Copperplate Gothic Light" pitchFamily="34" charset="0"/>
                </a:rPr>
                <a:t> _join</a:t>
              </a:r>
            </a:p>
          </p:txBody>
        </p:sp>
        <p:cxnSp>
          <p:nvCxnSpPr>
            <p:cNvPr id="19" name="Straight Connector 18"/>
            <p:cNvCxnSpPr>
              <a:stCxn id="16" idx="0"/>
              <a:endCxn id="17" idx="4"/>
            </p:cNvCxnSpPr>
            <p:nvPr/>
          </p:nvCxnSpPr>
          <p:spPr>
            <a:xfrm rot="5400000" flipH="1" flipV="1">
              <a:off x="4523640" y="3796604"/>
              <a:ext cx="349304" cy="11043"/>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21" name="Rectangle 20"/>
            <p:cNvSpPr/>
            <p:nvPr/>
          </p:nvSpPr>
          <p:spPr>
            <a:xfrm>
              <a:off x="6673985" y="4491319"/>
              <a:ext cx="1509622" cy="54346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solidFill>
                    <a:srgbClr val="0000FF"/>
                  </a:solidFill>
                  <a:latin typeface="Copperplate Gothic Light" pitchFamily="34" charset="0"/>
                </a:rPr>
                <a:t>dept</a:t>
              </a:r>
            </a:p>
          </p:txBody>
        </p:sp>
        <p:sp>
          <p:nvSpPr>
            <p:cNvPr id="22" name="Oval 21"/>
            <p:cNvSpPr/>
            <p:nvPr/>
          </p:nvSpPr>
          <p:spPr>
            <a:xfrm>
              <a:off x="5732406" y="3535215"/>
              <a:ext cx="1483743"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u="sng" dirty="0" err="1">
                  <a:solidFill>
                    <a:srgbClr val="C00000"/>
                  </a:solidFill>
                  <a:latin typeface="Copperplate Gothic Light" pitchFamily="34" charset="0"/>
                </a:rPr>
                <a:t>Dept_id</a:t>
              </a:r>
              <a:endParaRPr lang="en-US" sz="1100" b="1" u="sng" dirty="0">
                <a:solidFill>
                  <a:srgbClr val="C00000"/>
                </a:solidFill>
                <a:latin typeface="Copperplate Gothic Light" pitchFamily="34" charset="0"/>
              </a:endParaRPr>
            </a:p>
          </p:txBody>
        </p:sp>
        <p:sp>
          <p:nvSpPr>
            <p:cNvPr id="23" name="Oval 22"/>
            <p:cNvSpPr/>
            <p:nvPr/>
          </p:nvSpPr>
          <p:spPr>
            <a:xfrm>
              <a:off x="7818854" y="3529555"/>
              <a:ext cx="1483743" cy="56934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err="1">
                  <a:solidFill>
                    <a:srgbClr val="C00000"/>
                  </a:solidFill>
                  <a:latin typeface="Copperplate Gothic Light" pitchFamily="34" charset="0"/>
                </a:rPr>
                <a:t>dname</a:t>
              </a:r>
              <a:endParaRPr lang="en-US" sz="1100" b="1" dirty="0">
                <a:solidFill>
                  <a:srgbClr val="C00000"/>
                </a:solidFill>
                <a:latin typeface="Copperplate Gothic Light" pitchFamily="34" charset="0"/>
              </a:endParaRPr>
            </a:p>
          </p:txBody>
        </p:sp>
        <p:cxnSp>
          <p:nvCxnSpPr>
            <p:cNvPr id="24" name="Straight Connector 23"/>
            <p:cNvCxnSpPr>
              <a:endCxn id="22" idx="4"/>
            </p:cNvCxnSpPr>
            <p:nvPr/>
          </p:nvCxnSpPr>
          <p:spPr>
            <a:xfrm rot="10800000">
              <a:off x="6474278" y="4104559"/>
              <a:ext cx="759124" cy="396817"/>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5" name="Straight Connector 24"/>
            <p:cNvCxnSpPr>
              <a:stCxn id="23" idx="4"/>
            </p:cNvCxnSpPr>
            <p:nvPr/>
          </p:nvCxnSpPr>
          <p:spPr>
            <a:xfrm rot="5400000">
              <a:off x="7900912" y="3822886"/>
              <a:ext cx="383802" cy="935826"/>
            </a:xfrm>
            <a:prstGeom prst="line">
              <a:avLst/>
            </a:prstGeom>
            <a:ln w="19050"/>
          </p:spPr>
          <p:style>
            <a:lnRef idx="1">
              <a:schemeClr val="accent1"/>
            </a:lnRef>
            <a:fillRef idx="0">
              <a:schemeClr val="accent1"/>
            </a:fillRef>
            <a:effectRef idx="0">
              <a:schemeClr val="accent1"/>
            </a:effectRef>
            <a:fontRef idx="minor">
              <a:schemeClr val="tx1"/>
            </a:fontRef>
          </p:style>
        </p:cxnSp>
      </p:grpSp>
      <p:cxnSp>
        <p:nvCxnSpPr>
          <p:cNvPr id="28" name="Straight Connector 27"/>
          <p:cNvCxnSpPr>
            <a:stCxn id="7" idx="3"/>
            <a:endCxn id="16" idx="1"/>
          </p:cNvCxnSpPr>
          <p:nvPr/>
        </p:nvCxnSpPr>
        <p:spPr>
          <a:xfrm>
            <a:off x="1988582" y="5092877"/>
            <a:ext cx="737846" cy="16134"/>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332091" y="5098628"/>
            <a:ext cx="671230" cy="821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38" name="Group 37"/>
          <p:cNvGrpSpPr/>
          <p:nvPr/>
        </p:nvGrpSpPr>
        <p:grpSpPr>
          <a:xfrm>
            <a:off x="646983" y="3165937"/>
            <a:ext cx="10739831" cy="491705"/>
            <a:chOff x="1595822" y="2389560"/>
            <a:chExt cx="9126853" cy="491705"/>
          </a:xfrm>
        </p:grpSpPr>
        <p:sp>
          <p:nvSpPr>
            <p:cNvPr id="39" name="TextBox 38"/>
            <p:cNvSpPr txBox="1"/>
            <p:nvPr/>
          </p:nvSpPr>
          <p:spPr>
            <a:xfrm>
              <a:off x="1595822" y="2432691"/>
              <a:ext cx="2070340" cy="307777"/>
            </a:xfrm>
            <a:prstGeom prst="rect">
              <a:avLst/>
            </a:prstGeom>
            <a:noFill/>
          </p:spPr>
          <p:txBody>
            <a:bodyPr wrap="square" rtlCol="0">
              <a:spAutoFit/>
            </a:bodyPr>
            <a:lstStyle/>
            <a:p>
              <a:r>
                <a:rPr lang="en-US" sz="1400" dirty="0">
                  <a:solidFill>
                    <a:srgbClr val="0000FF"/>
                  </a:solidFill>
                  <a:latin typeface="Copperplate Gothic Light" pitchFamily="34" charset="0"/>
                </a:rPr>
                <a:t>ER DIAGRAM</a:t>
              </a:r>
            </a:p>
          </p:txBody>
        </p:sp>
        <p:sp>
          <p:nvSpPr>
            <p:cNvPr id="40" name="TextBox 39"/>
            <p:cNvSpPr txBox="1"/>
            <p:nvPr/>
          </p:nvSpPr>
          <p:spPr>
            <a:xfrm>
              <a:off x="8494144" y="2455697"/>
              <a:ext cx="2228531" cy="307777"/>
            </a:xfrm>
            <a:prstGeom prst="rect">
              <a:avLst/>
            </a:prstGeom>
            <a:noFill/>
          </p:spPr>
          <p:txBody>
            <a:bodyPr wrap="square" rtlCol="0">
              <a:spAutoFit/>
            </a:bodyPr>
            <a:lstStyle/>
            <a:p>
              <a:r>
                <a:rPr lang="en-US" sz="1400" dirty="0">
                  <a:solidFill>
                    <a:srgbClr val="0000FF"/>
                  </a:solidFill>
                  <a:latin typeface="Copperplate Gothic Light" pitchFamily="34" charset="0"/>
                </a:rPr>
                <a:t>RELATIONAL TABLE</a:t>
              </a:r>
            </a:p>
          </p:txBody>
        </p:sp>
        <p:sp>
          <p:nvSpPr>
            <p:cNvPr id="41" name="Right Arrow 40"/>
            <p:cNvSpPr/>
            <p:nvPr/>
          </p:nvSpPr>
          <p:spPr>
            <a:xfrm>
              <a:off x="3985405" y="2389560"/>
              <a:ext cx="3795622" cy="491705"/>
            </a:xfrm>
            <a:prstGeom prst="rightArrow">
              <a:avLst/>
            </a:prstGeom>
            <a:noFill/>
            <a:ln w="317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accent6">
                      <a:lumMod val="50000"/>
                    </a:schemeClr>
                  </a:solidFill>
                  <a:latin typeface="Bookman Old Style" pitchFamily="18" charset="0"/>
                </a:rPr>
                <a:t>Er</a:t>
              </a:r>
              <a:r>
                <a:rPr lang="en-US" sz="1400" dirty="0">
                  <a:solidFill>
                    <a:schemeClr val="accent6">
                      <a:lumMod val="50000"/>
                    </a:schemeClr>
                  </a:solidFill>
                  <a:latin typeface="Bookman Old Style" pitchFamily="18" charset="0"/>
                </a:rPr>
                <a:t> Diagram to relational table</a:t>
              </a:r>
            </a:p>
          </p:txBody>
        </p:sp>
      </p:grpSp>
      <p:graphicFrame>
        <p:nvGraphicFramePr>
          <p:cNvPr id="46" name="Table 45"/>
          <p:cNvGraphicFramePr>
            <a:graphicFrameLocks noGrp="1"/>
          </p:cNvGraphicFramePr>
          <p:nvPr/>
        </p:nvGraphicFramePr>
        <p:xfrm>
          <a:off x="7763718" y="3997703"/>
          <a:ext cx="4244253" cy="1483360"/>
        </p:xfrm>
        <a:graphic>
          <a:graphicData uri="http://schemas.openxmlformats.org/drawingml/2006/table">
            <a:tbl>
              <a:tblPr firstRow="1" bandRow="1">
                <a:tableStyleId>{5940675A-B579-460E-94D1-54222C63F5DA}</a:tableStyleId>
              </a:tblPr>
              <a:tblGrid>
                <a:gridCol w="1155995">
                  <a:extLst>
                    <a:ext uri="{9D8B030D-6E8A-4147-A177-3AD203B41FA5}">
                      <a16:colId xmlns:a16="http://schemas.microsoft.com/office/drawing/2014/main" val="20000"/>
                    </a:ext>
                  </a:extLst>
                </a:gridCol>
                <a:gridCol w="1078302">
                  <a:extLst>
                    <a:ext uri="{9D8B030D-6E8A-4147-A177-3AD203B41FA5}">
                      <a16:colId xmlns:a16="http://schemas.microsoft.com/office/drawing/2014/main" val="20001"/>
                    </a:ext>
                  </a:extLst>
                </a:gridCol>
                <a:gridCol w="2009956">
                  <a:extLst>
                    <a:ext uri="{9D8B030D-6E8A-4147-A177-3AD203B41FA5}">
                      <a16:colId xmlns:a16="http://schemas.microsoft.com/office/drawing/2014/main" val="20002"/>
                    </a:ext>
                  </a:extLst>
                </a:gridCol>
              </a:tblGrid>
              <a:tr h="370840">
                <a:tc>
                  <a:txBody>
                    <a:bodyPr/>
                    <a:lstStyle/>
                    <a:p>
                      <a:r>
                        <a:rPr lang="en-US" u="sng" dirty="0" err="1">
                          <a:solidFill>
                            <a:srgbClr val="0000FF"/>
                          </a:solidFill>
                          <a:latin typeface="Copperplate Gothic Light" pitchFamily="34" charset="0"/>
                        </a:rPr>
                        <a:t>empno</a:t>
                      </a:r>
                      <a:endParaRPr lang="en-US" u="sng" dirty="0">
                        <a:solidFill>
                          <a:srgbClr val="0000FF"/>
                        </a:solidFill>
                        <a:latin typeface="Copperplate Gothic Light" pitchFamily="34" charset="0"/>
                      </a:endParaRPr>
                    </a:p>
                  </a:txBody>
                  <a:tcPr/>
                </a:tc>
                <a:tc>
                  <a:txBody>
                    <a:bodyPr/>
                    <a:lstStyle/>
                    <a:p>
                      <a:r>
                        <a:rPr lang="en-US" u="sng" dirty="0" err="1">
                          <a:solidFill>
                            <a:srgbClr val="0000FF"/>
                          </a:solidFill>
                          <a:latin typeface="Copperplate Gothic Light" pitchFamily="34" charset="0"/>
                        </a:rPr>
                        <a:t>dept_id</a:t>
                      </a:r>
                      <a:endParaRPr lang="en-US" u="sng" dirty="0">
                        <a:solidFill>
                          <a:srgbClr val="0000FF"/>
                        </a:solidFill>
                        <a:latin typeface="Copperplate Gothic Light" pitchFamily="34" charset="0"/>
                      </a:endParaRPr>
                    </a:p>
                  </a:txBody>
                  <a:tcPr/>
                </a:tc>
                <a:tc>
                  <a:txBody>
                    <a:bodyPr/>
                    <a:lstStyle/>
                    <a:p>
                      <a:r>
                        <a:rPr lang="en-US" dirty="0" err="1">
                          <a:solidFill>
                            <a:srgbClr val="0000FF"/>
                          </a:solidFill>
                          <a:latin typeface="Copperplate Gothic Light" pitchFamily="34" charset="0"/>
                        </a:rPr>
                        <a:t>date_of_join</a:t>
                      </a:r>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0"/>
                  </a:ext>
                </a:extLst>
              </a:tr>
              <a:tr h="370840">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1"/>
                  </a:ext>
                </a:extLst>
              </a:tr>
              <a:tr h="370840">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2"/>
                  </a:ext>
                </a:extLst>
              </a:tr>
              <a:tr h="370840">
                <a:tc>
                  <a:txBody>
                    <a:bodyPr/>
                    <a:lstStyle/>
                    <a:p>
                      <a:endParaRPr lang="en-US">
                        <a:solidFill>
                          <a:srgbClr val="0000FF"/>
                        </a:solidFill>
                        <a:latin typeface="Copperplate Gothic Light" pitchFamily="34" charset="0"/>
                      </a:endParaRPr>
                    </a:p>
                  </a:txBody>
                  <a:tcPr/>
                </a:tc>
                <a:tc>
                  <a:txBody>
                    <a:bodyPr/>
                    <a:lstStyle/>
                    <a:p>
                      <a:endParaRPr lang="en-US">
                        <a:solidFill>
                          <a:srgbClr val="0000FF"/>
                        </a:solidFill>
                        <a:latin typeface="Copperplate Gothic Light" pitchFamily="34" charset="0"/>
                      </a:endParaRPr>
                    </a:p>
                  </a:txBody>
                  <a:tcPr/>
                </a:tc>
                <a:tc>
                  <a:txBody>
                    <a:bodyPr/>
                    <a:lstStyle/>
                    <a:p>
                      <a:endParaRPr lang="en-US" dirty="0">
                        <a:solidFill>
                          <a:srgbClr val="0000FF"/>
                        </a:solidFill>
                        <a:latin typeface="Copperplate Gothic Light" pitchFamily="34" charset="0"/>
                      </a:endParaRPr>
                    </a:p>
                  </a:txBody>
                  <a:tcPr/>
                </a:tc>
                <a:extLst>
                  <a:ext uri="{0D108BD9-81ED-4DB2-BD59-A6C34878D82A}">
                    <a16:rowId xmlns:a16="http://schemas.microsoft.com/office/drawing/2014/main" val="10003"/>
                  </a:ext>
                </a:extLst>
              </a:tr>
            </a:tbl>
          </a:graphicData>
        </a:graphic>
      </p:graphicFrame>
      <p:sp>
        <p:nvSpPr>
          <p:cNvPr id="47" name="Rectangle 46"/>
          <p:cNvSpPr/>
          <p:nvPr/>
        </p:nvSpPr>
        <p:spPr>
          <a:xfrm>
            <a:off x="7185804" y="5650628"/>
            <a:ext cx="5149969" cy="338554"/>
          </a:xfrm>
          <a:prstGeom prst="rect">
            <a:avLst/>
          </a:prstGeom>
        </p:spPr>
        <p:txBody>
          <a:bodyPr wrap="square">
            <a:spAutoFit/>
          </a:bodyPr>
          <a:lstStyle/>
          <a:p>
            <a:r>
              <a:rPr lang="en-US" sz="1600" dirty="0">
                <a:solidFill>
                  <a:srgbClr val="0000FF"/>
                </a:solidFill>
                <a:latin typeface="Bookman Old Style" pitchFamily="18" charset="0"/>
              </a:rPr>
              <a:t>Schema : </a:t>
            </a:r>
            <a:r>
              <a:rPr lang="en-US" sz="1600" dirty="0" err="1">
                <a:solidFill>
                  <a:srgbClr val="0000FF"/>
                </a:solidFill>
                <a:latin typeface="Bookman Old Style" pitchFamily="18" charset="0"/>
              </a:rPr>
              <a:t>works_in</a:t>
            </a:r>
            <a:r>
              <a:rPr lang="en-US" sz="1600" dirty="0">
                <a:solidFill>
                  <a:srgbClr val="0000FF"/>
                </a:solidFill>
                <a:latin typeface="Bookman Old Style" pitchFamily="18" charset="0"/>
              </a:rPr>
              <a:t> (</a:t>
            </a:r>
            <a:r>
              <a:rPr lang="en-US" sz="1600" dirty="0" err="1">
                <a:solidFill>
                  <a:srgbClr val="0000FF"/>
                </a:solidFill>
                <a:latin typeface="Bookman Old Style" pitchFamily="18" charset="0"/>
              </a:rPr>
              <a:t>empno</a:t>
            </a:r>
            <a:r>
              <a:rPr lang="en-US" sz="1600" dirty="0">
                <a:solidFill>
                  <a:srgbClr val="0000FF"/>
                </a:solidFill>
                <a:latin typeface="Bookman Old Style" pitchFamily="18" charset="0"/>
              </a:rPr>
              <a:t>, </a:t>
            </a:r>
            <a:r>
              <a:rPr lang="en-US" sz="1600" dirty="0" err="1">
                <a:solidFill>
                  <a:srgbClr val="0000FF"/>
                </a:solidFill>
                <a:latin typeface="Bookman Old Style" pitchFamily="18" charset="0"/>
              </a:rPr>
              <a:t>dept_id</a:t>
            </a:r>
            <a:r>
              <a:rPr lang="en-US" sz="1600" dirty="0">
                <a:solidFill>
                  <a:srgbClr val="0000FF"/>
                </a:solidFill>
                <a:latin typeface="Bookman Old Style" pitchFamily="18" charset="0"/>
              </a:rPr>
              <a:t>, </a:t>
            </a:r>
            <a:r>
              <a:rPr lang="en-US" sz="1600" dirty="0" err="1">
                <a:solidFill>
                  <a:srgbClr val="0000FF"/>
                </a:solidFill>
                <a:latin typeface="Bookman Old Style" pitchFamily="18" charset="0"/>
              </a:rPr>
              <a:t>date_of_join</a:t>
            </a:r>
            <a:r>
              <a:rPr lang="en-US" sz="1600" dirty="0">
                <a:solidFill>
                  <a:srgbClr val="0000FF"/>
                </a:solidFill>
                <a:latin typeface="Bookman Old Style" pitchFamily="18" charset="0"/>
              </a:rPr>
              <a:t>)</a:t>
            </a:r>
          </a:p>
        </p:txBody>
      </p:sp>
      <p:sp>
        <p:nvSpPr>
          <p:cNvPr id="49" name="TextBox 48"/>
          <p:cNvSpPr txBox="1"/>
          <p:nvPr/>
        </p:nvSpPr>
        <p:spPr>
          <a:xfrm>
            <a:off x="8379125" y="1155939"/>
            <a:ext cx="3657600" cy="1846659"/>
          </a:xfrm>
          <a:prstGeom prst="rect">
            <a:avLst/>
          </a:prstGeom>
          <a:solidFill>
            <a:schemeClr val="bg2">
              <a:lumMod val="90000"/>
            </a:schemeClr>
          </a:solidFill>
        </p:spPr>
        <p:txBody>
          <a:bodyPr wrap="square" rtlCol="0">
            <a:spAutoFit/>
          </a:bodyPr>
          <a:lstStyle/>
          <a:p>
            <a:pPr fontAlgn="base"/>
            <a:r>
              <a:rPr lang="en-US" dirty="0">
                <a:solidFill>
                  <a:srgbClr val="FF0000"/>
                </a:solidFill>
                <a:latin typeface="Copperplate Gothic Light" pitchFamily="34" charset="0"/>
              </a:rPr>
              <a:t>NOTE</a:t>
            </a:r>
            <a:r>
              <a:rPr lang="en-US" dirty="0"/>
              <a:t> </a:t>
            </a:r>
          </a:p>
          <a:p>
            <a:pPr fontAlgn="base">
              <a:buClr>
                <a:srgbClr val="C00000"/>
              </a:buClr>
              <a:buFont typeface="Wingdings" pitchFamily="2" charset="2"/>
              <a:buChar char="ü"/>
            </a:pPr>
            <a:r>
              <a:rPr lang="en-US" sz="1600" dirty="0">
                <a:solidFill>
                  <a:srgbClr val="FF0000"/>
                </a:solidFill>
                <a:latin typeface="Bookman Old Style" pitchFamily="18" charset="0"/>
              </a:rPr>
              <a:t>If we consider the overall ER </a:t>
            </a:r>
          </a:p>
          <a:p>
            <a:pPr fontAlgn="base">
              <a:buClr>
                <a:srgbClr val="C00000"/>
              </a:buClr>
            </a:pPr>
            <a:r>
              <a:rPr lang="en-US" sz="1600" dirty="0">
                <a:solidFill>
                  <a:srgbClr val="FF0000"/>
                </a:solidFill>
                <a:latin typeface="Bookman Old Style" pitchFamily="18" charset="0"/>
              </a:rPr>
              <a:t>  diagram, three tables will be    </a:t>
            </a:r>
          </a:p>
          <a:p>
            <a:pPr fontAlgn="base">
              <a:buClr>
                <a:srgbClr val="C00000"/>
              </a:buClr>
            </a:pPr>
            <a:r>
              <a:rPr lang="en-US" sz="1600" dirty="0">
                <a:solidFill>
                  <a:srgbClr val="FF0000"/>
                </a:solidFill>
                <a:latin typeface="Bookman Old Style" pitchFamily="18" charset="0"/>
              </a:rPr>
              <a:t>  required in relational model</a:t>
            </a:r>
          </a:p>
          <a:p>
            <a:pPr fontAlgn="base">
              <a:buClr>
                <a:srgbClr val="C00000"/>
              </a:buClr>
            </a:pPr>
            <a:r>
              <a:rPr lang="en-US" sz="1600" dirty="0">
                <a:solidFill>
                  <a:srgbClr val="FF0000"/>
                </a:solidFill>
                <a:latin typeface="Bookman Old Style" pitchFamily="18" charset="0"/>
              </a:rPr>
              <a:t>         1. </a:t>
            </a:r>
            <a:r>
              <a:rPr lang="en-US" sz="1600" dirty="0" err="1">
                <a:solidFill>
                  <a:srgbClr val="FF0000"/>
                </a:solidFill>
                <a:latin typeface="Bookman Old Style" pitchFamily="18" charset="0"/>
              </a:rPr>
              <a:t>Emp</a:t>
            </a:r>
            <a:r>
              <a:rPr lang="en-US" sz="1600" dirty="0">
                <a:solidFill>
                  <a:srgbClr val="FF0000"/>
                </a:solidFill>
                <a:latin typeface="Bookman Old Style" pitchFamily="18" charset="0"/>
              </a:rPr>
              <a:t> </a:t>
            </a:r>
          </a:p>
          <a:p>
            <a:pPr fontAlgn="base">
              <a:buClr>
                <a:srgbClr val="C00000"/>
              </a:buClr>
            </a:pPr>
            <a:r>
              <a:rPr lang="en-US" sz="1600" dirty="0">
                <a:solidFill>
                  <a:srgbClr val="FF0000"/>
                </a:solidFill>
                <a:latin typeface="Bookman Old Style" pitchFamily="18" charset="0"/>
              </a:rPr>
              <a:t>         2. Dept </a:t>
            </a:r>
          </a:p>
          <a:p>
            <a:pPr fontAlgn="base">
              <a:buClr>
                <a:srgbClr val="C00000"/>
              </a:buClr>
            </a:pPr>
            <a:r>
              <a:rPr lang="en-US" sz="1600" dirty="0">
                <a:solidFill>
                  <a:srgbClr val="FF0000"/>
                </a:solidFill>
                <a:latin typeface="Bookman Old Style" pitchFamily="18" charset="0"/>
              </a:rPr>
              <a:t>         3.Works_in</a:t>
            </a:r>
            <a:endParaRPr lang="en-US" dirty="0"/>
          </a:p>
        </p:txBody>
      </p:sp>
      <p:sp>
        <p:nvSpPr>
          <p:cNvPr id="18" name="Slide Number Placeholder 17">
            <a:extLst>
              <a:ext uri="{FF2B5EF4-FFF2-40B4-BE49-F238E27FC236}">
                <a16:creationId xmlns:a16="http://schemas.microsoft.com/office/drawing/2014/main" id="{C8288A41-FA50-8E86-56A6-86515794DA89}"/>
              </a:ext>
            </a:extLst>
          </p:cNvPr>
          <p:cNvSpPr>
            <a:spLocks noGrp="1"/>
          </p:cNvSpPr>
          <p:nvPr>
            <p:ph type="sldNum" sz="quarter" idx="12"/>
          </p:nvPr>
        </p:nvSpPr>
        <p:spPr/>
        <p:txBody>
          <a:bodyPr/>
          <a:lstStyle/>
          <a:p>
            <a:fld id="{AD7ED525-5088-40CF-8CE0-E4296ADF624B}" type="slidenum">
              <a:rPr lang="en-IN" smtClean="0"/>
              <a:pPr/>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72528" y="690113"/>
            <a:ext cx="11060502" cy="5033484"/>
          </a:xfrm>
        </p:spPr>
        <p:txBody>
          <a:bodyPr/>
          <a:lstStyle/>
          <a:p>
            <a:pPr marL="228600" lvl="1">
              <a:spcBef>
                <a:spcPts val="1000"/>
              </a:spcBef>
              <a:buNone/>
            </a:pPr>
            <a:r>
              <a:rPr lang="en-US" dirty="0">
                <a:solidFill>
                  <a:srgbClr val="C00000"/>
                </a:solidFill>
                <a:latin typeface="Copperplate Gothic Light" pitchFamily="34" charset="0"/>
              </a:rPr>
              <a:t>Binary Relationships With Cardinality Ratios</a:t>
            </a:r>
          </a:p>
          <a:p>
            <a:pPr marL="228600" lvl="1">
              <a:lnSpc>
                <a:spcPct val="150000"/>
              </a:lnSpc>
              <a:spcBef>
                <a:spcPts val="1000"/>
              </a:spcBef>
              <a:buClr>
                <a:srgbClr val="C00000"/>
              </a:buClr>
              <a:buFont typeface="Wingdings" pitchFamily="2" charset="2"/>
              <a:buChar char="ü"/>
            </a:pPr>
            <a:r>
              <a:rPr lang="en-US" dirty="0">
                <a:solidFill>
                  <a:srgbClr val="0000FF"/>
                </a:solidFill>
                <a:latin typeface="Bookman Old Style" pitchFamily="18" charset="0"/>
              </a:rPr>
              <a:t>Four types are possible</a:t>
            </a:r>
          </a:p>
          <a:p>
            <a:pPr marL="1028700" lvl="1" indent="-571500" fontAlgn="base">
              <a:lnSpc>
                <a:spcPct val="150000"/>
              </a:lnSpc>
              <a:buClr>
                <a:srgbClr val="C00000"/>
              </a:buClr>
              <a:buFont typeface="+mj-lt"/>
              <a:buAutoNum type="arabicPeriod"/>
            </a:pPr>
            <a:r>
              <a:rPr lang="en-US" dirty="0">
                <a:solidFill>
                  <a:srgbClr val="0000FF"/>
                </a:solidFill>
                <a:latin typeface="Bookman Old Style" pitchFamily="18" charset="0"/>
              </a:rPr>
              <a:t>Binary relationship with cardinality ratio 1:1</a:t>
            </a:r>
          </a:p>
          <a:p>
            <a:pPr marL="1028700" lvl="1" indent="-571500" fontAlgn="base">
              <a:lnSpc>
                <a:spcPct val="150000"/>
              </a:lnSpc>
              <a:buClr>
                <a:srgbClr val="C00000"/>
              </a:buClr>
              <a:buFont typeface="+mj-lt"/>
              <a:buAutoNum type="arabicPeriod"/>
            </a:pPr>
            <a:r>
              <a:rPr lang="en-US" dirty="0">
                <a:solidFill>
                  <a:srgbClr val="0000FF"/>
                </a:solidFill>
                <a:latin typeface="Bookman Old Style" pitchFamily="18" charset="0"/>
              </a:rPr>
              <a:t>Binary relationship with cardinality ratio 1:m</a:t>
            </a:r>
          </a:p>
          <a:p>
            <a:pPr marL="1028700" lvl="1" indent="-571500" fontAlgn="base">
              <a:lnSpc>
                <a:spcPct val="150000"/>
              </a:lnSpc>
              <a:buClr>
                <a:srgbClr val="C00000"/>
              </a:buClr>
              <a:buFont typeface="+mj-lt"/>
              <a:buAutoNum type="arabicPeriod"/>
            </a:pPr>
            <a:r>
              <a:rPr lang="en-US" dirty="0">
                <a:solidFill>
                  <a:srgbClr val="0000FF"/>
                </a:solidFill>
                <a:latin typeface="Bookman Old Style" pitchFamily="18" charset="0"/>
              </a:rPr>
              <a:t>Binary relationship with cardinality ratio m:1</a:t>
            </a:r>
          </a:p>
          <a:p>
            <a:pPr marL="1028700" lvl="1" indent="-571500" fontAlgn="base">
              <a:lnSpc>
                <a:spcPct val="150000"/>
              </a:lnSpc>
              <a:buClr>
                <a:srgbClr val="C00000"/>
              </a:buClr>
              <a:buFont typeface="+mj-lt"/>
              <a:buAutoNum type="arabicPeriod"/>
            </a:pPr>
            <a:r>
              <a:rPr lang="en-US" dirty="0">
                <a:solidFill>
                  <a:srgbClr val="0000FF"/>
                </a:solidFill>
                <a:latin typeface="Bookman Old Style" pitchFamily="18" charset="0"/>
              </a:rPr>
              <a:t>Binary relationship with cardinality ratio m:m</a:t>
            </a:r>
          </a:p>
          <a:p>
            <a:pPr fontAlgn="base">
              <a:buNone/>
            </a:pPr>
            <a:endParaRPr lang="en-US" dirty="0"/>
          </a:p>
          <a:p>
            <a:pPr marL="228600" lvl="1">
              <a:spcBef>
                <a:spcPts val="1000"/>
              </a:spcBef>
              <a:buNone/>
            </a:pPr>
            <a:endParaRPr lang="en-US" dirty="0">
              <a:solidFill>
                <a:srgbClr val="C00000"/>
              </a:solidFill>
              <a:latin typeface="Copperplate Gothic Light" pitchFamily="34" charset="0"/>
            </a:endParaRPr>
          </a:p>
          <a:p>
            <a:pPr>
              <a:buNone/>
            </a:pPr>
            <a:endParaRPr lang="en-US" dirty="0"/>
          </a:p>
        </p:txBody>
      </p:sp>
      <p:sp>
        <p:nvSpPr>
          <p:cNvPr id="7" name="Rectangle 6"/>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 Conversion of ER to Relational Table</a:t>
            </a:r>
            <a:r>
              <a:rPr lang="en-IN" sz="2700" dirty="0">
                <a:solidFill>
                  <a:srgbClr val="FF0000"/>
                </a:solidFill>
                <a:latin typeface="Copperplate Gothic Light" pitchFamily="34" charset="0"/>
              </a:rPr>
              <a:t> </a:t>
            </a:r>
          </a:p>
        </p:txBody>
      </p:sp>
      <p:sp>
        <p:nvSpPr>
          <p:cNvPr id="8" name="Slide Number Placeholder 7">
            <a:extLst>
              <a:ext uri="{FF2B5EF4-FFF2-40B4-BE49-F238E27FC236}">
                <a16:creationId xmlns:a16="http://schemas.microsoft.com/office/drawing/2014/main" id="{F8BFBF1F-8BC5-0638-8513-C3668DF6828E}"/>
              </a:ext>
            </a:extLst>
          </p:cNvPr>
          <p:cNvSpPr>
            <a:spLocks noGrp="1"/>
          </p:cNvSpPr>
          <p:nvPr>
            <p:ph type="sldNum" sz="quarter" idx="12"/>
          </p:nvPr>
        </p:nvSpPr>
        <p:spPr/>
        <p:txBody>
          <a:bodyPr/>
          <a:lstStyle/>
          <a:p>
            <a:fld id="{AD7ED525-5088-40CF-8CE0-E4296ADF624B}" type="slidenum">
              <a:rPr lang="en-IN" smtClean="0"/>
              <a:pPr/>
              <a:t>9</a:t>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77483" y="613135"/>
            <a:ext cx="10515600" cy="5425356"/>
          </a:xfrm>
        </p:spPr>
        <p:txBody>
          <a:bodyPr>
            <a:normAutofit/>
          </a:bodyPr>
          <a:lstStyle/>
          <a:p>
            <a:pPr>
              <a:buNone/>
            </a:pPr>
            <a:r>
              <a:rPr lang="en-US" sz="2400" dirty="0">
                <a:solidFill>
                  <a:srgbClr val="C00000"/>
                </a:solidFill>
                <a:latin typeface="Copperplate Gothic Light" pitchFamily="34" charset="0"/>
              </a:rPr>
              <a:t>Mapping Cardinality</a:t>
            </a:r>
          </a:p>
          <a:p>
            <a:pPr marL="457200" indent="-457200">
              <a:buClr>
                <a:srgbClr val="C00000"/>
              </a:buClr>
              <a:buFont typeface="Wingdings" pitchFamily="2" charset="2"/>
              <a:buChar char="ü"/>
            </a:pPr>
            <a:r>
              <a:rPr lang="en-US" sz="1800" dirty="0">
                <a:solidFill>
                  <a:srgbClr val="0000FF"/>
                </a:solidFill>
                <a:latin typeface="Bookman Old Style" pitchFamily="18" charset="0"/>
              </a:rPr>
              <a:t>The relationship set counselor, between the faculty and student entity sets may be one-to-one, one-to-many, many-to-one, or many-to-many. </a:t>
            </a:r>
          </a:p>
          <a:p>
            <a:pPr marL="457200" indent="-457200">
              <a:buClr>
                <a:srgbClr val="C00000"/>
              </a:buClr>
              <a:buFont typeface="Wingdings" pitchFamily="2" charset="2"/>
              <a:buChar char="ü"/>
            </a:pPr>
            <a:r>
              <a:rPr lang="en-US" sz="1800" dirty="0">
                <a:solidFill>
                  <a:srgbClr val="0000FF"/>
                </a:solidFill>
                <a:latin typeface="Bookman Old Style" pitchFamily="18" charset="0"/>
              </a:rPr>
              <a:t>To distinguish among these types, we draw either a directed line ( → ) or an undirected line ( — ) between the relationship set and the entity.</a:t>
            </a:r>
          </a:p>
          <a:p>
            <a:pPr marL="457200" lvl="1" indent="-457200">
              <a:spcBef>
                <a:spcPts val="1000"/>
              </a:spcBef>
              <a:buClr>
                <a:srgbClr val="C00000"/>
              </a:buClr>
              <a:buNone/>
            </a:pPr>
            <a:r>
              <a:rPr lang="en-US" dirty="0">
                <a:solidFill>
                  <a:srgbClr val="C00000"/>
                </a:solidFill>
                <a:latin typeface="Copperplate Gothic Light" pitchFamily="34" charset="0"/>
              </a:rPr>
              <a:t>Binary Relationships With Cardinality Ratios</a:t>
            </a:r>
          </a:p>
          <a:p>
            <a:pPr marL="457200" lvl="1" indent="-457200">
              <a:spcBef>
                <a:spcPts val="1000"/>
              </a:spcBef>
              <a:buClr>
                <a:srgbClr val="C00000"/>
              </a:buClr>
              <a:buFont typeface="Wingdings" pitchFamily="2" charset="2"/>
              <a:buChar char="ü"/>
            </a:pPr>
            <a:r>
              <a:rPr lang="en-US" sz="1800" dirty="0">
                <a:solidFill>
                  <a:srgbClr val="0000FF"/>
                </a:solidFill>
                <a:latin typeface="Bookman Old Style" pitchFamily="18" charset="0"/>
              </a:rPr>
              <a:t>Binary relationship with cardinality ratio 1:1</a:t>
            </a:r>
          </a:p>
          <a:p>
            <a:pPr marL="457200" indent="-457200">
              <a:buClr>
                <a:srgbClr val="C00000"/>
              </a:buClr>
              <a:buNone/>
            </a:pPr>
            <a:r>
              <a:rPr lang="en-US" sz="1800" dirty="0">
                <a:solidFill>
                  <a:srgbClr val="C00000"/>
                </a:solidFill>
                <a:latin typeface="Copperplate Gothic Light" pitchFamily="34" charset="0"/>
              </a:rPr>
              <a:t>	</a:t>
            </a:r>
            <a:r>
              <a:rPr lang="en-US" sz="1800" dirty="0">
                <a:solidFill>
                  <a:srgbClr val="0000FF"/>
                </a:solidFill>
                <a:latin typeface="Bookman Old Style" pitchFamily="18" charset="0"/>
              </a:rPr>
              <a:t>Line from the relationship set counselor to both entity sets faculty and student as given in the figure below. This indicates that a faculty may counsel at most one student, and a student may have at most one counselor.</a:t>
            </a:r>
          </a:p>
        </p:txBody>
      </p:sp>
      <p:graphicFrame>
        <p:nvGraphicFramePr>
          <p:cNvPr id="7" name="Table 6"/>
          <p:cNvGraphicFramePr>
            <a:graphicFrameLocks noGrp="1"/>
          </p:cNvGraphicFramePr>
          <p:nvPr/>
        </p:nvGraphicFramePr>
        <p:xfrm>
          <a:off x="962324" y="4083896"/>
          <a:ext cx="2376099" cy="2169160"/>
        </p:xfrm>
        <a:graphic>
          <a:graphicData uri="http://schemas.openxmlformats.org/drawingml/2006/table">
            <a:tbl>
              <a:tblPr firstRow="1" bandRow="1">
                <a:tableStyleId>{5940675A-B579-460E-94D1-54222C63F5DA}</a:tableStyleId>
              </a:tblPr>
              <a:tblGrid>
                <a:gridCol w="2376099">
                  <a:extLst>
                    <a:ext uri="{9D8B030D-6E8A-4147-A177-3AD203B41FA5}">
                      <a16:colId xmlns:a16="http://schemas.microsoft.com/office/drawing/2014/main" val="20000"/>
                    </a:ext>
                  </a:extLst>
                </a:gridCol>
              </a:tblGrid>
              <a:tr h="370840">
                <a:tc>
                  <a:txBody>
                    <a:bodyPr/>
                    <a:lstStyle/>
                    <a:p>
                      <a:r>
                        <a:rPr lang="en-US" dirty="0">
                          <a:solidFill>
                            <a:srgbClr val="C00000"/>
                          </a:solidFill>
                          <a:latin typeface="Copperplate Gothic Light" pitchFamily="34" charset="0"/>
                        </a:rPr>
                        <a:t>FACULTY</a:t>
                      </a:r>
                    </a:p>
                  </a:txBody>
                  <a:tcPr>
                    <a:solidFill>
                      <a:schemeClr val="accent1">
                        <a:lumMod val="20000"/>
                        <a:lumOff val="80000"/>
                      </a:schemeClr>
                    </a:solidFill>
                  </a:tcPr>
                </a:tc>
                <a:extLst>
                  <a:ext uri="{0D108BD9-81ED-4DB2-BD59-A6C34878D82A}">
                    <a16:rowId xmlns:a16="http://schemas.microsoft.com/office/drawing/2014/main" val="10000"/>
                  </a:ext>
                </a:extLst>
              </a:tr>
              <a:tr h="370840">
                <a:tc>
                  <a:txBody>
                    <a:bodyPr/>
                    <a:lstStyle/>
                    <a:p>
                      <a:r>
                        <a:rPr lang="en-US" sz="1600" u="sng" dirty="0" err="1">
                          <a:solidFill>
                            <a:srgbClr val="0000FF"/>
                          </a:solidFill>
                          <a:latin typeface="Bookman Old Style" pitchFamily="18" charset="0"/>
                        </a:rPr>
                        <a:t>Faculty_ID</a:t>
                      </a:r>
                      <a:endParaRPr lang="en-US" sz="1600" u="sng" dirty="0">
                        <a:solidFill>
                          <a:srgbClr val="0000FF"/>
                        </a:solidFill>
                        <a:latin typeface="Bookman Old Style" pitchFamily="18" charset="0"/>
                      </a:endParaRPr>
                    </a:p>
                    <a:p>
                      <a:r>
                        <a:rPr lang="en-US" sz="1600" dirty="0" err="1">
                          <a:solidFill>
                            <a:srgbClr val="0000FF"/>
                          </a:solidFill>
                          <a:latin typeface="Bookman Old Style" pitchFamily="18" charset="0"/>
                        </a:rPr>
                        <a:t>Faculty_Name</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Faculty_Designation</a:t>
                      </a:r>
                      <a:r>
                        <a:rPr lang="en-US" sz="1600" baseline="0" dirty="0">
                          <a:solidFill>
                            <a:srgbClr val="0000FF"/>
                          </a:solidFill>
                          <a:latin typeface="Bookman Old Style" pitchFamily="18" charset="0"/>
                        </a:rPr>
                        <a:t> </a:t>
                      </a:r>
                      <a:endParaRPr lang="en-US" sz="1600" dirty="0">
                        <a:solidFill>
                          <a:srgbClr val="0000FF"/>
                        </a:solidFill>
                        <a:latin typeface="Bookman Old Style" pitchFamily="18" charset="0"/>
                      </a:endParaRPr>
                    </a:p>
                    <a:p>
                      <a:r>
                        <a:rPr lang="en-US" sz="1600" dirty="0">
                          <a:solidFill>
                            <a:srgbClr val="0000FF"/>
                          </a:solidFill>
                          <a:latin typeface="Bookman Old Style" pitchFamily="18" charset="0"/>
                        </a:rPr>
                        <a:t>Faculty</a:t>
                      </a:r>
                      <a:r>
                        <a:rPr lang="en-US" sz="1600" baseline="0" dirty="0">
                          <a:solidFill>
                            <a:srgbClr val="0000FF"/>
                          </a:solidFill>
                          <a:latin typeface="Bookman Old Style" pitchFamily="18" charset="0"/>
                        </a:rPr>
                        <a:t> _Sal</a:t>
                      </a:r>
                    </a:p>
                    <a:p>
                      <a:r>
                        <a:rPr lang="en-US" sz="1600" baseline="0" dirty="0" err="1">
                          <a:solidFill>
                            <a:srgbClr val="0000FF"/>
                          </a:solidFill>
                          <a:latin typeface="Bookman Old Style" pitchFamily="18" charset="0"/>
                        </a:rPr>
                        <a:t>Faculty_DOB</a:t>
                      </a:r>
                      <a:endParaRPr lang="en-US" sz="1600" baseline="0" dirty="0">
                        <a:solidFill>
                          <a:srgbClr val="0000FF"/>
                        </a:solidFill>
                        <a:latin typeface="Bookman Old Style" pitchFamily="18" charset="0"/>
                      </a:endParaRPr>
                    </a:p>
                    <a:p>
                      <a:r>
                        <a:rPr lang="en-US" sz="1600" baseline="0" dirty="0" err="1">
                          <a:solidFill>
                            <a:srgbClr val="0000FF"/>
                          </a:solidFill>
                          <a:latin typeface="Bookman Old Style" pitchFamily="18" charset="0"/>
                        </a:rPr>
                        <a:t>Faculty_MobileNo</a:t>
                      </a:r>
                      <a:endParaRPr lang="en-US" sz="1600" baseline="0" dirty="0">
                        <a:solidFill>
                          <a:srgbClr val="0000FF"/>
                        </a:solidFill>
                        <a:latin typeface="Bookman Old Style" pitchFamily="18" charset="0"/>
                      </a:endParaRPr>
                    </a:p>
                    <a:p>
                      <a:r>
                        <a:rPr lang="en-US" sz="1600" baseline="0" dirty="0" err="1">
                          <a:solidFill>
                            <a:srgbClr val="0000FF"/>
                          </a:solidFill>
                          <a:latin typeface="Bookman Old Style" pitchFamily="18" charset="0"/>
                        </a:rPr>
                        <a:t>Dept_ID</a:t>
                      </a:r>
                      <a:endParaRPr lang="en-US" sz="1600" dirty="0">
                        <a:solidFill>
                          <a:srgbClr val="0000FF"/>
                        </a:solidFill>
                        <a:latin typeface="Bookman Old Style" pitchFamily="18" charset="0"/>
                      </a:endParaRPr>
                    </a:p>
                  </a:txBody>
                  <a:tcPr>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nvGraphicFramePr>
        <p:xfrm>
          <a:off x="8619703" y="4348430"/>
          <a:ext cx="2275457" cy="1681480"/>
        </p:xfrm>
        <a:graphic>
          <a:graphicData uri="http://schemas.openxmlformats.org/drawingml/2006/table">
            <a:tbl>
              <a:tblPr firstRow="1" bandRow="1">
                <a:tableStyleId>{5940675A-B579-460E-94D1-54222C63F5DA}</a:tableStyleId>
              </a:tblPr>
              <a:tblGrid>
                <a:gridCol w="2275457">
                  <a:extLst>
                    <a:ext uri="{9D8B030D-6E8A-4147-A177-3AD203B41FA5}">
                      <a16:colId xmlns:a16="http://schemas.microsoft.com/office/drawing/2014/main" val="20000"/>
                    </a:ext>
                  </a:extLst>
                </a:gridCol>
              </a:tblGrid>
              <a:tr h="370840">
                <a:tc>
                  <a:txBody>
                    <a:bodyPr/>
                    <a:lstStyle/>
                    <a:p>
                      <a:r>
                        <a:rPr lang="en-US" sz="1800" dirty="0">
                          <a:solidFill>
                            <a:srgbClr val="C00000"/>
                          </a:solidFill>
                          <a:latin typeface="Copperplate Gothic Light" pitchFamily="34" charset="0"/>
                        </a:rPr>
                        <a:t>Student</a:t>
                      </a:r>
                    </a:p>
                  </a:txBody>
                  <a:tcPr>
                    <a:solidFill>
                      <a:schemeClr val="accent2">
                        <a:lumMod val="20000"/>
                        <a:lumOff val="80000"/>
                      </a:schemeClr>
                    </a:solidFill>
                  </a:tcPr>
                </a:tc>
                <a:extLst>
                  <a:ext uri="{0D108BD9-81ED-4DB2-BD59-A6C34878D82A}">
                    <a16:rowId xmlns:a16="http://schemas.microsoft.com/office/drawing/2014/main" val="10000"/>
                  </a:ext>
                </a:extLst>
              </a:tr>
              <a:tr h="370840">
                <a:tc>
                  <a:txBody>
                    <a:bodyPr/>
                    <a:lstStyle/>
                    <a:p>
                      <a:r>
                        <a:rPr lang="en-US" sz="1600" u="sng" dirty="0" err="1">
                          <a:solidFill>
                            <a:srgbClr val="0000FF"/>
                          </a:solidFill>
                          <a:latin typeface="Bookman Old Style" pitchFamily="18" charset="0"/>
                        </a:rPr>
                        <a:t>Student_RegNo</a:t>
                      </a:r>
                      <a:endParaRPr lang="en-US" sz="1600" u="sng" dirty="0">
                        <a:solidFill>
                          <a:srgbClr val="0000FF"/>
                        </a:solidFill>
                        <a:latin typeface="Bookman Old Style" pitchFamily="18" charset="0"/>
                      </a:endParaRPr>
                    </a:p>
                    <a:p>
                      <a:r>
                        <a:rPr lang="en-US" sz="1600" dirty="0" err="1">
                          <a:solidFill>
                            <a:srgbClr val="0000FF"/>
                          </a:solidFill>
                          <a:latin typeface="Bookman Old Style" pitchFamily="18" charset="0"/>
                        </a:rPr>
                        <a:t>Student_Name</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Student_DOB</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Student_Location</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Dept_ID</a:t>
                      </a:r>
                      <a:endParaRPr lang="en-US" sz="1600" dirty="0">
                        <a:solidFill>
                          <a:srgbClr val="0000FF"/>
                        </a:solidFill>
                        <a:latin typeface="Bookman Old Style" pitchFamily="18" charset="0"/>
                      </a:endParaRPr>
                    </a:p>
                  </a:txBody>
                  <a:tcPr>
                    <a:solidFill>
                      <a:schemeClr val="accent2">
                        <a:lumMod val="20000"/>
                        <a:lumOff val="80000"/>
                      </a:schemeClr>
                    </a:solidFill>
                  </a:tcPr>
                </a:tc>
                <a:extLst>
                  <a:ext uri="{0D108BD9-81ED-4DB2-BD59-A6C34878D82A}">
                    <a16:rowId xmlns:a16="http://schemas.microsoft.com/office/drawing/2014/main" val="10001"/>
                  </a:ext>
                </a:extLst>
              </a:tr>
            </a:tbl>
          </a:graphicData>
        </a:graphic>
      </p:graphicFrame>
      <p:sp>
        <p:nvSpPr>
          <p:cNvPr id="9" name="Diamond 8"/>
          <p:cNvSpPr/>
          <p:nvPr/>
        </p:nvSpPr>
        <p:spPr>
          <a:xfrm>
            <a:off x="4606507" y="4045737"/>
            <a:ext cx="2665563" cy="2432648"/>
          </a:xfrm>
          <a:prstGeom prst="diamond">
            <a:avLst/>
          </a:prstGeom>
          <a:solidFill>
            <a:schemeClr val="accent4">
              <a:lumMod val="20000"/>
              <a:lumOff val="8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latin typeface="Copperplate Gothic Light" pitchFamily="34" charset="0"/>
              </a:rPr>
              <a:t>Counselor</a:t>
            </a:r>
          </a:p>
        </p:txBody>
      </p:sp>
      <p:cxnSp>
        <p:nvCxnSpPr>
          <p:cNvPr id="15" name="Straight Arrow Connector 14"/>
          <p:cNvCxnSpPr>
            <a:stCxn id="9" idx="1"/>
          </p:cNvCxnSpPr>
          <p:nvPr/>
        </p:nvCxnSpPr>
        <p:spPr>
          <a:xfrm rot="10800000">
            <a:off x="3303917" y="5244847"/>
            <a:ext cx="1302590" cy="1721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7260567" y="5227593"/>
            <a:ext cx="1408980" cy="22967"/>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 Conversion of ER to Relational Table</a:t>
            </a:r>
            <a:r>
              <a:rPr lang="en-IN" sz="2700" dirty="0">
                <a:solidFill>
                  <a:srgbClr val="FF0000"/>
                </a:solidFill>
                <a:latin typeface="Copperplate Gothic Light" pitchFamily="34" charset="0"/>
              </a:rPr>
              <a:t> </a:t>
            </a:r>
          </a:p>
        </p:txBody>
      </p:sp>
      <p:sp>
        <p:nvSpPr>
          <p:cNvPr id="6" name="Slide Number Placeholder 5">
            <a:extLst>
              <a:ext uri="{FF2B5EF4-FFF2-40B4-BE49-F238E27FC236}">
                <a16:creationId xmlns:a16="http://schemas.microsoft.com/office/drawing/2014/main" id="{1E245B5D-1703-4C20-CB22-1B20E6DE1D44}"/>
              </a:ext>
            </a:extLst>
          </p:cNvPr>
          <p:cNvSpPr>
            <a:spLocks noGrp="1"/>
          </p:cNvSpPr>
          <p:nvPr>
            <p:ph type="sldNum" sz="quarter" idx="12"/>
          </p:nvPr>
        </p:nvSpPr>
        <p:spPr/>
        <p:txBody>
          <a:bodyPr/>
          <a:lstStyle/>
          <a:p>
            <a:fld id="{AD7ED525-5088-40CF-8CE0-E4296ADF624B}" type="slidenum">
              <a:rPr lang="en-IN" smtClean="0"/>
              <a:pPr/>
              <a:t>10</a:t>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0710219-1BE9-7469-DDF5-73E86CC4649F}"/>
              </a:ext>
            </a:extLst>
          </p:cNvPr>
          <p:cNvSpPr>
            <a:spLocks noGrp="1"/>
          </p:cNvSpPr>
          <p:nvPr>
            <p:ph type="sldNum" sz="quarter" idx="12"/>
          </p:nvPr>
        </p:nvSpPr>
        <p:spPr/>
        <p:txBody>
          <a:bodyPr/>
          <a:lstStyle/>
          <a:p>
            <a:fld id="{AD7ED525-5088-40CF-8CE0-E4296ADF624B}" type="slidenum">
              <a:rPr lang="en-IN" smtClean="0"/>
              <a:pPr/>
              <a:t>11</a:t>
            </a:fld>
            <a:endParaRPr lang="en-IN"/>
          </a:p>
        </p:txBody>
      </p:sp>
      <p:sp>
        <p:nvSpPr>
          <p:cNvPr id="5" name="TextBox 4">
            <a:extLst>
              <a:ext uri="{FF2B5EF4-FFF2-40B4-BE49-F238E27FC236}">
                <a16:creationId xmlns:a16="http://schemas.microsoft.com/office/drawing/2014/main" id="{F3980A16-28E3-E5C1-E2AD-28C55D260E6A}"/>
              </a:ext>
            </a:extLst>
          </p:cNvPr>
          <p:cNvSpPr txBox="1"/>
          <p:nvPr/>
        </p:nvSpPr>
        <p:spPr>
          <a:xfrm>
            <a:off x="838200" y="699571"/>
            <a:ext cx="9836888" cy="369332"/>
          </a:xfrm>
          <a:prstGeom prst="rect">
            <a:avLst/>
          </a:prstGeom>
          <a:noFill/>
        </p:spPr>
        <p:txBody>
          <a:bodyPr wrap="square">
            <a:spAutoFit/>
          </a:bodyPr>
          <a:lstStyle/>
          <a:p>
            <a:pPr marL="457200" lvl="1" indent="-457200">
              <a:spcBef>
                <a:spcPts val="1000"/>
              </a:spcBef>
              <a:buClr>
                <a:srgbClr val="C00000"/>
              </a:buClr>
              <a:buFont typeface="Wingdings" pitchFamily="2" charset="2"/>
              <a:buChar char="ü"/>
            </a:pPr>
            <a:r>
              <a:rPr lang="en-US" sz="1800" dirty="0">
                <a:solidFill>
                  <a:srgbClr val="0000FF"/>
                </a:solidFill>
                <a:latin typeface="Bookman Old Style" pitchFamily="18" charset="0"/>
              </a:rPr>
              <a:t>Binary relationship with cardinality ratio 1:1, total participation</a:t>
            </a:r>
          </a:p>
        </p:txBody>
      </p:sp>
      <p:pic>
        <p:nvPicPr>
          <p:cNvPr id="6" name="Content Placeholder 5">
            <a:extLst>
              <a:ext uri="{FF2B5EF4-FFF2-40B4-BE49-F238E27FC236}">
                <a16:creationId xmlns:a16="http://schemas.microsoft.com/office/drawing/2014/main" id="{6A5BEA18-D763-49FE-CF4F-94FC9DCCB064}"/>
              </a:ext>
            </a:extLst>
          </p:cNvPr>
          <p:cNvPicPr>
            <a:picLocks noGrp="1" noChangeAspect="1"/>
          </p:cNvPicPr>
          <p:nvPr>
            <p:ph idx="1"/>
          </p:nvPr>
        </p:nvPicPr>
        <p:blipFill>
          <a:blip r:embed="rId2"/>
          <a:stretch>
            <a:fillRect/>
          </a:stretch>
        </p:blipFill>
        <p:spPr>
          <a:xfrm>
            <a:off x="2013447" y="1771419"/>
            <a:ext cx="6853393" cy="2417809"/>
          </a:xfrm>
          <a:prstGeom prst="rect">
            <a:avLst/>
          </a:prstGeom>
        </p:spPr>
      </p:pic>
      <p:graphicFrame>
        <p:nvGraphicFramePr>
          <p:cNvPr id="7" name="Table 6">
            <a:extLst>
              <a:ext uri="{FF2B5EF4-FFF2-40B4-BE49-F238E27FC236}">
                <a16:creationId xmlns:a16="http://schemas.microsoft.com/office/drawing/2014/main" id="{67A713D8-72DB-3E3A-2505-A9BD15079CFF}"/>
              </a:ext>
            </a:extLst>
          </p:cNvPr>
          <p:cNvGraphicFramePr>
            <a:graphicFrameLocks noGrp="1"/>
          </p:cNvGraphicFramePr>
          <p:nvPr>
            <p:extLst>
              <p:ext uri="{D42A27DB-BD31-4B8C-83A1-F6EECF244321}">
                <p14:modId xmlns:p14="http://schemas.microsoft.com/office/powerpoint/2010/main" val="2358506366"/>
              </p:ext>
            </p:extLst>
          </p:nvPr>
        </p:nvGraphicFramePr>
        <p:xfrm>
          <a:off x="1214770" y="4444464"/>
          <a:ext cx="9762460" cy="1105731"/>
        </p:xfrm>
        <a:graphic>
          <a:graphicData uri="http://schemas.openxmlformats.org/drawingml/2006/table">
            <a:tbl>
              <a:tblPr/>
              <a:tblGrid>
                <a:gridCol w="2440615">
                  <a:extLst>
                    <a:ext uri="{9D8B030D-6E8A-4147-A177-3AD203B41FA5}">
                      <a16:colId xmlns:a16="http://schemas.microsoft.com/office/drawing/2014/main" val="1661358380"/>
                    </a:ext>
                  </a:extLst>
                </a:gridCol>
                <a:gridCol w="2440615">
                  <a:extLst>
                    <a:ext uri="{9D8B030D-6E8A-4147-A177-3AD203B41FA5}">
                      <a16:colId xmlns:a16="http://schemas.microsoft.com/office/drawing/2014/main" val="35227910"/>
                    </a:ext>
                  </a:extLst>
                </a:gridCol>
                <a:gridCol w="2440615">
                  <a:extLst>
                    <a:ext uri="{9D8B030D-6E8A-4147-A177-3AD203B41FA5}">
                      <a16:colId xmlns:a16="http://schemas.microsoft.com/office/drawing/2014/main" val="1324659354"/>
                    </a:ext>
                  </a:extLst>
                </a:gridCol>
                <a:gridCol w="2440615">
                  <a:extLst>
                    <a:ext uri="{9D8B030D-6E8A-4147-A177-3AD203B41FA5}">
                      <a16:colId xmlns:a16="http://schemas.microsoft.com/office/drawing/2014/main" val="2845811206"/>
                    </a:ext>
                  </a:extLst>
                </a:gridCol>
              </a:tblGrid>
              <a:tr h="1105731">
                <a:tc>
                  <a:txBody>
                    <a:bodyPr/>
                    <a:lstStyle/>
                    <a:p>
                      <a:pPr algn="ctr" fontAlgn="ctr"/>
                      <a:r>
                        <a:rPr lang="en-IN" sz="2000" b="0" u="sng" dirty="0">
                          <a:effectLst/>
                        </a:rPr>
                        <a:t>Per-Id</a:t>
                      </a:r>
                      <a:endParaRPr lang="en-IN" sz="2000" b="0" dirty="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000" b="0" dirty="0">
                          <a:effectLst/>
                        </a:rPr>
                        <a:t>Other Person Attribute</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000" b="0" dirty="0">
                          <a:effectLst/>
                        </a:rPr>
                        <a:t>Pass-No</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000" b="0" dirty="0">
                          <a:effectLst/>
                        </a:rPr>
                        <a:t>Other </a:t>
                      </a:r>
                      <a:r>
                        <a:rPr lang="en-IN" sz="2000" b="0" dirty="0" err="1">
                          <a:effectLst/>
                        </a:rPr>
                        <a:t>PassportAttribute</a:t>
                      </a:r>
                      <a:endParaRPr lang="en-IN" sz="2000" b="0" dirty="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44787015"/>
                  </a:ext>
                </a:extLst>
              </a:tr>
            </a:tbl>
          </a:graphicData>
        </a:graphic>
      </p:graphicFrame>
    </p:spTree>
    <p:extLst>
      <p:ext uri="{BB962C8B-B14F-4D97-AF65-F5344CB8AC3E}">
        <p14:creationId xmlns:p14="http://schemas.microsoft.com/office/powerpoint/2010/main" val="3442659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C45B4D-2387-B64E-0D5C-49D525F39F93}"/>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43CDD98-20BA-677F-99E9-C202E587BC8E}"/>
              </a:ext>
            </a:extLst>
          </p:cNvPr>
          <p:cNvSpPr>
            <a:spLocks noGrp="1"/>
          </p:cNvSpPr>
          <p:nvPr>
            <p:ph type="sldNum" sz="quarter" idx="12"/>
          </p:nvPr>
        </p:nvSpPr>
        <p:spPr/>
        <p:txBody>
          <a:bodyPr/>
          <a:lstStyle/>
          <a:p>
            <a:fld id="{AD7ED525-5088-40CF-8CE0-E4296ADF624B}" type="slidenum">
              <a:rPr lang="en-IN" smtClean="0"/>
              <a:pPr/>
              <a:t>12</a:t>
            </a:fld>
            <a:endParaRPr lang="en-IN"/>
          </a:p>
        </p:txBody>
      </p:sp>
      <p:sp>
        <p:nvSpPr>
          <p:cNvPr id="5" name="TextBox 4">
            <a:extLst>
              <a:ext uri="{FF2B5EF4-FFF2-40B4-BE49-F238E27FC236}">
                <a16:creationId xmlns:a16="http://schemas.microsoft.com/office/drawing/2014/main" id="{40315D92-830F-6885-E877-4C9523D1F29B}"/>
              </a:ext>
            </a:extLst>
          </p:cNvPr>
          <p:cNvSpPr txBox="1"/>
          <p:nvPr/>
        </p:nvSpPr>
        <p:spPr>
          <a:xfrm>
            <a:off x="838200" y="699571"/>
            <a:ext cx="9836888" cy="369332"/>
          </a:xfrm>
          <a:prstGeom prst="rect">
            <a:avLst/>
          </a:prstGeom>
          <a:noFill/>
        </p:spPr>
        <p:txBody>
          <a:bodyPr wrap="square">
            <a:spAutoFit/>
          </a:bodyPr>
          <a:lstStyle/>
          <a:p>
            <a:pPr marL="457200" lvl="1" indent="-457200">
              <a:spcBef>
                <a:spcPts val="1000"/>
              </a:spcBef>
              <a:buClr>
                <a:srgbClr val="C00000"/>
              </a:buClr>
              <a:buFont typeface="Wingdings" pitchFamily="2" charset="2"/>
              <a:buChar char="ü"/>
            </a:pPr>
            <a:r>
              <a:rPr lang="en-US" sz="1800" dirty="0">
                <a:solidFill>
                  <a:srgbClr val="0000FF"/>
                </a:solidFill>
                <a:latin typeface="Bookman Old Style" pitchFamily="18" charset="0"/>
              </a:rPr>
              <a:t>Binary relationship with cardinality ratio 1:1, partial participation</a:t>
            </a:r>
          </a:p>
        </p:txBody>
      </p:sp>
      <p:graphicFrame>
        <p:nvGraphicFramePr>
          <p:cNvPr id="7" name="Table 6">
            <a:extLst>
              <a:ext uri="{FF2B5EF4-FFF2-40B4-BE49-F238E27FC236}">
                <a16:creationId xmlns:a16="http://schemas.microsoft.com/office/drawing/2014/main" id="{D71F1113-B2A0-D86B-18FC-9A60702E3BA0}"/>
              </a:ext>
            </a:extLst>
          </p:cNvPr>
          <p:cNvGraphicFramePr>
            <a:graphicFrameLocks noGrp="1"/>
          </p:cNvGraphicFramePr>
          <p:nvPr>
            <p:extLst>
              <p:ext uri="{D42A27DB-BD31-4B8C-83A1-F6EECF244321}">
                <p14:modId xmlns:p14="http://schemas.microsoft.com/office/powerpoint/2010/main" val="2847486834"/>
              </p:ext>
            </p:extLst>
          </p:nvPr>
        </p:nvGraphicFramePr>
        <p:xfrm>
          <a:off x="1214769" y="3658544"/>
          <a:ext cx="7078625" cy="1073834"/>
        </p:xfrm>
        <a:graphic>
          <a:graphicData uri="http://schemas.openxmlformats.org/drawingml/2006/table">
            <a:tbl>
              <a:tblPr/>
              <a:tblGrid>
                <a:gridCol w="1769656">
                  <a:extLst>
                    <a:ext uri="{9D8B030D-6E8A-4147-A177-3AD203B41FA5}">
                      <a16:colId xmlns:a16="http://schemas.microsoft.com/office/drawing/2014/main" val="1661358380"/>
                    </a:ext>
                  </a:extLst>
                </a:gridCol>
                <a:gridCol w="2331853">
                  <a:extLst>
                    <a:ext uri="{9D8B030D-6E8A-4147-A177-3AD203B41FA5}">
                      <a16:colId xmlns:a16="http://schemas.microsoft.com/office/drawing/2014/main" val="35227910"/>
                    </a:ext>
                  </a:extLst>
                </a:gridCol>
                <a:gridCol w="2977116">
                  <a:extLst>
                    <a:ext uri="{9D8B030D-6E8A-4147-A177-3AD203B41FA5}">
                      <a16:colId xmlns:a16="http://schemas.microsoft.com/office/drawing/2014/main" val="1324659354"/>
                    </a:ext>
                  </a:extLst>
                </a:gridCol>
              </a:tblGrid>
              <a:tr h="1073834">
                <a:tc>
                  <a:txBody>
                    <a:bodyPr/>
                    <a:lstStyle/>
                    <a:p>
                      <a:pPr algn="ctr" fontAlgn="ctr"/>
                      <a:r>
                        <a:rPr lang="en-IN" sz="2400" b="0" u="sng" dirty="0">
                          <a:effectLst/>
                        </a:rPr>
                        <a:t>Per-Id</a:t>
                      </a:r>
                      <a:endParaRPr lang="en-IN" sz="2400" b="0" dirty="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400" b="0" dirty="0">
                          <a:effectLst/>
                        </a:rPr>
                        <a:t>Other Person Attribute</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400" b="0" dirty="0">
                          <a:effectLst/>
                        </a:rPr>
                        <a:t>Pass-No</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44787015"/>
                  </a:ext>
                </a:extLst>
              </a:tr>
            </a:tbl>
          </a:graphicData>
        </a:graphic>
      </p:graphicFrame>
      <p:graphicFrame>
        <p:nvGraphicFramePr>
          <p:cNvPr id="2" name="Table 1">
            <a:extLst>
              <a:ext uri="{FF2B5EF4-FFF2-40B4-BE49-F238E27FC236}">
                <a16:creationId xmlns:a16="http://schemas.microsoft.com/office/drawing/2014/main" id="{EC271B65-76A3-77FC-8CDC-E8FC32EA1316}"/>
              </a:ext>
            </a:extLst>
          </p:cNvPr>
          <p:cNvGraphicFramePr>
            <a:graphicFrameLocks noGrp="1"/>
          </p:cNvGraphicFramePr>
          <p:nvPr>
            <p:extLst>
              <p:ext uri="{D42A27DB-BD31-4B8C-83A1-F6EECF244321}">
                <p14:modId xmlns:p14="http://schemas.microsoft.com/office/powerpoint/2010/main" val="3887113293"/>
              </p:ext>
            </p:extLst>
          </p:nvPr>
        </p:nvGraphicFramePr>
        <p:xfrm>
          <a:off x="1214768" y="5113188"/>
          <a:ext cx="7078625" cy="1073834"/>
        </p:xfrm>
        <a:graphic>
          <a:graphicData uri="http://schemas.openxmlformats.org/drawingml/2006/table">
            <a:tbl>
              <a:tblPr/>
              <a:tblGrid>
                <a:gridCol w="1769656">
                  <a:extLst>
                    <a:ext uri="{9D8B030D-6E8A-4147-A177-3AD203B41FA5}">
                      <a16:colId xmlns:a16="http://schemas.microsoft.com/office/drawing/2014/main" val="1661358380"/>
                    </a:ext>
                  </a:extLst>
                </a:gridCol>
                <a:gridCol w="5308969">
                  <a:extLst>
                    <a:ext uri="{9D8B030D-6E8A-4147-A177-3AD203B41FA5}">
                      <a16:colId xmlns:a16="http://schemas.microsoft.com/office/drawing/2014/main" val="35227910"/>
                    </a:ext>
                  </a:extLst>
                </a:gridCol>
              </a:tblGrid>
              <a:tr h="1073834">
                <a:tc>
                  <a:txBody>
                    <a:bodyPr/>
                    <a:lstStyle/>
                    <a:p>
                      <a:pPr algn="ctr" fontAlgn="ctr"/>
                      <a:r>
                        <a:rPr lang="en-IN" sz="2000" b="0" u="sng" dirty="0">
                          <a:effectLst/>
                        </a:rPr>
                        <a:t>Pass-No</a:t>
                      </a:r>
                      <a:endParaRPr lang="en-IN" sz="2000" b="0" dirty="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000" b="0" dirty="0">
                          <a:effectLst/>
                        </a:rPr>
                        <a:t>Other Person Attribute</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244787015"/>
                  </a:ext>
                </a:extLst>
              </a:tr>
            </a:tbl>
          </a:graphicData>
        </a:graphic>
      </p:graphicFrame>
      <p:pic>
        <p:nvPicPr>
          <p:cNvPr id="10" name="Picture 9">
            <a:extLst>
              <a:ext uri="{FF2B5EF4-FFF2-40B4-BE49-F238E27FC236}">
                <a16:creationId xmlns:a16="http://schemas.microsoft.com/office/drawing/2014/main" id="{75DF1332-A420-F34F-A3EF-E1571D2F2A1E}"/>
              </a:ext>
            </a:extLst>
          </p:cNvPr>
          <p:cNvPicPr>
            <a:picLocks noChangeAspect="1"/>
          </p:cNvPicPr>
          <p:nvPr/>
        </p:nvPicPr>
        <p:blipFill>
          <a:blip r:embed="rId2"/>
          <a:stretch>
            <a:fillRect/>
          </a:stretch>
        </p:blipFill>
        <p:spPr>
          <a:xfrm>
            <a:off x="1967023" y="1165506"/>
            <a:ext cx="6110406" cy="2330649"/>
          </a:xfrm>
          <a:prstGeom prst="rect">
            <a:avLst/>
          </a:prstGeom>
        </p:spPr>
      </p:pic>
    </p:spTree>
    <p:extLst>
      <p:ext uri="{BB962C8B-B14F-4D97-AF65-F5344CB8AC3E}">
        <p14:creationId xmlns:p14="http://schemas.microsoft.com/office/powerpoint/2010/main" val="8401142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5725" y="587255"/>
            <a:ext cx="10515600" cy="4351338"/>
          </a:xfrm>
        </p:spPr>
        <p:txBody>
          <a:bodyPr/>
          <a:lstStyle/>
          <a:p>
            <a:pPr marL="228600" lvl="1">
              <a:spcBef>
                <a:spcPts val="1000"/>
              </a:spcBef>
              <a:buClr>
                <a:srgbClr val="C00000"/>
              </a:buClr>
              <a:buNone/>
            </a:pPr>
            <a:r>
              <a:rPr lang="en-US" dirty="0">
                <a:solidFill>
                  <a:srgbClr val="C00000"/>
                </a:solidFill>
                <a:latin typeface="Copperplate Gothic Light" pitchFamily="34" charset="0"/>
              </a:rPr>
              <a:t>Binary Relationships With Cardinality Ratios</a:t>
            </a:r>
          </a:p>
          <a:p>
            <a:pPr marL="228600" lvl="1">
              <a:spcBef>
                <a:spcPts val="1000"/>
              </a:spcBef>
              <a:buClr>
                <a:srgbClr val="C00000"/>
              </a:buClr>
              <a:buFont typeface="Wingdings" pitchFamily="2" charset="2"/>
              <a:buChar char="ü"/>
            </a:pPr>
            <a:r>
              <a:rPr lang="en-US" dirty="0">
                <a:solidFill>
                  <a:srgbClr val="0000FF"/>
                </a:solidFill>
                <a:latin typeface="Bookman Old Style" pitchFamily="18" charset="0"/>
              </a:rPr>
              <a:t>Binary relationship with cardinality ratio 1:m</a:t>
            </a:r>
          </a:p>
          <a:p>
            <a:pPr lvl="1">
              <a:buClr>
                <a:srgbClr val="C00000"/>
              </a:buClr>
              <a:buNone/>
            </a:pPr>
            <a:r>
              <a:rPr lang="en-US" sz="1600" dirty="0">
                <a:solidFill>
                  <a:srgbClr val="0000FF"/>
                </a:solidFill>
                <a:latin typeface="Bookman Old Style" pitchFamily="18" charset="0"/>
              </a:rPr>
              <a:t>	</a:t>
            </a:r>
            <a:r>
              <a:rPr lang="en-US" sz="2000" dirty="0">
                <a:solidFill>
                  <a:srgbClr val="0000FF"/>
                </a:solidFill>
                <a:latin typeface="Bookman Old Style" pitchFamily="18" charset="0"/>
              </a:rPr>
              <a:t>A directed line from the relationship set counselor to the entity set faculty and an undirected line to the entity set student as shown in the below figure, indicates that a faculty may counsel many students, but a student may have at most one counselor.</a:t>
            </a:r>
          </a:p>
        </p:txBody>
      </p:sp>
      <p:graphicFrame>
        <p:nvGraphicFramePr>
          <p:cNvPr id="7" name="Table 6"/>
          <p:cNvGraphicFramePr>
            <a:graphicFrameLocks noGrp="1"/>
          </p:cNvGraphicFramePr>
          <p:nvPr/>
        </p:nvGraphicFramePr>
        <p:xfrm>
          <a:off x="988203" y="3204016"/>
          <a:ext cx="2376099" cy="2169160"/>
        </p:xfrm>
        <a:graphic>
          <a:graphicData uri="http://schemas.openxmlformats.org/drawingml/2006/table">
            <a:tbl>
              <a:tblPr firstRow="1" bandRow="1">
                <a:tableStyleId>{5940675A-B579-460E-94D1-54222C63F5DA}</a:tableStyleId>
              </a:tblPr>
              <a:tblGrid>
                <a:gridCol w="2376099">
                  <a:extLst>
                    <a:ext uri="{9D8B030D-6E8A-4147-A177-3AD203B41FA5}">
                      <a16:colId xmlns:a16="http://schemas.microsoft.com/office/drawing/2014/main" val="20000"/>
                    </a:ext>
                  </a:extLst>
                </a:gridCol>
              </a:tblGrid>
              <a:tr h="370840">
                <a:tc>
                  <a:txBody>
                    <a:bodyPr/>
                    <a:lstStyle/>
                    <a:p>
                      <a:r>
                        <a:rPr lang="en-US" dirty="0">
                          <a:solidFill>
                            <a:srgbClr val="C00000"/>
                          </a:solidFill>
                          <a:latin typeface="Copperplate Gothic Light" pitchFamily="34" charset="0"/>
                        </a:rPr>
                        <a:t>FACULTY</a:t>
                      </a:r>
                    </a:p>
                  </a:txBody>
                  <a:tcPr>
                    <a:solidFill>
                      <a:schemeClr val="accent1">
                        <a:lumMod val="20000"/>
                        <a:lumOff val="80000"/>
                      </a:schemeClr>
                    </a:solidFill>
                  </a:tcPr>
                </a:tc>
                <a:extLst>
                  <a:ext uri="{0D108BD9-81ED-4DB2-BD59-A6C34878D82A}">
                    <a16:rowId xmlns:a16="http://schemas.microsoft.com/office/drawing/2014/main" val="10000"/>
                  </a:ext>
                </a:extLst>
              </a:tr>
              <a:tr h="370840">
                <a:tc>
                  <a:txBody>
                    <a:bodyPr/>
                    <a:lstStyle/>
                    <a:p>
                      <a:r>
                        <a:rPr lang="en-US" sz="1600" u="sng" dirty="0" err="1">
                          <a:solidFill>
                            <a:srgbClr val="0000FF"/>
                          </a:solidFill>
                          <a:latin typeface="Bookman Old Style" pitchFamily="18" charset="0"/>
                        </a:rPr>
                        <a:t>Faculty_ID</a:t>
                      </a:r>
                      <a:endParaRPr lang="en-US" sz="1600" u="sng" dirty="0">
                        <a:solidFill>
                          <a:srgbClr val="0000FF"/>
                        </a:solidFill>
                        <a:latin typeface="Bookman Old Style" pitchFamily="18" charset="0"/>
                      </a:endParaRPr>
                    </a:p>
                    <a:p>
                      <a:r>
                        <a:rPr lang="en-US" sz="1600" dirty="0" err="1">
                          <a:solidFill>
                            <a:srgbClr val="0000FF"/>
                          </a:solidFill>
                          <a:latin typeface="Bookman Old Style" pitchFamily="18" charset="0"/>
                        </a:rPr>
                        <a:t>Faculty_Name</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Faculty_Designation</a:t>
                      </a:r>
                      <a:r>
                        <a:rPr lang="en-US" sz="1600" baseline="0" dirty="0">
                          <a:solidFill>
                            <a:srgbClr val="0000FF"/>
                          </a:solidFill>
                          <a:latin typeface="Bookman Old Style" pitchFamily="18" charset="0"/>
                        </a:rPr>
                        <a:t> </a:t>
                      </a:r>
                      <a:endParaRPr lang="en-US" sz="1600" dirty="0">
                        <a:solidFill>
                          <a:srgbClr val="0000FF"/>
                        </a:solidFill>
                        <a:latin typeface="Bookman Old Style" pitchFamily="18" charset="0"/>
                      </a:endParaRPr>
                    </a:p>
                    <a:p>
                      <a:r>
                        <a:rPr lang="en-US" sz="1600" dirty="0">
                          <a:solidFill>
                            <a:srgbClr val="0000FF"/>
                          </a:solidFill>
                          <a:latin typeface="Bookman Old Style" pitchFamily="18" charset="0"/>
                        </a:rPr>
                        <a:t>Faculty</a:t>
                      </a:r>
                      <a:r>
                        <a:rPr lang="en-US" sz="1600" baseline="0" dirty="0">
                          <a:solidFill>
                            <a:srgbClr val="0000FF"/>
                          </a:solidFill>
                          <a:latin typeface="Bookman Old Style" pitchFamily="18" charset="0"/>
                        </a:rPr>
                        <a:t> _Sal</a:t>
                      </a:r>
                    </a:p>
                    <a:p>
                      <a:r>
                        <a:rPr lang="en-US" sz="1600" baseline="0" dirty="0" err="1">
                          <a:solidFill>
                            <a:srgbClr val="0000FF"/>
                          </a:solidFill>
                          <a:latin typeface="Bookman Old Style" pitchFamily="18" charset="0"/>
                        </a:rPr>
                        <a:t>Faculty_DOB</a:t>
                      </a:r>
                      <a:endParaRPr lang="en-US" sz="1600" baseline="0" dirty="0">
                        <a:solidFill>
                          <a:srgbClr val="0000FF"/>
                        </a:solidFill>
                        <a:latin typeface="Bookman Old Style" pitchFamily="18" charset="0"/>
                      </a:endParaRPr>
                    </a:p>
                    <a:p>
                      <a:r>
                        <a:rPr lang="en-US" sz="1600" baseline="0" dirty="0" err="1">
                          <a:solidFill>
                            <a:srgbClr val="0000FF"/>
                          </a:solidFill>
                          <a:latin typeface="Bookman Old Style" pitchFamily="18" charset="0"/>
                        </a:rPr>
                        <a:t>Faculty_MobileNo</a:t>
                      </a:r>
                      <a:endParaRPr lang="en-US" sz="1600" baseline="0" dirty="0">
                        <a:solidFill>
                          <a:srgbClr val="0000FF"/>
                        </a:solidFill>
                        <a:latin typeface="Bookman Old Style" pitchFamily="18" charset="0"/>
                      </a:endParaRPr>
                    </a:p>
                    <a:p>
                      <a:r>
                        <a:rPr lang="en-US" sz="1600" baseline="0" dirty="0" err="1">
                          <a:solidFill>
                            <a:srgbClr val="0000FF"/>
                          </a:solidFill>
                          <a:latin typeface="Bookman Old Style" pitchFamily="18" charset="0"/>
                        </a:rPr>
                        <a:t>Dept_ID</a:t>
                      </a:r>
                      <a:endParaRPr lang="en-US" sz="1600" dirty="0">
                        <a:solidFill>
                          <a:srgbClr val="0000FF"/>
                        </a:solidFill>
                        <a:latin typeface="Bookman Old Style" pitchFamily="18" charset="0"/>
                      </a:endParaRPr>
                    </a:p>
                  </a:txBody>
                  <a:tcPr>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nvGraphicFramePr>
        <p:xfrm>
          <a:off x="8645582" y="3468550"/>
          <a:ext cx="2275457" cy="1681480"/>
        </p:xfrm>
        <a:graphic>
          <a:graphicData uri="http://schemas.openxmlformats.org/drawingml/2006/table">
            <a:tbl>
              <a:tblPr firstRow="1" bandRow="1">
                <a:tableStyleId>{5940675A-B579-460E-94D1-54222C63F5DA}</a:tableStyleId>
              </a:tblPr>
              <a:tblGrid>
                <a:gridCol w="2275457">
                  <a:extLst>
                    <a:ext uri="{9D8B030D-6E8A-4147-A177-3AD203B41FA5}">
                      <a16:colId xmlns:a16="http://schemas.microsoft.com/office/drawing/2014/main" val="20000"/>
                    </a:ext>
                  </a:extLst>
                </a:gridCol>
              </a:tblGrid>
              <a:tr h="370840">
                <a:tc>
                  <a:txBody>
                    <a:bodyPr/>
                    <a:lstStyle/>
                    <a:p>
                      <a:r>
                        <a:rPr lang="en-US" sz="1800" dirty="0">
                          <a:solidFill>
                            <a:srgbClr val="C00000"/>
                          </a:solidFill>
                          <a:latin typeface="Copperplate Gothic Light" pitchFamily="34" charset="0"/>
                        </a:rPr>
                        <a:t>Student</a:t>
                      </a:r>
                    </a:p>
                  </a:txBody>
                  <a:tcPr>
                    <a:solidFill>
                      <a:schemeClr val="accent2">
                        <a:lumMod val="20000"/>
                        <a:lumOff val="80000"/>
                      </a:schemeClr>
                    </a:solidFill>
                  </a:tcPr>
                </a:tc>
                <a:extLst>
                  <a:ext uri="{0D108BD9-81ED-4DB2-BD59-A6C34878D82A}">
                    <a16:rowId xmlns:a16="http://schemas.microsoft.com/office/drawing/2014/main" val="10000"/>
                  </a:ext>
                </a:extLst>
              </a:tr>
              <a:tr h="370840">
                <a:tc>
                  <a:txBody>
                    <a:bodyPr/>
                    <a:lstStyle/>
                    <a:p>
                      <a:r>
                        <a:rPr lang="en-US" sz="1600" u="sng" dirty="0" err="1">
                          <a:solidFill>
                            <a:srgbClr val="0000FF"/>
                          </a:solidFill>
                          <a:latin typeface="Bookman Old Style" pitchFamily="18" charset="0"/>
                        </a:rPr>
                        <a:t>Student_RegNo</a:t>
                      </a:r>
                      <a:endParaRPr lang="en-US" sz="1600" u="sng" dirty="0">
                        <a:solidFill>
                          <a:srgbClr val="0000FF"/>
                        </a:solidFill>
                        <a:latin typeface="Bookman Old Style" pitchFamily="18" charset="0"/>
                      </a:endParaRPr>
                    </a:p>
                    <a:p>
                      <a:r>
                        <a:rPr lang="en-US" sz="1600" dirty="0" err="1">
                          <a:solidFill>
                            <a:srgbClr val="0000FF"/>
                          </a:solidFill>
                          <a:latin typeface="Bookman Old Style" pitchFamily="18" charset="0"/>
                        </a:rPr>
                        <a:t>Student_Name</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Student_DOB</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Student_Location</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Dept_ID</a:t>
                      </a:r>
                      <a:endParaRPr lang="en-US" sz="1600" dirty="0">
                        <a:solidFill>
                          <a:srgbClr val="0000FF"/>
                        </a:solidFill>
                        <a:latin typeface="Bookman Old Style" pitchFamily="18" charset="0"/>
                      </a:endParaRPr>
                    </a:p>
                  </a:txBody>
                  <a:tcPr>
                    <a:solidFill>
                      <a:schemeClr val="accent2">
                        <a:lumMod val="20000"/>
                        <a:lumOff val="80000"/>
                      </a:schemeClr>
                    </a:solidFill>
                  </a:tcPr>
                </a:tc>
                <a:extLst>
                  <a:ext uri="{0D108BD9-81ED-4DB2-BD59-A6C34878D82A}">
                    <a16:rowId xmlns:a16="http://schemas.microsoft.com/office/drawing/2014/main" val="10001"/>
                  </a:ext>
                </a:extLst>
              </a:tr>
            </a:tbl>
          </a:graphicData>
        </a:graphic>
      </p:graphicFrame>
      <p:sp>
        <p:nvSpPr>
          <p:cNvPr id="9" name="Diamond 8"/>
          <p:cNvSpPr/>
          <p:nvPr/>
        </p:nvSpPr>
        <p:spPr>
          <a:xfrm>
            <a:off x="4632386" y="3165857"/>
            <a:ext cx="2665563" cy="2432648"/>
          </a:xfrm>
          <a:prstGeom prst="diamond">
            <a:avLst/>
          </a:prstGeom>
          <a:solidFill>
            <a:schemeClr val="accent4">
              <a:lumMod val="20000"/>
              <a:lumOff val="80000"/>
            </a:schemeClr>
          </a:solid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latin typeface="Copperplate Gothic Light" pitchFamily="34" charset="0"/>
              </a:rPr>
              <a:t>Counselor</a:t>
            </a:r>
          </a:p>
        </p:txBody>
      </p:sp>
      <p:cxnSp>
        <p:nvCxnSpPr>
          <p:cNvPr id="10" name="Straight Arrow Connector 9"/>
          <p:cNvCxnSpPr>
            <a:stCxn id="9" idx="1"/>
          </p:cNvCxnSpPr>
          <p:nvPr/>
        </p:nvCxnSpPr>
        <p:spPr>
          <a:xfrm rot="10800000">
            <a:off x="3329796" y="4364967"/>
            <a:ext cx="1302590" cy="17215"/>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7286446" y="4347713"/>
            <a:ext cx="1357222" cy="22969"/>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 Conversion of ER to Relational Table</a:t>
            </a:r>
            <a:r>
              <a:rPr lang="en-IN" sz="2700" dirty="0">
                <a:solidFill>
                  <a:srgbClr val="FF0000"/>
                </a:solidFill>
                <a:latin typeface="Copperplate Gothic Light" pitchFamily="34" charset="0"/>
              </a:rPr>
              <a:t> </a:t>
            </a:r>
          </a:p>
        </p:txBody>
      </p:sp>
      <p:sp>
        <p:nvSpPr>
          <p:cNvPr id="6" name="Slide Number Placeholder 5">
            <a:extLst>
              <a:ext uri="{FF2B5EF4-FFF2-40B4-BE49-F238E27FC236}">
                <a16:creationId xmlns:a16="http://schemas.microsoft.com/office/drawing/2014/main" id="{1CD35DC9-2FA2-0C97-CD54-3E4D26777B92}"/>
              </a:ext>
            </a:extLst>
          </p:cNvPr>
          <p:cNvSpPr>
            <a:spLocks noGrp="1"/>
          </p:cNvSpPr>
          <p:nvPr>
            <p:ph type="sldNum" sz="quarter" idx="12"/>
          </p:nvPr>
        </p:nvSpPr>
        <p:spPr/>
        <p:txBody>
          <a:bodyPr/>
          <a:lstStyle/>
          <a:p>
            <a:fld id="{AD7ED525-5088-40CF-8CE0-E4296ADF624B}" type="slidenum">
              <a:rPr lang="en-IN" smtClean="0"/>
              <a:pPr/>
              <a:t>13</a:t>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82592" y="647640"/>
            <a:ext cx="10515600" cy="4351338"/>
          </a:xfrm>
        </p:spPr>
        <p:txBody>
          <a:bodyPr/>
          <a:lstStyle/>
          <a:p>
            <a:pPr marL="457200" lvl="1" indent="-457200">
              <a:spcBef>
                <a:spcPts val="1000"/>
              </a:spcBef>
              <a:buClr>
                <a:srgbClr val="C00000"/>
              </a:buClr>
              <a:buNone/>
            </a:pPr>
            <a:r>
              <a:rPr lang="en-US" dirty="0">
                <a:solidFill>
                  <a:srgbClr val="C00000"/>
                </a:solidFill>
                <a:latin typeface="Copperplate Gothic Light" pitchFamily="34" charset="0"/>
              </a:rPr>
              <a:t>Binary Relationships With Cardinality Ratios</a:t>
            </a:r>
          </a:p>
          <a:p>
            <a:pPr marL="228600" lvl="1">
              <a:spcBef>
                <a:spcPts val="1000"/>
              </a:spcBef>
              <a:buClr>
                <a:srgbClr val="C00000"/>
              </a:buClr>
              <a:buFont typeface="Wingdings" pitchFamily="2" charset="2"/>
              <a:buChar char="ü"/>
            </a:pPr>
            <a:r>
              <a:rPr lang="en-US" dirty="0">
                <a:solidFill>
                  <a:srgbClr val="0000FF"/>
                </a:solidFill>
                <a:latin typeface="Bookman Old Style" pitchFamily="18" charset="0"/>
              </a:rPr>
              <a:t>Binary relationship with cardinality ratio m:1</a:t>
            </a:r>
          </a:p>
          <a:p>
            <a:pPr>
              <a:buNone/>
            </a:pPr>
            <a:r>
              <a:rPr lang="en-US" dirty="0">
                <a:solidFill>
                  <a:srgbClr val="C00000"/>
                </a:solidFill>
                <a:latin typeface="Copperplate Gothic Light" pitchFamily="34" charset="0"/>
              </a:rPr>
              <a:t>	</a:t>
            </a:r>
            <a:r>
              <a:rPr lang="en-US" sz="2000" dirty="0">
                <a:solidFill>
                  <a:srgbClr val="0000FF"/>
                </a:solidFill>
                <a:latin typeface="Bookman Old Style" pitchFamily="18" charset="0"/>
              </a:rPr>
              <a:t>An undirected line from the relationship set counselor to the entity set faculty and a directed line to the entity set student as shown in the below figure, indicates that a faculty may counsel at most one student, but a student may have many counselors.</a:t>
            </a:r>
          </a:p>
          <a:p>
            <a:pPr>
              <a:buNone/>
            </a:pPr>
            <a:endParaRPr lang="en-US" dirty="0"/>
          </a:p>
        </p:txBody>
      </p:sp>
      <p:graphicFrame>
        <p:nvGraphicFramePr>
          <p:cNvPr id="7" name="Table 6"/>
          <p:cNvGraphicFramePr>
            <a:graphicFrameLocks noGrp="1"/>
          </p:cNvGraphicFramePr>
          <p:nvPr/>
        </p:nvGraphicFramePr>
        <p:xfrm>
          <a:off x="988203" y="3204016"/>
          <a:ext cx="2376099" cy="2169160"/>
        </p:xfrm>
        <a:graphic>
          <a:graphicData uri="http://schemas.openxmlformats.org/drawingml/2006/table">
            <a:tbl>
              <a:tblPr firstRow="1" bandRow="1">
                <a:tableStyleId>{5940675A-B579-460E-94D1-54222C63F5DA}</a:tableStyleId>
              </a:tblPr>
              <a:tblGrid>
                <a:gridCol w="2376099">
                  <a:extLst>
                    <a:ext uri="{9D8B030D-6E8A-4147-A177-3AD203B41FA5}">
                      <a16:colId xmlns:a16="http://schemas.microsoft.com/office/drawing/2014/main" val="20000"/>
                    </a:ext>
                  </a:extLst>
                </a:gridCol>
              </a:tblGrid>
              <a:tr h="370840">
                <a:tc>
                  <a:txBody>
                    <a:bodyPr/>
                    <a:lstStyle/>
                    <a:p>
                      <a:r>
                        <a:rPr lang="en-US" dirty="0">
                          <a:solidFill>
                            <a:srgbClr val="C00000"/>
                          </a:solidFill>
                          <a:latin typeface="Copperplate Gothic Light" pitchFamily="34" charset="0"/>
                        </a:rPr>
                        <a:t>FACULTY</a:t>
                      </a:r>
                    </a:p>
                  </a:txBody>
                  <a:tcPr>
                    <a:solidFill>
                      <a:schemeClr val="accent1">
                        <a:lumMod val="20000"/>
                        <a:lumOff val="80000"/>
                      </a:schemeClr>
                    </a:solidFill>
                  </a:tcPr>
                </a:tc>
                <a:extLst>
                  <a:ext uri="{0D108BD9-81ED-4DB2-BD59-A6C34878D82A}">
                    <a16:rowId xmlns:a16="http://schemas.microsoft.com/office/drawing/2014/main" val="10000"/>
                  </a:ext>
                </a:extLst>
              </a:tr>
              <a:tr h="370840">
                <a:tc>
                  <a:txBody>
                    <a:bodyPr/>
                    <a:lstStyle/>
                    <a:p>
                      <a:r>
                        <a:rPr lang="en-US" sz="1600" u="sng" dirty="0" err="1">
                          <a:solidFill>
                            <a:srgbClr val="0000FF"/>
                          </a:solidFill>
                          <a:latin typeface="Bookman Old Style" pitchFamily="18" charset="0"/>
                        </a:rPr>
                        <a:t>Faculty_ID</a:t>
                      </a:r>
                      <a:endParaRPr lang="en-US" sz="1600" u="sng" dirty="0">
                        <a:solidFill>
                          <a:srgbClr val="0000FF"/>
                        </a:solidFill>
                        <a:latin typeface="Bookman Old Style" pitchFamily="18" charset="0"/>
                      </a:endParaRPr>
                    </a:p>
                    <a:p>
                      <a:r>
                        <a:rPr lang="en-US" sz="1600" dirty="0" err="1">
                          <a:solidFill>
                            <a:srgbClr val="0000FF"/>
                          </a:solidFill>
                          <a:latin typeface="Bookman Old Style" pitchFamily="18" charset="0"/>
                        </a:rPr>
                        <a:t>Faculty_Name</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Faculty_Designation</a:t>
                      </a:r>
                      <a:r>
                        <a:rPr lang="en-US" sz="1600" baseline="0" dirty="0">
                          <a:solidFill>
                            <a:srgbClr val="0000FF"/>
                          </a:solidFill>
                          <a:latin typeface="Bookman Old Style" pitchFamily="18" charset="0"/>
                        </a:rPr>
                        <a:t> </a:t>
                      </a:r>
                      <a:endParaRPr lang="en-US" sz="1600" dirty="0">
                        <a:solidFill>
                          <a:srgbClr val="0000FF"/>
                        </a:solidFill>
                        <a:latin typeface="Bookman Old Style" pitchFamily="18" charset="0"/>
                      </a:endParaRPr>
                    </a:p>
                    <a:p>
                      <a:r>
                        <a:rPr lang="en-US" sz="1600" dirty="0">
                          <a:solidFill>
                            <a:srgbClr val="0000FF"/>
                          </a:solidFill>
                          <a:latin typeface="Bookman Old Style" pitchFamily="18" charset="0"/>
                        </a:rPr>
                        <a:t>Faculty</a:t>
                      </a:r>
                      <a:r>
                        <a:rPr lang="en-US" sz="1600" baseline="0" dirty="0">
                          <a:solidFill>
                            <a:srgbClr val="0000FF"/>
                          </a:solidFill>
                          <a:latin typeface="Bookman Old Style" pitchFamily="18" charset="0"/>
                        </a:rPr>
                        <a:t> _Sal</a:t>
                      </a:r>
                    </a:p>
                    <a:p>
                      <a:r>
                        <a:rPr lang="en-US" sz="1600" baseline="0" dirty="0" err="1">
                          <a:solidFill>
                            <a:srgbClr val="0000FF"/>
                          </a:solidFill>
                          <a:latin typeface="Bookman Old Style" pitchFamily="18" charset="0"/>
                        </a:rPr>
                        <a:t>Faculty_DOB</a:t>
                      </a:r>
                      <a:endParaRPr lang="en-US" sz="1600" baseline="0" dirty="0">
                        <a:solidFill>
                          <a:srgbClr val="0000FF"/>
                        </a:solidFill>
                        <a:latin typeface="Bookman Old Style" pitchFamily="18" charset="0"/>
                      </a:endParaRPr>
                    </a:p>
                    <a:p>
                      <a:r>
                        <a:rPr lang="en-US" sz="1600" baseline="0" dirty="0" err="1">
                          <a:solidFill>
                            <a:srgbClr val="0000FF"/>
                          </a:solidFill>
                          <a:latin typeface="Bookman Old Style" pitchFamily="18" charset="0"/>
                        </a:rPr>
                        <a:t>Faculty_MobileNo</a:t>
                      </a:r>
                      <a:endParaRPr lang="en-US" sz="1600" baseline="0" dirty="0">
                        <a:solidFill>
                          <a:srgbClr val="0000FF"/>
                        </a:solidFill>
                        <a:latin typeface="Bookman Old Style" pitchFamily="18" charset="0"/>
                      </a:endParaRPr>
                    </a:p>
                    <a:p>
                      <a:r>
                        <a:rPr lang="en-US" sz="1600" baseline="0" dirty="0" err="1">
                          <a:solidFill>
                            <a:srgbClr val="0000FF"/>
                          </a:solidFill>
                          <a:latin typeface="Bookman Old Style" pitchFamily="18" charset="0"/>
                        </a:rPr>
                        <a:t>Dept_ID</a:t>
                      </a:r>
                      <a:endParaRPr lang="en-US" sz="1600" dirty="0">
                        <a:solidFill>
                          <a:srgbClr val="0000FF"/>
                        </a:solidFill>
                        <a:latin typeface="Bookman Old Style" pitchFamily="18" charset="0"/>
                      </a:endParaRPr>
                    </a:p>
                  </a:txBody>
                  <a:tcPr>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nvGraphicFramePr>
        <p:xfrm>
          <a:off x="8645582" y="3468550"/>
          <a:ext cx="2275457" cy="1681480"/>
        </p:xfrm>
        <a:graphic>
          <a:graphicData uri="http://schemas.openxmlformats.org/drawingml/2006/table">
            <a:tbl>
              <a:tblPr firstRow="1" bandRow="1">
                <a:tableStyleId>{5940675A-B579-460E-94D1-54222C63F5DA}</a:tableStyleId>
              </a:tblPr>
              <a:tblGrid>
                <a:gridCol w="2275457">
                  <a:extLst>
                    <a:ext uri="{9D8B030D-6E8A-4147-A177-3AD203B41FA5}">
                      <a16:colId xmlns:a16="http://schemas.microsoft.com/office/drawing/2014/main" val="20000"/>
                    </a:ext>
                  </a:extLst>
                </a:gridCol>
              </a:tblGrid>
              <a:tr h="370840">
                <a:tc>
                  <a:txBody>
                    <a:bodyPr/>
                    <a:lstStyle/>
                    <a:p>
                      <a:r>
                        <a:rPr lang="en-US" sz="1800" dirty="0">
                          <a:solidFill>
                            <a:srgbClr val="C00000"/>
                          </a:solidFill>
                          <a:latin typeface="Copperplate Gothic Light" pitchFamily="34" charset="0"/>
                        </a:rPr>
                        <a:t>Student</a:t>
                      </a:r>
                    </a:p>
                  </a:txBody>
                  <a:tcPr>
                    <a:solidFill>
                      <a:schemeClr val="accent2">
                        <a:lumMod val="20000"/>
                        <a:lumOff val="80000"/>
                      </a:schemeClr>
                    </a:solidFill>
                  </a:tcPr>
                </a:tc>
                <a:extLst>
                  <a:ext uri="{0D108BD9-81ED-4DB2-BD59-A6C34878D82A}">
                    <a16:rowId xmlns:a16="http://schemas.microsoft.com/office/drawing/2014/main" val="10000"/>
                  </a:ext>
                </a:extLst>
              </a:tr>
              <a:tr h="370840">
                <a:tc>
                  <a:txBody>
                    <a:bodyPr/>
                    <a:lstStyle/>
                    <a:p>
                      <a:r>
                        <a:rPr lang="en-US" sz="1600" u="sng" dirty="0" err="1">
                          <a:solidFill>
                            <a:srgbClr val="0000FF"/>
                          </a:solidFill>
                          <a:latin typeface="Bookman Old Style" pitchFamily="18" charset="0"/>
                        </a:rPr>
                        <a:t>Student_RegNo</a:t>
                      </a:r>
                      <a:endParaRPr lang="en-US" sz="1600" u="sng" dirty="0">
                        <a:solidFill>
                          <a:srgbClr val="0000FF"/>
                        </a:solidFill>
                        <a:latin typeface="Bookman Old Style" pitchFamily="18" charset="0"/>
                      </a:endParaRPr>
                    </a:p>
                    <a:p>
                      <a:r>
                        <a:rPr lang="en-US" sz="1600" dirty="0" err="1">
                          <a:solidFill>
                            <a:srgbClr val="0000FF"/>
                          </a:solidFill>
                          <a:latin typeface="Bookman Old Style" pitchFamily="18" charset="0"/>
                        </a:rPr>
                        <a:t>Student_Name</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Student_DOB</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Student_Location</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Dept_ID</a:t>
                      </a:r>
                      <a:endParaRPr lang="en-US" sz="1600" dirty="0">
                        <a:solidFill>
                          <a:srgbClr val="0000FF"/>
                        </a:solidFill>
                        <a:latin typeface="Bookman Old Style" pitchFamily="18" charset="0"/>
                      </a:endParaRPr>
                    </a:p>
                  </a:txBody>
                  <a:tcPr>
                    <a:solidFill>
                      <a:schemeClr val="accent2">
                        <a:lumMod val="20000"/>
                        <a:lumOff val="80000"/>
                      </a:schemeClr>
                    </a:solidFill>
                  </a:tcPr>
                </a:tc>
                <a:extLst>
                  <a:ext uri="{0D108BD9-81ED-4DB2-BD59-A6C34878D82A}">
                    <a16:rowId xmlns:a16="http://schemas.microsoft.com/office/drawing/2014/main" val="10001"/>
                  </a:ext>
                </a:extLst>
              </a:tr>
            </a:tbl>
          </a:graphicData>
        </a:graphic>
      </p:graphicFrame>
      <p:sp>
        <p:nvSpPr>
          <p:cNvPr id="9" name="Diamond 8"/>
          <p:cNvSpPr/>
          <p:nvPr/>
        </p:nvSpPr>
        <p:spPr>
          <a:xfrm>
            <a:off x="4632386" y="3165857"/>
            <a:ext cx="2665563" cy="2432648"/>
          </a:xfrm>
          <a:prstGeom prst="diamond">
            <a:avLst/>
          </a:prstGeom>
          <a:solidFill>
            <a:schemeClr val="accent4">
              <a:lumMod val="20000"/>
              <a:lumOff val="80000"/>
            </a:schemeClr>
          </a:solidFill>
          <a:ln w="190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latin typeface="Copperplate Gothic Light" pitchFamily="34" charset="0"/>
              </a:rPr>
              <a:t>Counselor</a:t>
            </a:r>
          </a:p>
        </p:txBody>
      </p:sp>
      <p:cxnSp>
        <p:nvCxnSpPr>
          <p:cNvPr id="10" name="Straight Arrow Connector 9"/>
          <p:cNvCxnSpPr>
            <a:stCxn id="9" idx="1"/>
          </p:cNvCxnSpPr>
          <p:nvPr/>
        </p:nvCxnSpPr>
        <p:spPr>
          <a:xfrm rot="10800000">
            <a:off x="3329796" y="4364967"/>
            <a:ext cx="1302590" cy="17215"/>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7286446" y="4347713"/>
            <a:ext cx="1357222" cy="22969"/>
          </a:xfrm>
          <a:prstGeom prst="straightConnector1">
            <a:avLst/>
          </a:prstGeom>
          <a:ln w="38100">
            <a:solidFill>
              <a:srgbClr val="FF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 Conversion of ER to Relational Table</a:t>
            </a:r>
            <a:r>
              <a:rPr lang="en-IN" sz="2700" dirty="0">
                <a:solidFill>
                  <a:srgbClr val="FF0000"/>
                </a:solidFill>
                <a:latin typeface="Copperplate Gothic Light" pitchFamily="34" charset="0"/>
              </a:rPr>
              <a:t> </a:t>
            </a:r>
          </a:p>
        </p:txBody>
      </p:sp>
      <p:sp>
        <p:nvSpPr>
          <p:cNvPr id="6" name="Slide Number Placeholder 5">
            <a:extLst>
              <a:ext uri="{FF2B5EF4-FFF2-40B4-BE49-F238E27FC236}">
                <a16:creationId xmlns:a16="http://schemas.microsoft.com/office/drawing/2014/main" id="{E73DA459-337A-0B8C-9C81-2A299F701027}"/>
              </a:ext>
            </a:extLst>
          </p:cNvPr>
          <p:cNvSpPr>
            <a:spLocks noGrp="1"/>
          </p:cNvSpPr>
          <p:nvPr>
            <p:ph type="sldNum" sz="quarter" idx="12"/>
          </p:nvPr>
        </p:nvSpPr>
        <p:spPr/>
        <p:txBody>
          <a:bodyPr/>
          <a:lstStyle/>
          <a:p>
            <a:fld id="{AD7ED525-5088-40CF-8CE0-E4296ADF624B}" type="slidenum">
              <a:rPr lang="en-IN" smtClean="0"/>
              <a:pPr/>
              <a:t>14</a:t>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E7B3975-3A18-7FF2-5C75-29EBA56F7D9E}"/>
              </a:ext>
            </a:extLst>
          </p:cNvPr>
          <p:cNvSpPr>
            <a:spLocks noGrp="1"/>
          </p:cNvSpPr>
          <p:nvPr>
            <p:ph type="sldNum" sz="quarter" idx="12"/>
          </p:nvPr>
        </p:nvSpPr>
        <p:spPr/>
        <p:txBody>
          <a:bodyPr/>
          <a:lstStyle/>
          <a:p>
            <a:fld id="{AD7ED525-5088-40CF-8CE0-E4296ADF624B}" type="slidenum">
              <a:rPr lang="en-IN" smtClean="0"/>
              <a:pPr/>
              <a:t>15</a:t>
            </a:fld>
            <a:endParaRPr lang="en-IN"/>
          </a:p>
        </p:txBody>
      </p:sp>
      <p:pic>
        <p:nvPicPr>
          <p:cNvPr id="5" name="Picture 4">
            <a:extLst>
              <a:ext uri="{FF2B5EF4-FFF2-40B4-BE49-F238E27FC236}">
                <a16:creationId xmlns:a16="http://schemas.microsoft.com/office/drawing/2014/main" id="{041E2BBD-9CB9-FE9B-EF3E-414F34C9B003}"/>
              </a:ext>
            </a:extLst>
          </p:cNvPr>
          <p:cNvPicPr>
            <a:picLocks noChangeAspect="1"/>
          </p:cNvPicPr>
          <p:nvPr/>
        </p:nvPicPr>
        <p:blipFill>
          <a:blip r:embed="rId2"/>
          <a:stretch>
            <a:fillRect/>
          </a:stretch>
        </p:blipFill>
        <p:spPr>
          <a:xfrm>
            <a:off x="2615609" y="1394152"/>
            <a:ext cx="6727644" cy="2817904"/>
          </a:xfrm>
          <a:prstGeom prst="rect">
            <a:avLst/>
          </a:prstGeom>
        </p:spPr>
      </p:pic>
      <p:graphicFrame>
        <p:nvGraphicFramePr>
          <p:cNvPr id="6" name="Table 5">
            <a:extLst>
              <a:ext uri="{FF2B5EF4-FFF2-40B4-BE49-F238E27FC236}">
                <a16:creationId xmlns:a16="http://schemas.microsoft.com/office/drawing/2014/main" id="{709A347C-0A14-5AAA-15CF-142D17487462}"/>
              </a:ext>
            </a:extLst>
          </p:cNvPr>
          <p:cNvGraphicFramePr>
            <a:graphicFrameLocks noGrp="1"/>
          </p:cNvGraphicFramePr>
          <p:nvPr>
            <p:extLst>
              <p:ext uri="{D42A27DB-BD31-4B8C-83A1-F6EECF244321}">
                <p14:modId xmlns:p14="http://schemas.microsoft.com/office/powerpoint/2010/main" val="891200191"/>
              </p:ext>
            </p:extLst>
          </p:nvPr>
        </p:nvGraphicFramePr>
        <p:xfrm>
          <a:off x="2020186" y="4530657"/>
          <a:ext cx="8387316" cy="544697"/>
        </p:xfrm>
        <a:graphic>
          <a:graphicData uri="http://schemas.openxmlformats.org/drawingml/2006/table">
            <a:tbl>
              <a:tblPr/>
              <a:tblGrid>
                <a:gridCol w="2795772">
                  <a:extLst>
                    <a:ext uri="{9D8B030D-6E8A-4147-A177-3AD203B41FA5}">
                      <a16:colId xmlns:a16="http://schemas.microsoft.com/office/drawing/2014/main" val="3972045191"/>
                    </a:ext>
                  </a:extLst>
                </a:gridCol>
                <a:gridCol w="2795772">
                  <a:extLst>
                    <a:ext uri="{9D8B030D-6E8A-4147-A177-3AD203B41FA5}">
                      <a16:colId xmlns:a16="http://schemas.microsoft.com/office/drawing/2014/main" val="4260402156"/>
                    </a:ext>
                  </a:extLst>
                </a:gridCol>
                <a:gridCol w="2795772">
                  <a:extLst>
                    <a:ext uri="{9D8B030D-6E8A-4147-A177-3AD203B41FA5}">
                      <a16:colId xmlns:a16="http://schemas.microsoft.com/office/drawing/2014/main" val="1974691878"/>
                    </a:ext>
                  </a:extLst>
                </a:gridCol>
              </a:tblGrid>
              <a:tr h="544697">
                <a:tc>
                  <a:txBody>
                    <a:bodyPr/>
                    <a:lstStyle/>
                    <a:p>
                      <a:pPr algn="ctr" fontAlgn="ctr"/>
                      <a:r>
                        <a:rPr lang="en-IN" sz="1250" b="0" u="sng">
                          <a:effectLst/>
                        </a:rPr>
                        <a:t>S-Id</a:t>
                      </a:r>
                      <a:endParaRPr lang="en-IN" sz="1250" b="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50" b="0">
                          <a:effectLst/>
                        </a:rPr>
                        <a:t>Other Student Attribute</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50" b="0" dirty="0">
                          <a:effectLst/>
                        </a:rPr>
                        <a:t>E-Id</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27070853"/>
                  </a:ext>
                </a:extLst>
              </a:tr>
            </a:tbl>
          </a:graphicData>
        </a:graphic>
      </p:graphicFrame>
      <p:graphicFrame>
        <p:nvGraphicFramePr>
          <p:cNvPr id="7" name="Table 6">
            <a:extLst>
              <a:ext uri="{FF2B5EF4-FFF2-40B4-BE49-F238E27FC236}">
                <a16:creationId xmlns:a16="http://schemas.microsoft.com/office/drawing/2014/main" id="{866AC9F9-F115-6F61-0763-0E35985981AE}"/>
              </a:ext>
            </a:extLst>
          </p:cNvPr>
          <p:cNvGraphicFramePr>
            <a:graphicFrameLocks noGrp="1"/>
          </p:cNvGraphicFramePr>
          <p:nvPr>
            <p:extLst>
              <p:ext uri="{D42A27DB-BD31-4B8C-83A1-F6EECF244321}">
                <p14:modId xmlns:p14="http://schemas.microsoft.com/office/powerpoint/2010/main" val="1958788568"/>
              </p:ext>
            </p:extLst>
          </p:nvPr>
        </p:nvGraphicFramePr>
        <p:xfrm>
          <a:off x="3512288" y="5620052"/>
          <a:ext cx="5403112" cy="488338"/>
        </p:xfrm>
        <a:graphic>
          <a:graphicData uri="http://schemas.openxmlformats.org/drawingml/2006/table">
            <a:tbl>
              <a:tblPr/>
              <a:tblGrid>
                <a:gridCol w="2701556">
                  <a:extLst>
                    <a:ext uri="{9D8B030D-6E8A-4147-A177-3AD203B41FA5}">
                      <a16:colId xmlns:a16="http://schemas.microsoft.com/office/drawing/2014/main" val="2067799188"/>
                    </a:ext>
                  </a:extLst>
                </a:gridCol>
                <a:gridCol w="2701556">
                  <a:extLst>
                    <a:ext uri="{9D8B030D-6E8A-4147-A177-3AD203B41FA5}">
                      <a16:colId xmlns:a16="http://schemas.microsoft.com/office/drawing/2014/main" val="1858155835"/>
                    </a:ext>
                  </a:extLst>
                </a:gridCol>
              </a:tblGrid>
              <a:tr h="488338">
                <a:tc>
                  <a:txBody>
                    <a:bodyPr/>
                    <a:lstStyle/>
                    <a:p>
                      <a:pPr algn="ctr" fontAlgn="ctr"/>
                      <a:r>
                        <a:rPr lang="en-IN" sz="1250" b="0" u="sng">
                          <a:effectLst/>
                        </a:rPr>
                        <a:t>E-Id</a:t>
                      </a:r>
                      <a:endParaRPr lang="en-IN" sz="1250" b="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50" b="0" dirty="0">
                          <a:effectLst/>
                        </a:rPr>
                        <a:t>Other Elective </a:t>
                      </a:r>
                      <a:r>
                        <a:rPr lang="en-IN" sz="1250" b="0" dirty="0" err="1">
                          <a:effectLst/>
                        </a:rPr>
                        <a:t>CourseAttribute</a:t>
                      </a:r>
                      <a:endParaRPr lang="en-IN" sz="1250" b="0" dirty="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25592917"/>
                  </a:ext>
                </a:extLst>
              </a:tr>
            </a:tbl>
          </a:graphicData>
        </a:graphic>
      </p:graphicFrame>
      <p:sp>
        <p:nvSpPr>
          <p:cNvPr id="11" name="TextBox 10">
            <a:extLst>
              <a:ext uri="{FF2B5EF4-FFF2-40B4-BE49-F238E27FC236}">
                <a16:creationId xmlns:a16="http://schemas.microsoft.com/office/drawing/2014/main" id="{2D47E9D6-0AB6-3817-0BC5-B5AA4A4D02C3}"/>
              </a:ext>
            </a:extLst>
          </p:cNvPr>
          <p:cNvSpPr txBox="1"/>
          <p:nvPr/>
        </p:nvSpPr>
        <p:spPr>
          <a:xfrm>
            <a:off x="805417" y="564944"/>
            <a:ext cx="7147736" cy="400110"/>
          </a:xfrm>
          <a:prstGeom prst="rect">
            <a:avLst/>
          </a:prstGeom>
          <a:noFill/>
        </p:spPr>
        <p:txBody>
          <a:bodyPr wrap="square">
            <a:spAutoFit/>
          </a:bodyPr>
          <a:lstStyle/>
          <a:p>
            <a:pPr marL="228600" lvl="1">
              <a:spcBef>
                <a:spcPts val="1000"/>
              </a:spcBef>
              <a:buClr>
                <a:srgbClr val="C00000"/>
              </a:buClr>
              <a:buFont typeface="Wingdings" pitchFamily="2" charset="2"/>
              <a:buChar char="ü"/>
            </a:pPr>
            <a:r>
              <a:rPr lang="en-US" sz="2000" dirty="0">
                <a:solidFill>
                  <a:srgbClr val="0000FF"/>
                </a:solidFill>
                <a:latin typeface="Bookman Old Style" pitchFamily="18" charset="0"/>
              </a:rPr>
              <a:t>Binary relationship with cardinality ratio 1:m</a:t>
            </a:r>
          </a:p>
        </p:txBody>
      </p:sp>
    </p:spTree>
    <p:extLst>
      <p:ext uri="{BB962C8B-B14F-4D97-AF65-F5344CB8AC3E}">
        <p14:creationId xmlns:p14="http://schemas.microsoft.com/office/powerpoint/2010/main" val="30899908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25724" y="716651"/>
            <a:ext cx="10515600" cy="4351338"/>
          </a:xfrm>
        </p:spPr>
        <p:txBody>
          <a:bodyPr/>
          <a:lstStyle/>
          <a:p>
            <a:pPr marL="457200" lvl="1" indent="-457200">
              <a:spcBef>
                <a:spcPts val="1000"/>
              </a:spcBef>
              <a:buClr>
                <a:srgbClr val="C00000"/>
              </a:buClr>
              <a:buNone/>
            </a:pPr>
            <a:r>
              <a:rPr lang="en-US" dirty="0">
                <a:solidFill>
                  <a:srgbClr val="C00000"/>
                </a:solidFill>
                <a:latin typeface="Copperplate Gothic Light" pitchFamily="34" charset="0"/>
              </a:rPr>
              <a:t>Binary Relationships With Cardinality Ratios</a:t>
            </a:r>
          </a:p>
          <a:p>
            <a:pPr>
              <a:buClr>
                <a:srgbClr val="C00000"/>
              </a:buClr>
              <a:buFont typeface="Wingdings" pitchFamily="2" charset="2"/>
              <a:buChar char="ü"/>
            </a:pPr>
            <a:r>
              <a:rPr lang="en-US" sz="2400" dirty="0">
                <a:solidFill>
                  <a:srgbClr val="0000FF"/>
                </a:solidFill>
                <a:latin typeface="Bookman Old Style" pitchFamily="18" charset="0"/>
              </a:rPr>
              <a:t>Binary relationship with cardinality ratio m:m</a:t>
            </a:r>
          </a:p>
          <a:p>
            <a:pPr>
              <a:buClr>
                <a:srgbClr val="C00000"/>
              </a:buClr>
              <a:buNone/>
            </a:pPr>
            <a:r>
              <a:rPr lang="en-US" sz="2000" dirty="0">
                <a:solidFill>
                  <a:srgbClr val="0000FF"/>
                </a:solidFill>
                <a:latin typeface="Bookman Old Style" pitchFamily="18" charset="0"/>
              </a:rPr>
              <a:t>	We draw an undirected line from the relationship set counselor to both entity sets faculty and student as shown in the below figure, indicates that a faculty may counsel many students, and a student may have many counselor.</a:t>
            </a:r>
          </a:p>
          <a:p>
            <a:pPr>
              <a:buNone/>
            </a:pPr>
            <a:endParaRPr lang="en-US" dirty="0"/>
          </a:p>
        </p:txBody>
      </p:sp>
      <p:graphicFrame>
        <p:nvGraphicFramePr>
          <p:cNvPr id="7" name="Table 6"/>
          <p:cNvGraphicFramePr>
            <a:graphicFrameLocks noGrp="1"/>
          </p:cNvGraphicFramePr>
          <p:nvPr/>
        </p:nvGraphicFramePr>
        <p:xfrm>
          <a:off x="988203" y="3204016"/>
          <a:ext cx="2376099" cy="2169160"/>
        </p:xfrm>
        <a:graphic>
          <a:graphicData uri="http://schemas.openxmlformats.org/drawingml/2006/table">
            <a:tbl>
              <a:tblPr firstRow="1" bandRow="1">
                <a:tableStyleId>{5940675A-B579-460E-94D1-54222C63F5DA}</a:tableStyleId>
              </a:tblPr>
              <a:tblGrid>
                <a:gridCol w="2376099">
                  <a:extLst>
                    <a:ext uri="{9D8B030D-6E8A-4147-A177-3AD203B41FA5}">
                      <a16:colId xmlns:a16="http://schemas.microsoft.com/office/drawing/2014/main" val="20000"/>
                    </a:ext>
                  </a:extLst>
                </a:gridCol>
              </a:tblGrid>
              <a:tr h="370840">
                <a:tc>
                  <a:txBody>
                    <a:bodyPr/>
                    <a:lstStyle/>
                    <a:p>
                      <a:r>
                        <a:rPr lang="en-US" dirty="0">
                          <a:solidFill>
                            <a:srgbClr val="C00000"/>
                          </a:solidFill>
                          <a:latin typeface="Copperplate Gothic Light" pitchFamily="34" charset="0"/>
                        </a:rPr>
                        <a:t>FACULTY</a:t>
                      </a:r>
                    </a:p>
                  </a:txBody>
                  <a:tcPr>
                    <a:solidFill>
                      <a:schemeClr val="accent1">
                        <a:lumMod val="20000"/>
                        <a:lumOff val="80000"/>
                      </a:schemeClr>
                    </a:solidFill>
                  </a:tcPr>
                </a:tc>
                <a:extLst>
                  <a:ext uri="{0D108BD9-81ED-4DB2-BD59-A6C34878D82A}">
                    <a16:rowId xmlns:a16="http://schemas.microsoft.com/office/drawing/2014/main" val="10000"/>
                  </a:ext>
                </a:extLst>
              </a:tr>
              <a:tr h="370840">
                <a:tc>
                  <a:txBody>
                    <a:bodyPr/>
                    <a:lstStyle/>
                    <a:p>
                      <a:r>
                        <a:rPr lang="en-US" sz="1600" u="sng" dirty="0" err="1">
                          <a:solidFill>
                            <a:srgbClr val="0000FF"/>
                          </a:solidFill>
                          <a:latin typeface="Bookman Old Style" pitchFamily="18" charset="0"/>
                        </a:rPr>
                        <a:t>Faculty_ID</a:t>
                      </a:r>
                      <a:endParaRPr lang="en-US" sz="1600" u="sng" dirty="0">
                        <a:solidFill>
                          <a:srgbClr val="0000FF"/>
                        </a:solidFill>
                        <a:latin typeface="Bookman Old Style" pitchFamily="18" charset="0"/>
                      </a:endParaRPr>
                    </a:p>
                    <a:p>
                      <a:r>
                        <a:rPr lang="en-US" sz="1600" dirty="0" err="1">
                          <a:solidFill>
                            <a:srgbClr val="0000FF"/>
                          </a:solidFill>
                          <a:latin typeface="Bookman Old Style" pitchFamily="18" charset="0"/>
                        </a:rPr>
                        <a:t>Faculty_Name</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Faculty_Designation</a:t>
                      </a:r>
                      <a:r>
                        <a:rPr lang="en-US" sz="1600" baseline="0" dirty="0">
                          <a:solidFill>
                            <a:srgbClr val="0000FF"/>
                          </a:solidFill>
                          <a:latin typeface="Bookman Old Style" pitchFamily="18" charset="0"/>
                        </a:rPr>
                        <a:t> </a:t>
                      </a:r>
                      <a:endParaRPr lang="en-US" sz="1600" dirty="0">
                        <a:solidFill>
                          <a:srgbClr val="0000FF"/>
                        </a:solidFill>
                        <a:latin typeface="Bookman Old Style" pitchFamily="18" charset="0"/>
                      </a:endParaRPr>
                    </a:p>
                    <a:p>
                      <a:r>
                        <a:rPr lang="en-US" sz="1600" dirty="0">
                          <a:solidFill>
                            <a:srgbClr val="0000FF"/>
                          </a:solidFill>
                          <a:latin typeface="Bookman Old Style" pitchFamily="18" charset="0"/>
                        </a:rPr>
                        <a:t>Faculty</a:t>
                      </a:r>
                      <a:r>
                        <a:rPr lang="en-US" sz="1600" baseline="0" dirty="0">
                          <a:solidFill>
                            <a:srgbClr val="0000FF"/>
                          </a:solidFill>
                          <a:latin typeface="Bookman Old Style" pitchFamily="18" charset="0"/>
                        </a:rPr>
                        <a:t> _Sal</a:t>
                      </a:r>
                    </a:p>
                    <a:p>
                      <a:r>
                        <a:rPr lang="en-US" sz="1600" baseline="0" dirty="0" err="1">
                          <a:solidFill>
                            <a:srgbClr val="0000FF"/>
                          </a:solidFill>
                          <a:latin typeface="Bookman Old Style" pitchFamily="18" charset="0"/>
                        </a:rPr>
                        <a:t>Faculty_DOB</a:t>
                      </a:r>
                      <a:endParaRPr lang="en-US" sz="1600" baseline="0" dirty="0">
                        <a:solidFill>
                          <a:srgbClr val="0000FF"/>
                        </a:solidFill>
                        <a:latin typeface="Bookman Old Style" pitchFamily="18" charset="0"/>
                      </a:endParaRPr>
                    </a:p>
                    <a:p>
                      <a:r>
                        <a:rPr lang="en-US" sz="1600" baseline="0" dirty="0" err="1">
                          <a:solidFill>
                            <a:srgbClr val="0000FF"/>
                          </a:solidFill>
                          <a:latin typeface="Bookman Old Style" pitchFamily="18" charset="0"/>
                        </a:rPr>
                        <a:t>Faculty_MobileNo</a:t>
                      </a:r>
                      <a:endParaRPr lang="en-US" sz="1600" baseline="0" dirty="0">
                        <a:solidFill>
                          <a:srgbClr val="0000FF"/>
                        </a:solidFill>
                        <a:latin typeface="Bookman Old Style" pitchFamily="18" charset="0"/>
                      </a:endParaRPr>
                    </a:p>
                    <a:p>
                      <a:r>
                        <a:rPr lang="en-US" sz="1600" baseline="0" dirty="0" err="1">
                          <a:solidFill>
                            <a:srgbClr val="0000FF"/>
                          </a:solidFill>
                          <a:latin typeface="Bookman Old Style" pitchFamily="18" charset="0"/>
                        </a:rPr>
                        <a:t>Dept_ID</a:t>
                      </a:r>
                      <a:endParaRPr lang="en-US" sz="1600" dirty="0">
                        <a:solidFill>
                          <a:srgbClr val="0000FF"/>
                        </a:solidFill>
                        <a:latin typeface="Bookman Old Style" pitchFamily="18" charset="0"/>
                      </a:endParaRPr>
                    </a:p>
                  </a:txBody>
                  <a:tcPr>
                    <a:solidFill>
                      <a:schemeClr val="accent1">
                        <a:lumMod val="20000"/>
                        <a:lumOff val="80000"/>
                      </a:schemeClr>
                    </a:solidFill>
                  </a:tcPr>
                </a:tc>
                <a:extLst>
                  <a:ext uri="{0D108BD9-81ED-4DB2-BD59-A6C34878D82A}">
                    <a16:rowId xmlns:a16="http://schemas.microsoft.com/office/drawing/2014/main" val="10001"/>
                  </a:ext>
                </a:extLst>
              </a:tr>
            </a:tbl>
          </a:graphicData>
        </a:graphic>
      </p:graphicFrame>
      <p:graphicFrame>
        <p:nvGraphicFramePr>
          <p:cNvPr id="8" name="Table 7"/>
          <p:cNvGraphicFramePr>
            <a:graphicFrameLocks noGrp="1"/>
          </p:cNvGraphicFramePr>
          <p:nvPr/>
        </p:nvGraphicFramePr>
        <p:xfrm>
          <a:off x="8645582" y="3468550"/>
          <a:ext cx="2275457" cy="1681480"/>
        </p:xfrm>
        <a:graphic>
          <a:graphicData uri="http://schemas.openxmlformats.org/drawingml/2006/table">
            <a:tbl>
              <a:tblPr firstRow="1" bandRow="1">
                <a:tableStyleId>{5940675A-B579-460E-94D1-54222C63F5DA}</a:tableStyleId>
              </a:tblPr>
              <a:tblGrid>
                <a:gridCol w="2275457">
                  <a:extLst>
                    <a:ext uri="{9D8B030D-6E8A-4147-A177-3AD203B41FA5}">
                      <a16:colId xmlns:a16="http://schemas.microsoft.com/office/drawing/2014/main" val="20000"/>
                    </a:ext>
                  </a:extLst>
                </a:gridCol>
              </a:tblGrid>
              <a:tr h="370840">
                <a:tc>
                  <a:txBody>
                    <a:bodyPr/>
                    <a:lstStyle/>
                    <a:p>
                      <a:r>
                        <a:rPr lang="en-US" sz="1800" dirty="0">
                          <a:solidFill>
                            <a:srgbClr val="C00000"/>
                          </a:solidFill>
                          <a:latin typeface="Copperplate Gothic Light" pitchFamily="34" charset="0"/>
                        </a:rPr>
                        <a:t>Student</a:t>
                      </a:r>
                    </a:p>
                  </a:txBody>
                  <a:tcPr>
                    <a:solidFill>
                      <a:schemeClr val="accent2">
                        <a:lumMod val="20000"/>
                        <a:lumOff val="80000"/>
                      </a:schemeClr>
                    </a:solidFill>
                  </a:tcPr>
                </a:tc>
                <a:extLst>
                  <a:ext uri="{0D108BD9-81ED-4DB2-BD59-A6C34878D82A}">
                    <a16:rowId xmlns:a16="http://schemas.microsoft.com/office/drawing/2014/main" val="10000"/>
                  </a:ext>
                </a:extLst>
              </a:tr>
              <a:tr h="370840">
                <a:tc>
                  <a:txBody>
                    <a:bodyPr/>
                    <a:lstStyle/>
                    <a:p>
                      <a:r>
                        <a:rPr lang="en-US" sz="1600" u="sng" dirty="0" err="1">
                          <a:solidFill>
                            <a:srgbClr val="0000FF"/>
                          </a:solidFill>
                          <a:latin typeface="Bookman Old Style" pitchFamily="18" charset="0"/>
                        </a:rPr>
                        <a:t>Student_RegNo</a:t>
                      </a:r>
                      <a:endParaRPr lang="en-US" sz="1600" u="sng" dirty="0">
                        <a:solidFill>
                          <a:srgbClr val="0000FF"/>
                        </a:solidFill>
                        <a:latin typeface="Bookman Old Style" pitchFamily="18" charset="0"/>
                      </a:endParaRPr>
                    </a:p>
                    <a:p>
                      <a:r>
                        <a:rPr lang="en-US" sz="1600" dirty="0" err="1">
                          <a:solidFill>
                            <a:srgbClr val="0000FF"/>
                          </a:solidFill>
                          <a:latin typeface="Bookman Old Style" pitchFamily="18" charset="0"/>
                        </a:rPr>
                        <a:t>Student_Name</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Student_DOB</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Student_Location</a:t>
                      </a:r>
                      <a:endParaRPr lang="en-US" sz="1600" dirty="0">
                        <a:solidFill>
                          <a:srgbClr val="0000FF"/>
                        </a:solidFill>
                        <a:latin typeface="Bookman Old Style" pitchFamily="18" charset="0"/>
                      </a:endParaRPr>
                    </a:p>
                    <a:p>
                      <a:r>
                        <a:rPr lang="en-US" sz="1600" dirty="0" err="1">
                          <a:solidFill>
                            <a:srgbClr val="0000FF"/>
                          </a:solidFill>
                          <a:latin typeface="Bookman Old Style" pitchFamily="18" charset="0"/>
                        </a:rPr>
                        <a:t>Dept_ID</a:t>
                      </a:r>
                      <a:endParaRPr lang="en-US" sz="1600" dirty="0">
                        <a:solidFill>
                          <a:srgbClr val="0000FF"/>
                        </a:solidFill>
                        <a:latin typeface="Bookman Old Style" pitchFamily="18" charset="0"/>
                      </a:endParaRPr>
                    </a:p>
                  </a:txBody>
                  <a:tcPr>
                    <a:solidFill>
                      <a:schemeClr val="accent2">
                        <a:lumMod val="20000"/>
                        <a:lumOff val="80000"/>
                      </a:schemeClr>
                    </a:solidFill>
                  </a:tcPr>
                </a:tc>
                <a:extLst>
                  <a:ext uri="{0D108BD9-81ED-4DB2-BD59-A6C34878D82A}">
                    <a16:rowId xmlns:a16="http://schemas.microsoft.com/office/drawing/2014/main" val="10001"/>
                  </a:ext>
                </a:extLst>
              </a:tr>
            </a:tbl>
          </a:graphicData>
        </a:graphic>
      </p:graphicFrame>
      <p:sp>
        <p:nvSpPr>
          <p:cNvPr id="9" name="Diamond 8"/>
          <p:cNvSpPr/>
          <p:nvPr/>
        </p:nvSpPr>
        <p:spPr>
          <a:xfrm>
            <a:off x="4632386" y="3165857"/>
            <a:ext cx="2665563" cy="2432648"/>
          </a:xfrm>
          <a:prstGeom prst="diamond">
            <a:avLst/>
          </a:prstGeom>
          <a:solidFill>
            <a:schemeClr val="accent4">
              <a:lumMod val="20000"/>
              <a:lumOff val="80000"/>
            </a:schemeClr>
          </a:solidFill>
          <a:ln w="19050">
            <a:solidFill>
              <a:srgbClr val="FF0000"/>
            </a:solidFill>
            <a:headEnd type="none" w="med" len="med"/>
            <a:tailEnd type="triangl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rgbClr val="FF0000"/>
                </a:solidFill>
                <a:latin typeface="Copperplate Gothic Light" pitchFamily="34" charset="0"/>
              </a:rPr>
              <a:t>Counselor</a:t>
            </a:r>
          </a:p>
        </p:txBody>
      </p:sp>
      <p:cxnSp>
        <p:nvCxnSpPr>
          <p:cNvPr id="10" name="Straight Arrow Connector 9"/>
          <p:cNvCxnSpPr>
            <a:stCxn id="9" idx="1"/>
          </p:cNvCxnSpPr>
          <p:nvPr/>
        </p:nvCxnSpPr>
        <p:spPr>
          <a:xfrm rot="10800000">
            <a:off x="3329796" y="4364967"/>
            <a:ext cx="1302590" cy="17215"/>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7286446" y="4347713"/>
            <a:ext cx="1357222" cy="22969"/>
          </a:xfrm>
          <a:prstGeom prst="straightConnector1">
            <a:avLst/>
          </a:prstGeom>
          <a:ln w="3810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Rectangle 11"/>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 Conversion of ER to Relational Table</a:t>
            </a:r>
            <a:r>
              <a:rPr lang="en-IN" sz="2700" dirty="0">
                <a:solidFill>
                  <a:srgbClr val="FF0000"/>
                </a:solidFill>
                <a:latin typeface="Copperplate Gothic Light" pitchFamily="34" charset="0"/>
              </a:rPr>
              <a:t> </a:t>
            </a:r>
          </a:p>
        </p:txBody>
      </p:sp>
      <p:sp>
        <p:nvSpPr>
          <p:cNvPr id="6" name="Slide Number Placeholder 5">
            <a:extLst>
              <a:ext uri="{FF2B5EF4-FFF2-40B4-BE49-F238E27FC236}">
                <a16:creationId xmlns:a16="http://schemas.microsoft.com/office/drawing/2014/main" id="{ABC1D283-F422-FD08-FEFD-727578893A52}"/>
              </a:ext>
            </a:extLst>
          </p:cNvPr>
          <p:cNvSpPr>
            <a:spLocks noGrp="1"/>
          </p:cNvSpPr>
          <p:nvPr>
            <p:ph type="sldNum" sz="quarter" idx="12"/>
          </p:nvPr>
        </p:nvSpPr>
        <p:spPr/>
        <p:txBody>
          <a:bodyPr/>
          <a:lstStyle/>
          <a:p>
            <a:fld id="{AD7ED525-5088-40CF-8CE0-E4296ADF624B}" type="slidenum">
              <a:rPr lang="en-IN" smtClean="0"/>
              <a:pPr/>
              <a:t>16</a:t>
            </a:fld>
            <a:endParaRPr lang="en-I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2F92A82-A9E0-7F1F-63CA-19F8C7ED78C1}"/>
              </a:ext>
            </a:extLst>
          </p:cNvPr>
          <p:cNvSpPr>
            <a:spLocks noGrp="1"/>
          </p:cNvSpPr>
          <p:nvPr>
            <p:ph type="sldNum" sz="quarter" idx="12"/>
          </p:nvPr>
        </p:nvSpPr>
        <p:spPr/>
        <p:txBody>
          <a:bodyPr/>
          <a:lstStyle/>
          <a:p>
            <a:fld id="{AD7ED525-5088-40CF-8CE0-E4296ADF624B}" type="slidenum">
              <a:rPr lang="en-IN" smtClean="0"/>
              <a:pPr/>
              <a:t>17</a:t>
            </a:fld>
            <a:endParaRPr lang="en-IN"/>
          </a:p>
        </p:txBody>
      </p:sp>
      <p:pic>
        <p:nvPicPr>
          <p:cNvPr id="5" name="Picture 4">
            <a:extLst>
              <a:ext uri="{FF2B5EF4-FFF2-40B4-BE49-F238E27FC236}">
                <a16:creationId xmlns:a16="http://schemas.microsoft.com/office/drawing/2014/main" id="{82B7B57B-8DC7-B04E-F73B-E35F89EB81AA}"/>
              </a:ext>
            </a:extLst>
          </p:cNvPr>
          <p:cNvPicPr>
            <a:picLocks noChangeAspect="1"/>
          </p:cNvPicPr>
          <p:nvPr/>
        </p:nvPicPr>
        <p:blipFill>
          <a:blip r:embed="rId2"/>
          <a:stretch>
            <a:fillRect/>
          </a:stretch>
        </p:blipFill>
        <p:spPr>
          <a:xfrm>
            <a:off x="3062176" y="222083"/>
            <a:ext cx="6604907" cy="2935515"/>
          </a:xfrm>
          <a:prstGeom prst="rect">
            <a:avLst/>
          </a:prstGeom>
        </p:spPr>
      </p:pic>
      <p:graphicFrame>
        <p:nvGraphicFramePr>
          <p:cNvPr id="9" name="Table 8">
            <a:extLst>
              <a:ext uri="{FF2B5EF4-FFF2-40B4-BE49-F238E27FC236}">
                <a16:creationId xmlns:a16="http://schemas.microsoft.com/office/drawing/2014/main" id="{EC71ACE7-7591-A87A-2ABD-C52C37C49F22}"/>
              </a:ext>
            </a:extLst>
          </p:cNvPr>
          <p:cNvGraphicFramePr>
            <a:graphicFrameLocks noGrp="1"/>
          </p:cNvGraphicFramePr>
          <p:nvPr>
            <p:extLst>
              <p:ext uri="{D42A27DB-BD31-4B8C-83A1-F6EECF244321}">
                <p14:modId xmlns:p14="http://schemas.microsoft.com/office/powerpoint/2010/main" val="189071789"/>
              </p:ext>
            </p:extLst>
          </p:nvPr>
        </p:nvGraphicFramePr>
        <p:xfrm>
          <a:off x="976423" y="3193545"/>
          <a:ext cx="10515600" cy="3068320"/>
        </p:xfrm>
        <a:graphic>
          <a:graphicData uri="http://schemas.openxmlformats.org/drawingml/2006/table">
            <a:tbl>
              <a:tblPr/>
              <a:tblGrid>
                <a:gridCol w="1314450">
                  <a:extLst>
                    <a:ext uri="{9D8B030D-6E8A-4147-A177-3AD203B41FA5}">
                      <a16:colId xmlns:a16="http://schemas.microsoft.com/office/drawing/2014/main" val="2579784856"/>
                    </a:ext>
                  </a:extLst>
                </a:gridCol>
                <a:gridCol w="1314450">
                  <a:extLst>
                    <a:ext uri="{9D8B030D-6E8A-4147-A177-3AD203B41FA5}">
                      <a16:colId xmlns:a16="http://schemas.microsoft.com/office/drawing/2014/main" val="1234545865"/>
                    </a:ext>
                  </a:extLst>
                </a:gridCol>
                <a:gridCol w="1314450">
                  <a:extLst>
                    <a:ext uri="{9D8B030D-6E8A-4147-A177-3AD203B41FA5}">
                      <a16:colId xmlns:a16="http://schemas.microsoft.com/office/drawing/2014/main" val="2526183146"/>
                    </a:ext>
                  </a:extLst>
                </a:gridCol>
                <a:gridCol w="1314450">
                  <a:extLst>
                    <a:ext uri="{9D8B030D-6E8A-4147-A177-3AD203B41FA5}">
                      <a16:colId xmlns:a16="http://schemas.microsoft.com/office/drawing/2014/main" val="3599349758"/>
                    </a:ext>
                  </a:extLst>
                </a:gridCol>
                <a:gridCol w="1314450">
                  <a:extLst>
                    <a:ext uri="{9D8B030D-6E8A-4147-A177-3AD203B41FA5}">
                      <a16:colId xmlns:a16="http://schemas.microsoft.com/office/drawing/2014/main" val="683147053"/>
                    </a:ext>
                  </a:extLst>
                </a:gridCol>
                <a:gridCol w="1314450">
                  <a:extLst>
                    <a:ext uri="{9D8B030D-6E8A-4147-A177-3AD203B41FA5}">
                      <a16:colId xmlns:a16="http://schemas.microsoft.com/office/drawing/2014/main" val="2052001209"/>
                    </a:ext>
                  </a:extLst>
                </a:gridCol>
                <a:gridCol w="1314450">
                  <a:extLst>
                    <a:ext uri="{9D8B030D-6E8A-4147-A177-3AD203B41FA5}">
                      <a16:colId xmlns:a16="http://schemas.microsoft.com/office/drawing/2014/main" val="3964511701"/>
                    </a:ext>
                  </a:extLst>
                </a:gridCol>
                <a:gridCol w="1314450">
                  <a:extLst>
                    <a:ext uri="{9D8B030D-6E8A-4147-A177-3AD203B41FA5}">
                      <a16:colId xmlns:a16="http://schemas.microsoft.com/office/drawing/2014/main" val="638236107"/>
                    </a:ext>
                  </a:extLst>
                </a:gridCol>
              </a:tblGrid>
              <a:tr h="0">
                <a:tc gridSpan="2">
                  <a:txBody>
                    <a:bodyPr/>
                    <a:lstStyle/>
                    <a:p>
                      <a:pPr algn="ctr" fontAlgn="ctr"/>
                      <a:r>
                        <a:rPr lang="en-IN" sz="1200" b="1" dirty="0">
                          <a:effectLst/>
                        </a:rPr>
                        <a:t>Student</a:t>
                      </a:r>
                      <a:endParaRPr lang="en-IN" sz="1200" b="0" dirty="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IN"/>
                    </a:p>
                  </a:txBody>
                  <a:tcPr/>
                </a:tc>
                <a:tc rowSpan="4">
                  <a:txBody>
                    <a:bodyPr/>
                    <a:lstStyle/>
                    <a:p>
                      <a:pPr algn="ctr" fontAlgn="ctr"/>
                      <a:r>
                        <a:rPr lang="en-IN" sz="1200" b="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pPr algn="ctr" fontAlgn="ctr"/>
                      <a:r>
                        <a:rPr lang="en-IN" sz="1200" b="1" dirty="0" err="1">
                          <a:effectLst/>
                        </a:rPr>
                        <a:t>Enrolls</a:t>
                      </a:r>
                      <a:endParaRPr lang="en-IN" sz="1200" b="0" dirty="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IN"/>
                    </a:p>
                  </a:txBody>
                  <a:tcPr/>
                </a:tc>
                <a:tc rowSpan="4">
                  <a:txBody>
                    <a:bodyPr/>
                    <a:lstStyle/>
                    <a:p>
                      <a:pPr algn="ctr" fontAlgn="ctr"/>
                      <a:r>
                        <a:rPr lang="en-IN" sz="1200" b="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gridSpan="2">
                  <a:txBody>
                    <a:bodyPr/>
                    <a:lstStyle/>
                    <a:p>
                      <a:pPr algn="ctr" fontAlgn="ctr"/>
                      <a:r>
                        <a:rPr lang="en-IN" sz="1200" b="1">
                          <a:effectLst/>
                        </a:rPr>
                        <a:t>Compulsory_Courses</a:t>
                      </a:r>
                      <a:endParaRPr lang="en-IN" sz="1200" b="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947459249"/>
                  </a:ext>
                </a:extLst>
              </a:tr>
              <a:tr h="0">
                <a:tc>
                  <a:txBody>
                    <a:bodyPr/>
                    <a:lstStyle/>
                    <a:p>
                      <a:pPr algn="ctr" fontAlgn="ctr"/>
                      <a:r>
                        <a:rPr lang="en-IN" sz="1200" b="0" u="sng">
                          <a:effectLst/>
                        </a:rPr>
                        <a:t>S-Id</a:t>
                      </a:r>
                      <a:endParaRPr lang="en-IN" sz="1200" b="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Other Student Attribute</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vMerge="1">
                  <a:txBody>
                    <a:bodyPr/>
                    <a:lstStyle/>
                    <a:p>
                      <a:endParaRPr lang="en-IN"/>
                    </a:p>
                  </a:txBody>
                  <a:tcPr/>
                </a:tc>
                <a:tc>
                  <a:txBody>
                    <a:bodyPr/>
                    <a:lstStyle/>
                    <a:p>
                      <a:pPr algn="ctr" fontAlgn="ctr"/>
                      <a:r>
                        <a:rPr lang="en-IN" sz="1200" b="0" u="sng">
                          <a:effectLst/>
                        </a:rPr>
                        <a:t>S-Id</a:t>
                      </a:r>
                      <a:endParaRPr lang="en-IN" sz="1200" b="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u="sng" dirty="0">
                          <a:effectLst/>
                        </a:rPr>
                        <a:t>C-Id</a:t>
                      </a:r>
                      <a:endParaRPr lang="en-IN" sz="1200" b="0" dirty="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vMerge="1">
                  <a:txBody>
                    <a:bodyPr/>
                    <a:lstStyle/>
                    <a:p>
                      <a:endParaRPr lang="en-IN"/>
                    </a:p>
                  </a:txBody>
                  <a:tcPr/>
                </a:tc>
                <a:tc>
                  <a:txBody>
                    <a:bodyPr/>
                    <a:lstStyle/>
                    <a:p>
                      <a:pPr algn="ctr" fontAlgn="ctr"/>
                      <a:r>
                        <a:rPr lang="en-IN" sz="1200" b="0" u="sng">
                          <a:effectLst/>
                        </a:rPr>
                        <a:t>C-Id</a:t>
                      </a:r>
                      <a:endParaRPr lang="en-IN" sz="1200" b="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Other Compulsory </a:t>
                      </a:r>
                      <a:r>
                        <a:rPr lang="en-IN" sz="1200" b="0" dirty="0" err="1">
                          <a:effectLst/>
                        </a:rPr>
                        <a:t>CourseAttribute</a:t>
                      </a:r>
                      <a:endParaRPr lang="en-IN" sz="1200" b="0" dirty="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887709300"/>
                  </a:ext>
                </a:extLst>
              </a:tr>
              <a:tr h="0">
                <a:tc>
                  <a:txBody>
                    <a:bodyPr/>
                    <a:lstStyle/>
                    <a:p>
                      <a:pPr algn="ctr" fontAlgn="ctr"/>
                      <a:r>
                        <a:rPr lang="en-IN" sz="1200" b="0">
                          <a:effectLst/>
                        </a:rPr>
                        <a:t>S1</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vMerge="1">
                  <a:txBody>
                    <a:bodyPr/>
                    <a:lstStyle/>
                    <a:p>
                      <a:endParaRPr lang="en-IN"/>
                    </a:p>
                  </a:txBody>
                  <a:tcPr/>
                </a:tc>
                <a:tc>
                  <a:txBody>
                    <a:bodyPr/>
                    <a:lstStyle/>
                    <a:p>
                      <a:pPr algn="ctr" fontAlgn="ctr"/>
                      <a:r>
                        <a:rPr lang="en-IN" sz="1200" b="0" dirty="0">
                          <a:effectLst/>
                        </a:rPr>
                        <a:t>S1</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C1</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vMerge="1">
                  <a:txBody>
                    <a:bodyPr/>
                    <a:lstStyle/>
                    <a:p>
                      <a:endParaRPr lang="en-IN"/>
                    </a:p>
                  </a:txBody>
                  <a:tcPr/>
                </a:tc>
                <a:tc>
                  <a:txBody>
                    <a:bodyPr/>
                    <a:lstStyle/>
                    <a:p>
                      <a:pPr algn="ctr" fontAlgn="ctr"/>
                      <a:r>
                        <a:rPr lang="en-IN" sz="1200" b="0">
                          <a:effectLst/>
                        </a:rPr>
                        <a:t>C1</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148783753"/>
                  </a:ext>
                </a:extLst>
              </a:tr>
              <a:tr h="0">
                <a:tc>
                  <a:txBody>
                    <a:bodyPr/>
                    <a:lstStyle/>
                    <a:p>
                      <a:pPr algn="ctr" fontAlgn="ctr"/>
                      <a:r>
                        <a:rPr lang="en-IN" sz="1200" b="0">
                          <a:effectLst/>
                        </a:rPr>
                        <a:t>S2</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vMerge="1">
                  <a:txBody>
                    <a:bodyPr/>
                    <a:lstStyle/>
                    <a:p>
                      <a:endParaRPr lang="en-IN"/>
                    </a:p>
                  </a:txBody>
                  <a:tcPr/>
                </a:tc>
                <a:tc>
                  <a:txBody>
                    <a:bodyPr/>
                    <a:lstStyle/>
                    <a:p>
                      <a:pPr algn="ctr" fontAlgn="ctr"/>
                      <a:r>
                        <a:rPr lang="en-IN" sz="1200" b="0" dirty="0">
                          <a:effectLst/>
                        </a:rPr>
                        <a:t>S1</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C2</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vMerge="1">
                  <a:txBody>
                    <a:bodyPr/>
                    <a:lstStyle/>
                    <a:p>
                      <a:endParaRPr lang="en-IN"/>
                    </a:p>
                  </a:txBody>
                  <a:tcPr/>
                </a:tc>
                <a:tc>
                  <a:txBody>
                    <a:bodyPr/>
                    <a:lstStyle/>
                    <a:p>
                      <a:pPr algn="ctr" fontAlgn="ctr"/>
                      <a:r>
                        <a:rPr lang="en-IN" sz="1200" b="0" dirty="0">
                          <a:effectLst/>
                        </a:rPr>
                        <a:t>C2</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300049114"/>
                  </a:ext>
                </a:extLst>
              </a:tr>
              <a:tr h="0">
                <a:tc>
                  <a:txBody>
                    <a:bodyPr/>
                    <a:lstStyle/>
                    <a:p>
                      <a:pPr algn="ctr" fontAlgn="ctr"/>
                      <a:r>
                        <a:rPr lang="en-IN" sz="1200" b="0">
                          <a:effectLst/>
                        </a:rPr>
                        <a:t>S3</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S3</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C1</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C3</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53231313"/>
                  </a:ext>
                </a:extLst>
              </a:tr>
              <a:tr h="0">
                <a:tc>
                  <a:txBody>
                    <a:bodyPr/>
                    <a:lstStyle/>
                    <a:p>
                      <a:pPr algn="ctr" fontAlgn="ctr"/>
                      <a:r>
                        <a:rPr lang="en-IN" sz="1200" b="0">
                          <a:effectLst/>
                        </a:rPr>
                        <a:t>S4</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S4</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C3</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C4</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72609713"/>
                  </a:ext>
                </a:extLst>
              </a:tr>
              <a:tr h="0">
                <a:tc>
                  <a:txBody>
                    <a:bodyPr/>
                    <a:lstStyle/>
                    <a:p>
                      <a:pPr algn="ctr" fontAlgn="ctr"/>
                      <a:r>
                        <a:rPr lang="en-IN" sz="1200" b="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S4</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C2</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34487671"/>
                  </a:ext>
                </a:extLst>
              </a:tr>
              <a:tr h="0">
                <a:tc>
                  <a:txBody>
                    <a:bodyPr/>
                    <a:lstStyle/>
                    <a:p>
                      <a:pPr algn="ctr" fontAlgn="ctr"/>
                      <a:r>
                        <a:rPr lang="en-IN" sz="1200" b="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a:effectLst/>
                        </a:rPr>
                        <a:t>S3</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C3</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1200" b="0" dirty="0">
                          <a:effectLst/>
                        </a:rPr>
                        <a:t> </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31375463"/>
                  </a:ext>
                </a:extLst>
              </a:tr>
            </a:tbl>
          </a:graphicData>
        </a:graphic>
      </p:graphicFrame>
      <p:sp>
        <p:nvSpPr>
          <p:cNvPr id="11" name="TextBox 10">
            <a:extLst>
              <a:ext uri="{FF2B5EF4-FFF2-40B4-BE49-F238E27FC236}">
                <a16:creationId xmlns:a16="http://schemas.microsoft.com/office/drawing/2014/main" id="{048A0417-CA2F-9E97-5195-EF81CA008A9E}"/>
              </a:ext>
            </a:extLst>
          </p:cNvPr>
          <p:cNvSpPr txBox="1"/>
          <p:nvPr/>
        </p:nvSpPr>
        <p:spPr>
          <a:xfrm>
            <a:off x="266856" y="9525"/>
            <a:ext cx="7771357" cy="461665"/>
          </a:xfrm>
          <a:prstGeom prst="rect">
            <a:avLst/>
          </a:prstGeom>
          <a:noFill/>
        </p:spPr>
        <p:txBody>
          <a:bodyPr wrap="square">
            <a:spAutoFit/>
          </a:bodyPr>
          <a:lstStyle/>
          <a:p>
            <a:pPr>
              <a:buClr>
                <a:srgbClr val="C00000"/>
              </a:buClr>
              <a:buFont typeface="Wingdings" pitchFamily="2" charset="2"/>
              <a:buChar char="ü"/>
            </a:pPr>
            <a:r>
              <a:rPr lang="en-US" sz="2400" dirty="0">
                <a:solidFill>
                  <a:srgbClr val="0000FF"/>
                </a:solidFill>
                <a:latin typeface="Bookman Old Style" pitchFamily="18" charset="0"/>
              </a:rPr>
              <a:t>Binary relationship with cardinality ratio m:m</a:t>
            </a:r>
          </a:p>
        </p:txBody>
      </p:sp>
    </p:spTree>
    <p:extLst>
      <p:ext uri="{BB962C8B-B14F-4D97-AF65-F5344CB8AC3E}">
        <p14:creationId xmlns:p14="http://schemas.microsoft.com/office/powerpoint/2010/main" val="33975110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0" y="777036"/>
            <a:ext cx="11464506" cy="4351338"/>
          </a:xfrm>
        </p:spPr>
        <p:txBody>
          <a:bodyPr>
            <a:normAutofit/>
          </a:bodyPr>
          <a:lstStyle/>
          <a:p>
            <a:pPr marL="228600" lvl="1">
              <a:spcBef>
                <a:spcPts val="1000"/>
              </a:spcBef>
              <a:buNone/>
            </a:pPr>
            <a:r>
              <a:rPr lang="en-US" dirty="0">
                <a:solidFill>
                  <a:srgbClr val="C00000"/>
                </a:solidFill>
                <a:latin typeface="Copperplate Gothic Light" pitchFamily="34" charset="0"/>
              </a:rPr>
              <a:t>	Binary Relationship With Both Cardinality Constraints and Participation Constraints</a:t>
            </a:r>
          </a:p>
          <a:p>
            <a:pPr marL="228600" lvl="1">
              <a:spcBef>
                <a:spcPts val="1000"/>
              </a:spcBef>
              <a:buClr>
                <a:srgbClr val="C00000"/>
              </a:buClr>
              <a:buFont typeface="Wingdings" pitchFamily="2" charset="2"/>
              <a:buChar char="ü"/>
            </a:pPr>
            <a:r>
              <a:rPr lang="en-US" sz="1900" dirty="0">
                <a:solidFill>
                  <a:srgbClr val="0000FF"/>
                </a:solidFill>
                <a:latin typeface="Bookman Old Style" pitchFamily="18" charset="0"/>
              </a:rPr>
              <a:t>Because of the total participation constraint, foreign key acquires NOT NULL constraint </a:t>
            </a:r>
          </a:p>
          <a:p>
            <a:pPr marL="228600" lvl="1">
              <a:spcBef>
                <a:spcPts val="1000"/>
              </a:spcBef>
              <a:buClr>
                <a:srgbClr val="C00000"/>
              </a:buClr>
              <a:buFont typeface="Wingdings" pitchFamily="2" charset="2"/>
              <a:buChar char="ü"/>
            </a:pPr>
            <a:r>
              <a:rPr lang="en-US" sz="1900" dirty="0">
                <a:solidFill>
                  <a:srgbClr val="0000FF"/>
                </a:solidFill>
                <a:latin typeface="Bookman Old Style" pitchFamily="18" charset="0"/>
              </a:rPr>
              <a:t>Now foreign key can not be null.</a:t>
            </a:r>
          </a:p>
          <a:p>
            <a:pPr marL="228600" lvl="1">
              <a:spcBef>
                <a:spcPts val="1000"/>
              </a:spcBef>
              <a:buClr>
                <a:srgbClr val="C00000"/>
              </a:buClr>
              <a:buFont typeface="Wingdings" pitchFamily="2" charset="2"/>
              <a:buChar char="ü"/>
            </a:pPr>
            <a:r>
              <a:rPr lang="en-US" sz="1900" dirty="0">
                <a:solidFill>
                  <a:srgbClr val="0000FF"/>
                </a:solidFill>
                <a:latin typeface="Bookman Old Style" pitchFamily="18" charset="0"/>
              </a:rPr>
              <a:t>Option 1: 	For Binary Relationship With Cardinality Constraint and Total Participation 			Constraint From One Side</a:t>
            </a:r>
          </a:p>
          <a:p>
            <a:pPr lvl="4" fontAlgn="base">
              <a:buClr>
                <a:srgbClr val="C00000"/>
              </a:buClr>
              <a:buFont typeface="Wingdings" pitchFamily="2" charset="2"/>
              <a:buChar char="ü"/>
            </a:pPr>
            <a:r>
              <a:rPr lang="en-US" dirty="0">
                <a:solidFill>
                  <a:srgbClr val="0000FF"/>
                </a:solidFill>
                <a:latin typeface="Bookman Old Style" pitchFamily="18" charset="0"/>
              </a:rPr>
              <a:t>Because cardinality ratio = 1 : n , so we will combine the entity set B and relationship set R.</a:t>
            </a:r>
          </a:p>
          <a:p>
            <a:pPr lvl="4" fontAlgn="base">
              <a:buClr>
                <a:srgbClr val="C00000"/>
              </a:buClr>
              <a:buFont typeface="Wingdings" pitchFamily="2" charset="2"/>
              <a:buChar char="ü"/>
            </a:pPr>
            <a:r>
              <a:rPr lang="en-US" dirty="0">
                <a:solidFill>
                  <a:srgbClr val="0000FF"/>
                </a:solidFill>
                <a:latin typeface="Bookman Old Style" pitchFamily="18" charset="0"/>
              </a:rPr>
              <a:t>Then, two tables will be required-</a:t>
            </a:r>
          </a:p>
          <a:p>
            <a:pPr lvl="5" fontAlgn="base">
              <a:buClr>
                <a:srgbClr val="C00000"/>
              </a:buClr>
            </a:pPr>
            <a:r>
              <a:rPr lang="en-US" dirty="0">
                <a:solidFill>
                  <a:srgbClr val="0000FF"/>
                </a:solidFill>
                <a:latin typeface="Bookman Old Style" pitchFamily="18" charset="0"/>
              </a:rPr>
              <a:t>A ( </a:t>
            </a:r>
            <a:r>
              <a:rPr lang="en-US" u="sng" dirty="0">
                <a:solidFill>
                  <a:srgbClr val="0000FF"/>
                </a:solidFill>
                <a:latin typeface="Bookman Old Style" pitchFamily="18" charset="0"/>
              </a:rPr>
              <a:t>a1</a:t>
            </a:r>
            <a:r>
              <a:rPr lang="en-US" dirty="0">
                <a:solidFill>
                  <a:srgbClr val="0000FF"/>
                </a:solidFill>
                <a:latin typeface="Bookman Old Style" pitchFamily="18" charset="0"/>
              </a:rPr>
              <a:t> , a2 )</a:t>
            </a:r>
          </a:p>
          <a:p>
            <a:pPr lvl="5" fontAlgn="base">
              <a:buClr>
                <a:srgbClr val="C00000"/>
              </a:buClr>
            </a:pPr>
            <a:r>
              <a:rPr lang="en-US" dirty="0">
                <a:solidFill>
                  <a:srgbClr val="0000FF"/>
                </a:solidFill>
                <a:latin typeface="Bookman Old Style" pitchFamily="18" charset="0"/>
              </a:rPr>
              <a:t>BR ( a1 , </a:t>
            </a:r>
            <a:r>
              <a:rPr lang="en-US" u="sng" dirty="0">
                <a:solidFill>
                  <a:srgbClr val="0000FF"/>
                </a:solidFill>
                <a:latin typeface="Bookman Old Style" pitchFamily="18" charset="0"/>
              </a:rPr>
              <a:t>b1</a:t>
            </a:r>
            <a:r>
              <a:rPr lang="en-US" dirty="0">
                <a:solidFill>
                  <a:srgbClr val="0000FF"/>
                </a:solidFill>
                <a:latin typeface="Bookman Old Style" pitchFamily="18" charset="0"/>
              </a:rPr>
              <a:t> , b2 )</a:t>
            </a:r>
          </a:p>
          <a:p>
            <a:pPr lvl="4" fontAlgn="base">
              <a:buClr>
                <a:srgbClr val="C00000"/>
              </a:buClr>
              <a:buFont typeface="Wingdings" pitchFamily="2" charset="2"/>
              <a:buChar char="ü"/>
            </a:pPr>
            <a:r>
              <a:rPr lang="en-US" dirty="0">
                <a:solidFill>
                  <a:srgbClr val="0000FF"/>
                </a:solidFill>
                <a:latin typeface="Bookman Old Style" pitchFamily="18" charset="0"/>
              </a:rPr>
              <a:t>Because of total participation, foreign key a1 has acquired NOT NULL constraint, so it can’t be null now.</a:t>
            </a:r>
          </a:p>
          <a:p>
            <a:pPr marL="228600" lvl="1">
              <a:spcBef>
                <a:spcPts val="1000"/>
              </a:spcBef>
              <a:buClr>
                <a:srgbClr val="C00000"/>
              </a:buClr>
              <a:buFont typeface="Wingdings" pitchFamily="2" charset="2"/>
              <a:buChar char="ü"/>
            </a:pPr>
            <a:endParaRPr lang="en-US" dirty="0">
              <a:solidFill>
                <a:srgbClr val="0000FF"/>
              </a:solidFill>
              <a:latin typeface="Bookman Old Style" pitchFamily="18" charset="0"/>
            </a:endParaRPr>
          </a:p>
          <a:p>
            <a:pPr marL="228600" lvl="1">
              <a:spcBef>
                <a:spcPts val="1000"/>
              </a:spcBef>
              <a:buClr>
                <a:srgbClr val="C00000"/>
              </a:buClr>
              <a:buFont typeface="Wingdings" pitchFamily="2" charset="2"/>
              <a:buChar char="ü"/>
            </a:pPr>
            <a:endParaRPr lang="en-US" dirty="0">
              <a:solidFill>
                <a:srgbClr val="0000FF"/>
              </a:solidFill>
              <a:latin typeface="Bookman Old Style" pitchFamily="18" charset="0"/>
            </a:endParaRPr>
          </a:p>
          <a:p>
            <a:pPr marL="228600" lvl="1">
              <a:spcBef>
                <a:spcPts val="1000"/>
              </a:spcBef>
              <a:buNone/>
            </a:pPr>
            <a:endParaRPr lang="en-US" dirty="0">
              <a:solidFill>
                <a:srgbClr val="C00000"/>
              </a:solidFill>
              <a:latin typeface="Copperplate Gothic Light" pitchFamily="34" charset="0"/>
            </a:endParaRPr>
          </a:p>
          <a:p>
            <a:pPr>
              <a:buNone/>
            </a:pPr>
            <a:endParaRPr lang="en-US" dirty="0"/>
          </a:p>
        </p:txBody>
      </p:sp>
      <p:sp>
        <p:nvSpPr>
          <p:cNvPr id="6" name="Rectangle 5"/>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 Conversion of ER to Relational Table</a:t>
            </a:r>
            <a:r>
              <a:rPr lang="en-IN" sz="2700" dirty="0">
                <a:solidFill>
                  <a:srgbClr val="FF0000"/>
                </a:solidFill>
                <a:latin typeface="Copperplate Gothic Light" pitchFamily="34" charset="0"/>
              </a:rPr>
              <a:t> </a:t>
            </a:r>
          </a:p>
        </p:txBody>
      </p:sp>
      <p:grpSp>
        <p:nvGrpSpPr>
          <p:cNvPr id="37" name="Group 36"/>
          <p:cNvGrpSpPr/>
          <p:nvPr/>
        </p:nvGrpSpPr>
        <p:grpSpPr>
          <a:xfrm>
            <a:off x="3968121" y="4948696"/>
            <a:ext cx="4606504" cy="1443468"/>
            <a:chOff x="681489" y="3689248"/>
            <a:chExt cx="5155587" cy="1633250"/>
          </a:xfrm>
        </p:grpSpPr>
        <p:sp>
          <p:nvSpPr>
            <p:cNvPr id="7" name="Rectangle 6"/>
            <p:cNvSpPr/>
            <p:nvPr/>
          </p:nvSpPr>
          <p:spPr>
            <a:xfrm>
              <a:off x="1362974" y="4623767"/>
              <a:ext cx="836762" cy="54346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FF"/>
                  </a:solidFill>
                  <a:latin typeface="Copperplate Gothic Light" pitchFamily="34" charset="0"/>
                </a:rPr>
                <a:t>A</a:t>
              </a:r>
            </a:p>
          </p:txBody>
        </p:sp>
        <p:sp>
          <p:nvSpPr>
            <p:cNvPr id="8" name="Oval 7"/>
            <p:cNvSpPr/>
            <p:nvPr/>
          </p:nvSpPr>
          <p:spPr>
            <a:xfrm>
              <a:off x="681489" y="3692116"/>
              <a:ext cx="819507" cy="44856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latin typeface="Copperplate Gothic Light" pitchFamily="34" charset="0"/>
                </a:rPr>
                <a:t>a1</a:t>
              </a:r>
            </a:p>
          </p:txBody>
        </p:sp>
        <p:sp>
          <p:nvSpPr>
            <p:cNvPr id="10" name="Oval 9"/>
            <p:cNvSpPr/>
            <p:nvPr/>
          </p:nvSpPr>
          <p:spPr>
            <a:xfrm>
              <a:off x="2237149" y="3720871"/>
              <a:ext cx="721711" cy="462940"/>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a2</a:t>
              </a:r>
            </a:p>
          </p:txBody>
        </p:sp>
        <p:cxnSp>
          <p:nvCxnSpPr>
            <p:cNvPr id="11" name="Straight Connector 10"/>
            <p:cNvCxnSpPr>
              <a:endCxn id="8" idx="4"/>
            </p:cNvCxnSpPr>
            <p:nvPr/>
          </p:nvCxnSpPr>
          <p:spPr>
            <a:xfrm rot="16200000" flipV="1">
              <a:off x="1089087" y="4142835"/>
              <a:ext cx="491708" cy="48739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10" idx="4"/>
            </p:cNvCxnSpPr>
            <p:nvPr/>
          </p:nvCxnSpPr>
          <p:spPr>
            <a:xfrm rot="5400000">
              <a:off x="2053828" y="4079590"/>
              <a:ext cx="439956" cy="64839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5" name="Diamond 14"/>
            <p:cNvSpPr/>
            <p:nvPr/>
          </p:nvSpPr>
          <p:spPr>
            <a:xfrm>
              <a:off x="2812692" y="4480717"/>
              <a:ext cx="844909" cy="841781"/>
            </a:xfrm>
            <a:prstGeom prst="diamond">
              <a:avLst/>
            </a:prstGeom>
            <a:solidFill>
              <a:srgbClr val="EF114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latin typeface="Copperplate Gothic Light" pitchFamily="34" charset="0"/>
                </a:rPr>
                <a:t>R</a:t>
              </a:r>
            </a:p>
          </p:txBody>
        </p:sp>
        <p:sp>
          <p:nvSpPr>
            <p:cNvPr id="23" name="Rectangle 22"/>
            <p:cNvSpPr/>
            <p:nvPr/>
          </p:nvSpPr>
          <p:spPr>
            <a:xfrm>
              <a:off x="4241190" y="4629525"/>
              <a:ext cx="836762" cy="54346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FF"/>
                  </a:solidFill>
                  <a:latin typeface="Copperplate Gothic Light" pitchFamily="34" charset="0"/>
                </a:rPr>
                <a:t>B</a:t>
              </a:r>
            </a:p>
          </p:txBody>
        </p:sp>
        <p:sp>
          <p:nvSpPr>
            <p:cNvPr id="24" name="Oval 23"/>
            <p:cNvSpPr/>
            <p:nvPr/>
          </p:nvSpPr>
          <p:spPr>
            <a:xfrm>
              <a:off x="3594209" y="3689248"/>
              <a:ext cx="819507" cy="44856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latin typeface="Copperplate Gothic Light" pitchFamily="34" charset="0"/>
                </a:rPr>
                <a:t>b1</a:t>
              </a:r>
            </a:p>
          </p:txBody>
        </p:sp>
        <p:sp>
          <p:nvSpPr>
            <p:cNvPr id="25" name="Oval 24"/>
            <p:cNvSpPr/>
            <p:nvPr/>
          </p:nvSpPr>
          <p:spPr>
            <a:xfrm>
              <a:off x="5115365" y="3726629"/>
              <a:ext cx="721711" cy="462940"/>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b2</a:t>
              </a:r>
            </a:p>
          </p:txBody>
        </p:sp>
        <p:cxnSp>
          <p:nvCxnSpPr>
            <p:cNvPr id="26" name="Straight Connector 25"/>
            <p:cNvCxnSpPr/>
            <p:nvPr/>
          </p:nvCxnSpPr>
          <p:spPr>
            <a:xfrm rot="16200000" flipV="1">
              <a:off x="3967303" y="4148593"/>
              <a:ext cx="491708" cy="48739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Straight Connector 26"/>
            <p:cNvCxnSpPr>
              <a:stCxn id="25" idx="4"/>
            </p:cNvCxnSpPr>
            <p:nvPr/>
          </p:nvCxnSpPr>
          <p:spPr>
            <a:xfrm rot="5400000">
              <a:off x="4932044" y="4085348"/>
              <a:ext cx="439956" cy="64839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5" idx="1"/>
              <a:endCxn id="7" idx="3"/>
            </p:cNvCxnSpPr>
            <p:nvPr/>
          </p:nvCxnSpPr>
          <p:spPr>
            <a:xfrm rot="10800000">
              <a:off x="2199736" y="4895500"/>
              <a:ext cx="612956" cy="6108"/>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10800000">
              <a:off x="3628845" y="4909877"/>
              <a:ext cx="612956" cy="6108"/>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242867" y="4597879"/>
              <a:ext cx="293298" cy="369332"/>
            </a:xfrm>
            <a:prstGeom prst="rect">
              <a:avLst/>
            </a:prstGeom>
            <a:noFill/>
          </p:spPr>
          <p:txBody>
            <a:bodyPr wrap="square" rtlCol="0">
              <a:spAutoFit/>
            </a:bodyPr>
            <a:lstStyle/>
            <a:p>
              <a:r>
                <a:rPr lang="en-US" dirty="0">
                  <a:solidFill>
                    <a:srgbClr val="FF0000"/>
                  </a:solidFill>
                  <a:latin typeface="Copperplate Gothic Light" pitchFamily="34" charset="0"/>
                </a:rPr>
                <a:t>1</a:t>
              </a:r>
            </a:p>
          </p:txBody>
        </p:sp>
        <p:sp>
          <p:nvSpPr>
            <p:cNvPr id="36" name="TextBox 35"/>
            <p:cNvSpPr txBox="1"/>
            <p:nvPr/>
          </p:nvSpPr>
          <p:spPr>
            <a:xfrm>
              <a:off x="3913517" y="4577751"/>
              <a:ext cx="293298" cy="369332"/>
            </a:xfrm>
            <a:prstGeom prst="rect">
              <a:avLst/>
            </a:prstGeom>
            <a:noFill/>
          </p:spPr>
          <p:txBody>
            <a:bodyPr wrap="square" rtlCol="0">
              <a:spAutoFit/>
            </a:bodyPr>
            <a:lstStyle/>
            <a:p>
              <a:r>
                <a:rPr lang="en-US" dirty="0">
                  <a:solidFill>
                    <a:srgbClr val="FF0000"/>
                  </a:solidFill>
                  <a:latin typeface="Copperplate Gothic Light" pitchFamily="34" charset="0"/>
                </a:rPr>
                <a:t>m</a:t>
              </a:r>
            </a:p>
          </p:txBody>
        </p:sp>
      </p:grpSp>
      <p:sp>
        <p:nvSpPr>
          <p:cNvPr id="9" name="Slide Number Placeholder 8">
            <a:extLst>
              <a:ext uri="{FF2B5EF4-FFF2-40B4-BE49-F238E27FC236}">
                <a16:creationId xmlns:a16="http://schemas.microsoft.com/office/drawing/2014/main" id="{829DD981-79EC-31DB-6142-B14BA796E77F}"/>
              </a:ext>
            </a:extLst>
          </p:cNvPr>
          <p:cNvSpPr>
            <a:spLocks noGrp="1"/>
          </p:cNvSpPr>
          <p:nvPr>
            <p:ph type="sldNum" sz="quarter" idx="12"/>
          </p:nvPr>
        </p:nvSpPr>
        <p:spPr/>
        <p:txBody>
          <a:bodyPr/>
          <a:lstStyle/>
          <a:p>
            <a:fld id="{AD7ED525-5088-40CF-8CE0-E4296ADF624B}" type="slidenum">
              <a:rPr lang="en-IN" smtClean="0"/>
              <a:pPr/>
              <a:t>18</a:t>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29242" y="811542"/>
            <a:ext cx="10515600" cy="4351338"/>
          </a:xfrm>
        </p:spPr>
        <p:txBody>
          <a:bodyPr>
            <a:normAutofit/>
          </a:bodyPr>
          <a:lstStyle/>
          <a:p>
            <a:pPr>
              <a:buNone/>
            </a:pPr>
            <a:r>
              <a:rPr lang="en-US" sz="2400" dirty="0">
                <a:solidFill>
                  <a:srgbClr val="C00000"/>
                </a:solidFill>
                <a:latin typeface="Copperplate Gothic Light" pitchFamily="34" charset="0"/>
              </a:rPr>
              <a:t>	Binary Relationship With Both Cardinality Constraints and Participation Constraints</a:t>
            </a:r>
          </a:p>
          <a:p>
            <a:pPr fontAlgn="base">
              <a:buClr>
                <a:srgbClr val="C00000"/>
              </a:buClr>
              <a:buFont typeface="Wingdings" pitchFamily="2" charset="2"/>
              <a:buChar char="ü"/>
            </a:pPr>
            <a:r>
              <a:rPr lang="en-US" sz="2400" dirty="0">
                <a:solidFill>
                  <a:srgbClr val="0000FF"/>
                </a:solidFill>
                <a:latin typeface="Bookman Old Style" pitchFamily="18" charset="0"/>
              </a:rPr>
              <a:t>Option 2: 	Binary Relationship With Cardinality Constraint and 			Total Participation Constraint From Both Sides</a:t>
            </a:r>
          </a:p>
          <a:p>
            <a:pPr lvl="4" fontAlgn="base">
              <a:buClr>
                <a:srgbClr val="C00000"/>
              </a:buClr>
              <a:buFont typeface="Wingdings" pitchFamily="2" charset="2"/>
              <a:buChar char="ü"/>
            </a:pPr>
            <a:r>
              <a:rPr lang="en-US" sz="2400" dirty="0">
                <a:solidFill>
                  <a:srgbClr val="0000FF"/>
                </a:solidFill>
                <a:latin typeface="Bookman Old Style" pitchFamily="18" charset="0"/>
              </a:rPr>
              <a:t>If there is a key constraint from both the sides of an entity set with total participation, then that binary relationship is represented using only single table.</a:t>
            </a:r>
          </a:p>
          <a:p>
            <a:pPr lvl="5">
              <a:buClr>
                <a:srgbClr val="C00000"/>
              </a:buClr>
            </a:pPr>
            <a:r>
              <a:rPr lang="pt-BR" sz="2400" dirty="0">
                <a:solidFill>
                  <a:srgbClr val="0000FF"/>
                </a:solidFill>
                <a:latin typeface="Bookman Old Style" pitchFamily="18" charset="0"/>
              </a:rPr>
              <a:t> ARB ( </a:t>
            </a:r>
            <a:r>
              <a:rPr lang="pt-BR" sz="2400" u="sng" dirty="0">
                <a:solidFill>
                  <a:srgbClr val="0000FF"/>
                </a:solidFill>
                <a:latin typeface="Bookman Old Style" pitchFamily="18" charset="0"/>
              </a:rPr>
              <a:t>a1</a:t>
            </a:r>
            <a:r>
              <a:rPr lang="pt-BR" sz="2400" dirty="0">
                <a:solidFill>
                  <a:srgbClr val="0000FF"/>
                </a:solidFill>
                <a:latin typeface="Bookman Old Style" pitchFamily="18" charset="0"/>
              </a:rPr>
              <a:t> , a2 , </a:t>
            </a:r>
            <a:r>
              <a:rPr lang="pt-BR" sz="2400" u="sng" dirty="0">
                <a:solidFill>
                  <a:srgbClr val="0000FF"/>
                </a:solidFill>
                <a:latin typeface="Bookman Old Style" pitchFamily="18" charset="0"/>
              </a:rPr>
              <a:t>b1</a:t>
            </a:r>
            <a:r>
              <a:rPr lang="pt-BR" sz="2400" dirty="0">
                <a:solidFill>
                  <a:srgbClr val="0000FF"/>
                </a:solidFill>
                <a:latin typeface="Bookman Old Style" pitchFamily="18" charset="0"/>
              </a:rPr>
              <a:t> , b2 )</a:t>
            </a:r>
          </a:p>
          <a:p>
            <a:pPr>
              <a:buNone/>
            </a:pPr>
            <a:endParaRPr lang="en-US" sz="2400" dirty="0"/>
          </a:p>
        </p:txBody>
      </p:sp>
      <p:sp>
        <p:nvSpPr>
          <p:cNvPr id="6" name="Rectangle 5"/>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 Conversion of ER to Relational Table</a:t>
            </a:r>
            <a:r>
              <a:rPr lang="en-IN" sz="2700" dirty="0">
                <a:solidFill>
                  <a:srgbClr val="FF0000"/>
                </a:solidFill>
                <a:latin typeface="Copperplate Gothic Light" pitchFamily="34" charset="0"/>
              </a:rPr>
              <a:t> </a:t>
            </a:r>
          </a:p>
        </p:txBody>
      </p:sp>
      <p:grpSp>
        <p:nvGrpSpPr>
          <p:cNvPr id="7" name="Group 6"/>
          <p:cNvGrpSpPr/>
          <p:nvPr/>
        </p:nvGrpSpPr>
        <p:grpSpPr>
          <a:xfrm>
            <a:off x="3217654" y="4071668"/>
            <a:ext cx="5400104" cy="2035824"/>
            <a:chOff x="681489" y="3689248"/>
            <a:chExt cx="5155587" cy="1633250"/>
          </a:xfrm>
        </p:grpSpPr>
        <p:sp>
          <p:nvSpPr>
            <p:cNvPr id="8" name="Rectangle 7"/>
            <p:cNvSpPr/>
            <p:nvPr/>
          </p:nvSpPr>
          <p:spPr>
            <a:xfrm>
              <a:off x="1362974" y="4623767"/>
              <a:ext cx="836762" cy="54346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FF"/>
                  </a:solidFill>
                  <a:latin typeface="Copperplate Gothic Light" pitchFamily="34" charset="0"/>
                </a:rPr>
                <a:t>A</a:t>
              </a:r>
            </a:p>
          </p:txBody>
        </p:sp>
        <p:sp>
          <p:nvSpPr>
            <p:cNvPr id="9" name="Oval 8"/>
            <p:cNvSpPr/>
            <p:nvPr/>
          </p:nvSpPr>
          <p:spPr>
            <a:xfrm>
              <a:off x="681489" y="3692116"/>
              <a:ext cx="819507" cy="44856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latin typeface="Copperplate Gothic Light" pitchFamily="34" charset="0"/>
                </a:rPr>
                <a:t>a1</a:t>
              </a:r>
            </a:p>
          </p:txBody>
        </p:sp>
        <p:sp>
          <p:nvSpPr>
            <p:cNvPr id="10" name="Oval 9"/>
            <p:cNvSpPr/>
            <p:nvPr/>
          </p:nvSpPr>
          <p:spPr>
            <a:xfrm>
              <a:off x="2237149" y="3720871"/>
              <a:ext cx="721711" cy="462940"/>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a2</a:t>
              </a:r>
            </a:p>
          </p:txBody>
        </p:sp>
        <p:cxnSp>
          <p:nvCxnSpPr>
            <p:cNvPr id="11" name="Straight Connector 10"/>
            <p:cNvCxnSpPr>
              <a:endCxn id="9" idx="4"/>
            </p:cNvCxnSpPr>
            <p:nvPr/>
          </p:nvCxnSpPr>
          <p:spPr>
            <a:xfrm rot="16200000" flipV="1">
              <a:off x="1089087" y="4142835"/>
              <a:ext cx="491708" cy="48739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10" idx="4"/>
            </p:cNvCxnSpPr>
            <p:nvPr/>
          </p:nvCxnSpPr>
          <p:spPr>
            <a:xfrm rot="5400000">
              <a:off x="2053828" y="4079590"/>
              <a:ext cx="439956" cy="648399"/>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Diamond 12"/>
            <p:cNvSpPr/>
            <p:nvPr/>
          </p:nvSpPr>
          <p:spPr>
            <a:xfrm>
              <a:off x="2812692" y="4480717"/>
              <a:ext cx="844909" cy="841781"/>
            </a:xfrm>
            <a:prstGeom prst="diamond">
              <a:avLst/>
            </a:prstGeom>
            <a:solidFill>
              <a:srgbClr val="EF114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b="1" dirty="0">
                  <a:latin typeface="Copperplate Gothic Light" pitchFamily="34" charset="0"/>
                </a:rPr>
                <a:t>R</a:t>
              </a:r>
            </a:p>
          </p:txBody>
        </p:sp>
        <p:sp>
          <p:nvSpPr>
            <p:cNvPr id="14" name="Rectangle 13"/>
            <p:cNvSpPr/>
            <p:nvPr/>
          </p:nvSpPr>
          <p:spPr>
            <a:xfrm>
              <a:off x="4241190" y="4629525"/>
              <a:ext cx="836762" cy="54346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FF"/>
                  </a:solidFill>
                  <a:latin typeface="Copperplate Gothic Light" pitchFamily="34" charset="0"/>
                </a:rPr>
                <a:t>B</a:t>
              </a:r>
            </a:p>
          </p:txBody>
        </p:sp>
        <p:sp>
          <p:nvSpPr>
            <p:cNvPr id="15" name="Oval 14"/>
            <p:cNvSpPr/>
            <p:nvPr/>
          </p:nvSpPr>
          <p:spPr>
            <a:xfrm>
              <a:off x="3594209" y="3689248"/>
              <a:ext cx="819507" cy="44856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latin typeface="Copperplate Gothic Light" pitchFamily="34" charset="0"/>
                </a:rPr>
                <a:t>b1</a:t>
              </a:r>
            </a:p>
          </p:txBody>
        </p:sp>
        <p:sp>
          <p:nvSpPr>
            <p:cNvPr id="16" name="Oval 15"/>
            <p:cNvSpPr/>
            <p:nvPr/>
          </p:nvSpPr>
          <p:spPr>
            <a:xfrm>
              <a:off x="5115365" y="3726629"/>
              <a:ext cx="721711" cy="462940"/>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b2</a:t>
              </a:r>
            </a:p>
          </p:txBody>
        </p:sp>
        <p:cxnSp>
          <p:nvCxnSpPr>
            <p:cNvPr id="17" name="Straight Connector 16"/>
            <p:cNvCxnSpPr/>
            <p:nvPr/>
          </p:nvCxnSpPr>
          <p:spPr>
            <a:xfrm rot="16200000" flipV="1">
              <a:off x="3967303" y="4148593"/>
              <a:ext cx="491708" cy="487395"/>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6" idx="4"/>
            </p:cNvCxnSpPr>
            <p:nvPr/>
          </p:nvCxnSpPr>
          <p:spPr>
            <a:xfrm rot="5400000">
              <a:off x="4932044" y="4085348"/>
              <a:ext cx="439956" cy="648399"/>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3" idx="1"/>
              <a:endCxn id="8" idx="3"/>
            </p:cNvCxnSpPr>
            <p:nvPr/>
          </p:nvCxnSpPr>
          <p:spPr>
            <a:xfrm rot="10800000">
              <a:off x="2199736" y="4895500"/>
              <a:ext cx="612956" cy="6108"/>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rot="10800000">
              <a:off x="3628845" y="4909877"/>
              <a:ext cx="612956" cy="6108"/>
            </a:xfrm>
            <a:prstGeom prst="line">
              <a:avLst/>
            </a:prstGeom>
            <a:ln w="1905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2242867" y="4558837"/>
              <a:ext cx="293298" cy="417890"/>
            </a:xfrm>
            <a:prstGeom prst="rect">
              <a:avLst/>
            </a:prstGeom>
            <a:noFill/>
          </p:spPr>
          <p:txBody>
            <a:bodyPr wrap="square" rtlCol="0">
              <a:spAutoFit/>
            </a:bodyPr>
            <a:lstStyle/>
            <a:p>
              <a:r>
                <a:rPr lang="en-US" dirty="0">
                  <a:solidFill>
                    <a:srgbClr val="FF0000"/>
                  </a:solidFill>
                  <a:latin typeface="Copperplate Gothic Light" pitchFamily="34" charset="0"/>
                </a:rPr>
                <a:t>m</a:t>
              </a:r>
            </a:p>
          </p:txBody>
        </p:sp>
        <p:sp>
          <p:nvSpPr>
            <p:cNvPr id="22" name="TextBox 21"/>
            <p:cNvSpPr txBox="1"/>
            <p:nvPr/>
          </p:nvSpPr>
          <p:spPr>
            <a:xfrm>
              <a:off x="3836284" y="4577751"/>
              <a:ext cx="293298" cy="369332"/>
            </a:xfrm>
            <a:prstGeom prst="rect">
              <a:avLst/>
            </a:prstGeom>
            <a:noFill/>
          </p:spPr>
          <p:txBody>
            <a:bodyPr wrap="square" rtlCol="0">
              <a:spAutoFit/>
            </a:bodyPr>
            <a:lstStyle/>
            <a:p>
              <a:r>
                <a:rPr lang="en-US" dirty="0">
                  <a:solidFill>
                    <a:srgbClr val="FF0000"/>
                  </a:solidFill>
                  <a:latin typeface="Copperplate Gothic Light" pitchFamily="34" charset="0"/>
                </a:rPr>
                <a:t>m</a:t>
              </a:r>
            </a:p>
          </p:txBody>
        </p:sp>
      </p:grpSp>
      <p:sp>
        <p:nvSpPr>
          <p:cNvPr id="23" name="Slide Number Placeholder 22">
            <a:extLst>
              <a:ext uri="{FF2B5EF4-FFF2-40B4-BE49-F238E27FC236}">
                <a16:creationId xmlns:a16="http://schemas.microsoft.com/office/drawing/2014/main" id="{DC3730EF-2BBE-0792-1155-C2E0BD962A20}"/>
              </a:ext>
            </a:extLst>
          </p:cNvPr>
          <p:cNvSpPr>
            <a:spLocks noGrp="1"/>
          </p:cNvSpPr>
          <p:nvPr>
            <p:ph type="sldNum" sz="quarter" idx="12"/>
          </p:nvPr>
        </p:nvSpPr>
        <p:spPr/>
        <p:txBody>
          <a:bodyPr/>
          <a:lstStyle/>
          <a:p>
            <a:fld id="{AD7ED525-5088-40CF-8CE0-E4296ADF624B}" type="slidenum">
              <a:rPr lang="en-IN" smtClean="0"/>
              <a:pPr/>
              <a:t>19</a:t>
            </a:fld>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77483" y="751157"/>
            <a:ext cx="10515600" cy="4351338"/>
          </a:xfrm>
        </p:spPr>
        <p:txBody>
          <a:bodyPr/>
          <a:lstStyle/>
          <a:p>
            <a:pPr marL="228600" lvl="1">
              <a:spcBef>
                <a:spcPts val="1000"/>
              </a:spcBef>
              <a:buNone/>
            </a:pPr>
            <a:r>
              <a:rPr lang="en-US" dirty="0">
                <a:solidFill>
                  <a:srgbClr val="C00000"/>
                </a:solidFill>
                <a:latin typeface="Copperplate Gothic Light" pitchFamily="34" charset="0"/>
              </a:rPr>
              <a:t>Binary Relationship With Weak Entity Set</a:t>
            </a:r>
          </a:p>
          <a:p>
            <a:pPr marL="228600" lvl="1">
              <a:spcBef>
                <a:spcPts val="1000"/>
              </a:spcBef>
              <a:buClr>
                <a:srgbClr val="C00000"/>
              </a:buClr>
              <a:buFont typeface="Wingdings" pitchFamily="2" charset="2"/>
              <a:buChar char="ü"/>
            </a:pPr>
            <a:r>
              <a:rPr lang="en-US" dirty="0">
                <a:solidFill>
                  <a:srgbClr val="0000FF"/>
                </a:solidFill>
                <a:latin typeface="Bookman Old Style" pitchFamily="18" charset="0"/>
              </a:rPr>
              <a:t>Weak entity set always appears in association with identifying relationship with total participation constraint.</a:t>
            </a:r>
          </a:p>
          <a:p>
            <a:pPr fontAlgn="base">
              <a:buClr>
                <a:srgbClr val="C00000"/>
              </a:buClr>
              <a:buFont typeface="Wingdings" pitchFamily="2" charset="2"/>
              <a:buChar char="ü"/>
            </a:pPr>
            <a:r>
              <a:rPr lang="en-US" sz="2400" dirty="0">
                <a:solidFill>
                  <a:srgbClr val="0000FF"/>
                </a:solidFill>
                <a:latin typeface="Bookman Old Style" pitchFamily="18" charset="0"/>
              </a:rPr>
              <a:t>Here, two tables will be required-</a:t>
            </a:r>
          </a:p>
          <a:p>
            <a:pPr lvl="1" fontAlgn="base">
              <a:buClr>
                <a:srgbClr val="C00000"/>
              </a:buClr>
            </a:pPr>
            <a:r>
              <a:rPr lang="en-US" dirty="0">
                <a:solidFill>
                  <a:srgbClr val="0000FF"/>
                </a:solidFill>
                <a:latin typeface="Bookman Old Style" pitchFamily="18" charset="0"/>
              </a:rPr>
              <a:t>A ( </a:t>
            </a:r>
            <a:r>
              <a:rPr lang="en-US" u="sng" dirty="0">
                <a:solidFill>
                  <a:srgbClr val="0000FF"/>
                </a:solidFill>
                <a:latin typeface="Bookman Old Style" pitchFamily="18" charset="0"/>
              </a:rPr>
              <a:t>a1</a:t>
            </a:r>
            <a:r>
              <a:rPr lang="en-US" dirty="0">
                <a:solidFill>
                  <a:srgbClr val="0000FF"/>
                </a:solidFill>
                <a:latin typeface="Bookman Old Style" pitchFamily="18" charset="0"/>
              </a:rPr>
              <a:t> , a2 )</a:t>
            </a:r>
          </a:p>
          <a:p>
            <a:pPr lvl="1" fontAlgn="base">
              <a:buClr>
                <a:srgbClr val="C00000"/>
              </a:buClr>
            </a:pPr>
            <a:r>
              <a:rPr lang="en-US" dirty="0">
                <a:solidFill>
                  <a:srgbClr val="0000FF"/>
                </a:solidFill>
                <a:latin typeface="Bookman Old Style" pitchFamily="18" charset="0"/>
              </a:rPr>
              <a:t>BR ( </a:t>
            </a:r>
            <a:r>
              <a:rPr lang="en-US" u="sng" dirty="0">
                <a:solidFill>
                  <a:srgbClr val="0000FF"/>
                </a:solidFill>
                <a:latin typeface="Bookman Old Style" pitchFamily="18" charset="0"/>
              </a:rPr>
              <a:t>a1</a:t>
            </a:r>
            <a:r>
              <a:rPr lang="en-US" dirty="0">
                <a:solidFill>
                  <a:srgbClr val="0000FF"/>
                </a:solidFill>
                <a:latin typeface="Bookman Old Style" pitchFamily="18" charset="0"/>
              </a:rPr>
              <a:t> , </a:t>
            </a:r>
            <a:r>
              <a:rPr lang="en-US" u="sng" dirty="0">
                <a:solidFill>
                  <a:srgbClr val="0000FF"/>
                </a:solidFill>
                <a:latin typeface="Bookman Old Style" pitchFamily="18" charset="0"/>
              </a:rPr>
              <a:t>b1</a:t>
            </a:r>
            <a:r>
              <a:rPr lang="en-US" dirty="0">
                <a:solidFill>
                  <a:srgbClr val="0000FF"/>
                </a:solidFill>
                <a:latin typeface="Bookman Old Style" pitchFamily="18" charset="0"/>
              </a:rPr>
              <a:t> , b2 )</a:t>
            </a:r>
          </a:p>
          <a:p>
            <a:pPr>
              <a:buNone/>
            </a:pPr>
            <a:endParaRPr lang="en-US" dirty="0"/>
          </a:p>
          <a:p>
            <a:pPr>
              <a:buNone/>
            </a:pPr>
            <a:endParaRPr lang="en-US" dirty="0"/>
          </a:p>
        </p:txBody>
      </p:sp>
      <p:sp>
        <p:nvSpPr>
          <p:cNvPr id="6" name="Rectangle 5"/>
          <p:cNvSpPr/>
          <p:nvPr/>
        </p:nvSpPr>
        <p:spPr>
          <a:xfrm>
            <a:off x="0" y="120770"/>
            <a:ext cx="11153955" cy="507831"/>
          </a:xfrm>
          <a:prstGeom prst="rect">
            <a:avLst/>
          </a:prstGeom>
        </p:spPr>
        <p:txBody>
          <a:bodyPr wrap="square">
            <a:spAutoFit/>
          </a:bodyPr>
          <a:lstStyle/>
          <a:p>
            <a:r>
              <a:rPr lang="en-US" sz="2700" dirty="0">
                <a:solidFill>
                  <a:srgbClr val="FF0000"/>
                </a:solidFill>
                <a:latin typeface="Copperplate Gothic Light" pitchFamily="34" charset="0"/>
              </a:rPr>
              <a:t> Conversion of ER to Relational Table</a:t>
            </a:r>
            <a:r>
              <a:rPr lang="en-IN" sz="2700" dirty="0">
                <a:solidFill>
                  <a:srgbClr val="FF0000"/>
                </a:solidFill>
                <a:latin typeface="Copperplate Gothic Light" pitchFamily="34" charset="0"/>
              </a:rPr>
              <a:t> </a:t>
            </a:r>
          </a:p>
        </p:txBody>
      </p:sp>
      <p:grpSp>
        <p:nvGrpSpPr>
          <p:cNvPr id="37" name="Group 36"/>
          <p:cNvGrpSpPr/>
          <p:nvPr/>
        </p:nvGrpSpPr>
        <p:grpSpPr>
          <a:xfrm>
            <a:off x="2725947" y="3692105"/>
            <a:ext cx="6280031" cy="2501660"/>
            <a:chOff x="2725947" y="3692105"/>
            <a:chExt cx="6280031" cy="2501660"/>
          </a:xfrm>
        </p:grpSpPr>
        <p:sp>
          <p:nvSpPr>
            <p:cNvPr id="25" name="Rectangle 24"/>
            <p:cNvSpPr/>
            <p:nvPr/>
          </p:nvSpPr>
          <p:spPr>
            <a:xfrm>
              <a:off x="6960974" y="4982546"/>
              <a:ext cx="1199614" cy="943802"/>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FF"/>
                  </a:solidFill>
                  <a:latin typeface="Copperplate Gothic Light" pitchFamily="34" charset="0"/>
                </a:rPr>
                <a:t>B</a:t>
              </a:r>
            </a:p>
          </p:txBody>
        </p:sp>
        <p:sp>
          <p:nvSpPr>
            <p:cNvPr id="24" name="Diamond 23"/>
            <p:cNvSpPr/>
            <p:nvPr/>
          </p:nvSpPr>
          <p:spPr>
            <a:xfrm>
              <a:off x="5217071" y="4727274"/>
              <a:ext cx="1218236" cy="1466491"/>
            </a:xfrm>
            <a:prstGeom prst="diamond">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latin typeface="Copperplate Gothic Light" pitchFamily="34" charset="0"/>
              </a:endParaRPr>
            </a:p>
          </p:txBody>
        </p:sp>
        <p:grpSp>
          <p:nvGrpSpPr>
            <p:cNvPr id="8" name="Group 7"/>
            <p:cNvGrpSpPr/>
            <p:nvPr/>
          </p:nvGrpSpPr>
          <p:grpSpPr>
            <a:xfrm>
              <a:off x="2725947" y="3692105"/>
              <a:ext cx="6280031" cy="2389506"/>
              <a:chOff x="681489" y="3723876"/>
              <a:chExt cx="5169789" cy="1598622"/>
            </a:xfrm>
          </p:grpSpPr>
          <p:sp>
            <p:nvSpPr>
              <p:cNvPr id="9" name="Rectangle 8"/>
              <p:cNvSpPr/>
              <p:nvPr/>
            </p:nvSpPr>
            <p:spPr>
              <a:xfrm>
                <a:off x="1362974" y="4623767"/>
                <a:ext cx="836762" cy="54346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0000FF"/>
                    </a:solidFill>
                    <a:latin typeface="Copperplate Gothic Light" pitchFamily="34" charset="0"/>
                  </a:rPr>
                  <a:t>A</a:t>
                </a:r>
              </a:p>
            </p:txBody>
          </p:sp>
          <p:sp>
            <p:nvSpPr>
              <p:cNvPr id="10" name="Oval 9"/>
              <p:cNvSpPr/>
              <p:nvPr/>
            </p:nvSpPr>
            <p:spPr>
              <a:xfrm>
                <a:off x="681489" y="3723876"/>
                <a:ext cx="819507" cy="41680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latin typeface="Copperplate Gothic Light" pitchFamily="34" charset="0"/>
                  </a:rPr>
                  <a:t>a1</a:t>
                </a:r>
              </a:p>
            </p:txBody>
          </p:sp>
          <p:sp>
            <p:nvSpPr>
              <p:cNvPr id="11" name="Oval 10"/>
              <p:cNvSpPr/>
              <p:nvPr/>
            </p:nvSpPr>
            <p:spPr>
              <a:xfrm>
                <a:off x="2172775" y="3781587"/>
                <a:ext cx="786085" cy="402223"/>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a2</a:t>
                </a:r>
              </a:p>
            </p:txBody>
          </p:sp>
          <p:cxnSp>
            <p:nvCxnSpPr>
              <p:cNvPr id="12" name="Straight Connector 11"/>
              <p:cNvCxnSpPr>
                <a:endCxn id="10" idx="4"/>
              </p:cNvCxnSpPr>
              <p:nvPr/>
            </p:nvCxnSpPr>
            <p:spPr>
              <a:xfrm rot="16200000" flipV="1">
                <a:off x="1089087" y="4142835"/>
                <a:ext cx="491708" cy="48739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11" idx="4"/>
              </p:cNvCxnSpPr>
              <p:nvPr/>
            </p:nvCxnSpPr>
            <p:spPr>
              <a:xfrm rot="5400000">
                <a:off x="2037735" y="4095684"/>
                <a:ext cx="439957" cy="61621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4" name="Diamond 13"/>
              <p:cNvSpPr/>
              <p:nvPr/>
            </p:nvSpPr>
            <p:spPr>
              <a:xfrm>
                <a:off x="2812692" y="4480717"/>
                <a:ext cx="844909" cy="841781"/>
              </a:xfrm>
              <a:prstGeom prst="diamond">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FF0000"/>
                    </a:solidFill>
                    <a:latin typeface="Copperplate Gothic Light" pitchFamily="34" charset="0"/>
                  </a:rPr>
                  <a:t>R</a:t>
                </a:r>
              </a:p>
            </p:txBody>
          </p:sp>
          <p:sp>
            <p:nvSpPr>
              <p:cNvPr id="15" name="Rectangle 14"/>
              <p:cNvSpPr/>
              <p:nvPr/>
            </p:nvSpPr>
            <p:spPr>
              <a:xfrm>
                <a:off x="4241190" y="4629525"/>
                <a:ext cx="836762" cy="543465"/>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b="1" dirty="0">
                  <a:solidFill>
                    <a:srgbClr val="0000FF"/>
                  </a:solidFill>
                  <a:latin typeface="Copperplate Gothic Light" pitchFamily="34" charset="0"/>
                </a:endParaRPr>
              </a:p>
            </p:txBody>
          </p:sp>
          <p:sp>
            <p:nvSpPr>
              <p:cNvPr id="16" name="Oval 15"/>
              <p:cNvSpPr/>
              <p:nvPr/>
            </p:nvSpPr>
            <p:spPr>
              <a:xfrm>
                <a:off x="3394209" y="3770045"/>
                <a:ext cx="884583" cy="379308"/>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u="sng" dirty="0">
                    <a:solidFill>
                      <a:srgbClr val="C00000"/>
                    </a:solidFill>
                    <a:latin typeface="Copperplate Gothic Light" pitchFamily="34" charset="0"/>
                  </a:rPr>
                  <a:t>b1</a:t>
                </a:r>
              </a:p>
            </p:txBody>
          </p:sp>
          <p:sp>
            <p:nvSpPr>
              <p:cNvPr id="17" name="Oval 16"/>
              <p:cNvSpPr/>
              <p:nvPr/>
            </p:nvSpPr>
            <p:spPr>
              <a:xfrm>
                <a:off x="5015946" y="3810444"/>
                <a:ext cx="835332" cy="384897"/>
              </a:xfrm>
              <a:prstGeom prst="ellipse">
                <a:avLst/>
              </a:prstGeom>
              <a:solidFill>
                <a:schemeClr val="accent2">
                  <a:lumMod val="20000"/>
                  <a:lumOff val="80000"/>
                </a:schemeClr>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rgbClr val="C00000"/>
                    </a:solidFill>
                    <a:latin typeface="Copperplate Gothic Light" pitchFamily="34" charset="0"/>
                  </a:rPr>
                  <a:t>b2</a:t>
                </a:r>
              </a:p>
            </p:txBody>
          </p:sp>
          <p:cxnSp>
            <p:nvCxnSpPr>
              <p:cNvPr id="18" name="Straight Connector 17"/>
              <p:cNvCxnSpPr/>
              <p:nvPr/>
            </p:nvCxnSpPr>
            <p:spPr>
              <a:xfrm rot="16200000" flipV="1">
                <a:off x="4011959" y="4103938"/>
                <a:ext cx="454664" cy="5396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7" idx="4"/>
              </p:cNvCxnSpPr>
              <p:nvPr/>
            </p:nvCxnSpPr>
            <p:spPr>
              <a:xfrm rot="5400000">
                <a:off x="4906297" y="4068018"/>
                <a:ext cx="399992" cy="65463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4" idx="1"/>
                <a:endCxn id="9" idx="3"/>
              </p:cNvCxnSpPr>
              <p:nvPr/>
            </p:nvCxnSpPr>
            <p:spPr>
              <a:xfrm rot="10800000">
                <a:off x="2199736" y="4895500"/>
                <a:ext cx="612956" cy="6108"/>
              </a:xfrm>
              <a:prstGeom prst="line">
                <a:avLst/>
              </a:prstGeom>
              <a:ln w="19050">
                <a:solidFill>
                  <a:srgbClr val="C00000"/>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endCxn id="24" idx="3"/>
              </p:cNvCxnSpPr>
              <p:nvPr/>
            </p:nvCxnSpPr>
            <p:spPr>
              <a:xfrm rot="10800000" flipV="1">
                <a:off x="3735074" y="4904443"/>
                <a:ext cx="449919" cy="2534"/>
              </a:xfrm>
              <a:prstGeom prst="line">
                <a:avLst/>
              </a:prstGeom>
              <a:ln w="19050">
                <a:solidFill>
                  <a:srgbClr val="C00000"/>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242867" y="4558837"/>
                <a:ext cx="293298" cy="417890"/>
              </a:xfrm>
              <a:prstGeom prst="rect">
                <a:avLst/>
              </a:prstGeom>
              <a:noFill/>
            </p:spPr>
            <p:txBody>
              <a:bodyPr wrap="square" rtlCol="0">
                <a:spAutoFit/>
              </a:bodyPr>
              <a:lstStyle/>
              <a:p>
                <a:r>
                  <a:rPr lang="en-US" dirty="0">
                    <a:solidFill>
                      <a:srgbClr val="FF0000"/>
                    </a:solidFill>
                    <a:latin typeface="Copperplate Gothic Light" pitchFamily="34" charset="0"/>
                  </a:rPr>
                  <a:t>m</a:t>
                </a:r>
              </a:p>
            </p:txBody>
          </p:sp>
          <p:sp>
            <p:nvSpPr>
              <p:cNvPr id="23" name="TextBox 22"/>
              <p:cNvSpPr txBox="1"/>
              <p:nvPr/>
            </p:nvSpPr>
            <p:spPr>
              <a:xfrm>
                <a:off x="3836284" y="4577751"/>
                <a:ext cx="293298" cy="369332"/>
              </a:xfrm>
              <a:prstGeom prst="rect">
                <a:avLst/>
              </a:prstGeom>
              <a:noFill/>
            </p:spPr>
            <p:txBody>
              <a:bodyPr wrap="square" rtlCol="0">
                <a:spAutoFit/>
              </a:bodyPr>
              <a:lstStyle/>
              <a:p>
                <a:r>
                  <a:rPr lang="en-US" dirty="0">
                    <a:solidFill>
                      <a:srgbClr val="FF0000"/>
                    </a:solidFill>
                    <a:latin typeface="Copperplate Gothic Light" pitchFamily="34" charset="0"/>
                  </a:rPr>
                  <a:t>m</a:t>
                </a:r>
              </a:p>
            </p:txBody>
          </p:sp>
        </p:grpSp>
      </p:grpSp>
      <p:sp>
        <p:nvSpPr>
          <p:cNvPr id="7" name="Slide Number Placeholder 6">
            <a:extLst>
              <a:ext uri="{FF2B5EF4-FFF2-40B4-BE49-F238E27FC236}">
                <a16:creationId xmlns:a16="http://schemas.microsoft.com/office/drawing/2014/main" id="{9899B6A5-8C42-7B17-9AC1-FE4200C18F9D}"/>
              </a:ext>
            </a:extLst>
          </p:cNvPr>
          <p:cNvSpPr>
            <a:spLocks noGrp="1"/>
          </p:cNvSpPr>
          <p:nvPr>
            <p:ph type="sldNum" sz="quarter" idx="12"/>
          </p:nvPr>
        </p:nvSpPr>
        <p:spPr/>
        <p:txBody>
          <a:bodyPr/>
          <a:lstStyle/>
          <a:p>
            <a:fld id="{AD7ED525-5088-40CF-8CE0-E4296ADF624B}" type="slidenum">
              <a:rPr lang="en-IN" smtClean="0"/>
              <a:pPr/>
              <a:t>20</a:t>
            </a:fld>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B86F907-EB49-C9AB-6D61-74527229D453}"/>
              </a:ext>
            </a:extLst>
          </p:cNvPr>
          <p:cNvSpPr>
            <a:spLocks noGrp="1"/>
          </p:cNvSpPr>
          <p:nvPr>
            <p:ph type="sldNum" sz="quarter" idx="12"/>
          </p:nvPr>
        </p:nvSpPr>
        <p:spPr/>
        <p:txBody>
          <a:bodyPr/>
          <a:lstStyle/>
          <a:p>
            <a:fld id="{30BB16E2-1063-4ECC-B0F4-DD6A8CC0C30D}" type="slidenum">
              <a:rPr lang="en-US" smtClean="0"/>
              <a:pPr/>
              <a:t>21</a:t>
            </a:fld>
            <a:endParaRPr lang="en-US"/>
          </a:p>
        </p:txBody>
      </p:sp>
      <p:pic>
        <p:nvPicPr>
          <p:cNvPr id="6" name="Picture 5">
            <a:extLst>
              <a:ext uri="{FF2B5EF4-FFF2-40B4-BE49-F238E27FC236}">
                <a16:creationId xmlns:a16="http://schemas.microsoft.com/office/drawing/2014/main" id="{A32C84EB-3828-30D3-696E-2A0CEF4074CE}"/>
              </a:ext>
            </a:extLst>
          </p:cNvPr>
          <p:cNvPicPr>
            <a:picLocks noChangeAspect="1"/>
          </p:cNvPicPr>
          <p:nvPr/>
        </p:nvPicPr>
        <p:blipFill>
          <a:blip r:embed="rId2"/>
          <a:stretch>
            <a:fillRect/>
          </a:stretch>
        </p:blipFill>
        <p:spPr>
          <a:xfrm>
            <a:off x="1881963" y="1360830"/>
            <a:ext cx="8000572" cy="3442555"/>
          </a:xfrm>
          <a:prstGeom prst="rect">
            <a:avLst/>
          </a:prstGeom>
        </p:spPr>
      </p:pic>
      <p:graphicFrame>
        <p:nvGraphicFramePr>
          <p:cNvPr id="8" name="Table 7">
            <a:extLst>
              <a:ext uri="{FF2B5EF4-FFF2-40B4-BE49-F238E27FC236}">
                <a16:creationId xmlns:a16="http://schemas.microsoft.com/office/drawing/2014/main" id="{3C14B5D1-DD35-154F-A264-4A48AD20558B}"/>
              </a:ext>
            </a:extLst>
          </p:cNvPr>
          <p:cNvGraphicFramePr>
            <a:graphicFrameLocks noGrp="1"/>
          </p:cNvGraphicFramePr>
          <p:nvPr>
            <p:extLst>
              <p:ext uri="{D42A27DB-BD31-4B8C-83A1-F6EECF244321}">
                <p14:modId xmlns:p14="http://schemas.microsoft.com/office/powerpoint/2010/main" val="3949636088"/>
              </p:ext>
            </p:extLst>
          </p:nvPr>
        </p:nvGraphicFramePr>
        <p:xfrm>
          <a:off x="923260" y="5188798"/>
          <a:ext cx="3691270" cy="787400"/>
        </p:xfrm>
        <a:graphic>
          <a:graphicData uri="http://schemas.openxmlformats.org/drawingml/2006/table">
            <a:tbl>
              <a:tblPr/>
              <a:tblGrid>
                <a:gridCol w="1845635">
                  <a:extLst>
                    <a:ext uri="{9D8B030D-6E8A-4147-A177-3AD203B41FA5}">
                      <a16:colId xmlns:a16="http://schemas.microsoft.com/office/drawing/2014/main" val="1173018377"/>
                    </a:ext>
                  </a:extLst>
                </a:gridCol>
                <a:gridCol w="1845635">
                  <a:extLst>
                    <a:ext uri="{9D8B030D-6E8A-4147-A177-3AD203B41FA5}">
                      <a16:colId xmlns:a16="http://schemas.microsoft.com/office/drawing/2014/main" val="2587664035"/>
                    </a:ext>
                  </a:extLst>
                </a:gridCol>
              </a:tblGrid>
              <a:tr h="499675">
                <a:tc>
                  <a:txBody>
                    <a:bodyPr/>
                    <a:lstStyle/>
                    <a:p>
                      <a:pPr algn="ctr" fontAlgn="ctr"/>
                      <a:r>
                        <a:rPr lang="en-IN" sz="2000" b="0" u="sng" dirty="0">
                          <a:effectLst/>
                        </a:rPr>
                        <a:t>E-Id</a:t>
                      </a:r>
                      <a:endParaRPr lang="en-IN" sz="2000" b="0" dirty="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000" b="0" dirty="0">
                          <a:effectLst/>
                        </a:rPr>
                        <a:t>Other Employee Attribute</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507779951"/>
                  </a:ext>
                </a:extLst>
              </a:tr>
            </a:tbl>
          </a:graphicData>
        </a:graphic>
      </p:graphicFrame>
      <p:graphicFrame>
        <p:nvGraphicFramePr>
          <p:cNvPr id="9" name="Table 8">
            <a:extLst>
              <a:ext uri="{FF2B5EF4-FFF2-40B4-BE49-F238E27FC236}">
                <a16:creationId xmlns:a16="http://schemas.microsoft.com/office/drawing/2014/main" id="{B4304C5B-96B9-FB7B-5E01-32829A8C944A}"/>
              </a:ext>
            </a:extLst>
          </p:cNvPr>
          <p:cNvGraphicFramePr>
            <a:graphicFrameLocks noGrp="1"/>
          </p:cNvGraphicFramePr>
          <p:nvPr>
            <p:extLst>
              <p:ext uri="{D42A27DB-BD31-4B8C-83A1-F6EECF244321}">
                <p14:modId xmlns:p14="http://schemas.microsoft.com/office/powerpoint/2010/main" val="2330003182"/>
              </p:ext>
            </p:extLst>
          </p:nvPr>
        </p:nvGraphicFramePr>
        <p:xfrm>
          <a:off x="5786770" y="5217770"/>
          <a:ext cx="5647659" cy="1092200"/>
        </p:xfrm>
        <a:graphic>
          <a:graphicData uri="http://schemas.openxmlformats.org/drawingml/2006/table">
            <a:tbl>
              <a:tblPr/>
              <a:tblGrid>
                <a:gridCol w="1882553">
                  <a:extLst>
                    <a:ext uri="{9D8B030D-6E8A-4147-A177-3AD203B41FA5}">
                      <a16:colId xmlns:a16="http://schemas.microsoft.com/office/drawing/2014/main" val="3388382114"/>
                    </a:ext>
                  </a:extLst>
                </a:gridCol>
                <a:gridCol w="1882553">
                  <a:extLst>
                    <a:ext uri="{9D8B030D-6E8A-4147-A177-3AD203B41FA5}">
                      <a16:colId xmlns:a16="http://schemas.microsoft.com/office/drawing/2014/main" val="999726516"/>
                    </a:ext>
                  </a:extLst>
                </a:gridCol>
                <a:gridCol w="1882553">
                  <a:extLst>
                    <a:ext uri="{9D8B030D-6E8A-4147-A177-3AD203B41FA5}">
                      <a16:colId xmlns:a16="http://schemas.microsoft.com/office/drawing/2014/main" val="3935991183"/>
                    </a:ext>
                  </a:extLst>
                </a:gridCol>
              </a:tblGrid>
              <a:tr h="0">
                <a:tc>
                  <a:txBody>
                    <a:bodyPr/>
                    <a:lstStyle/>
                    <a:p>
                      <a:pPr algn="ctr" fontAlgn="ctr"/>
                      <a:r>
                        <a:rPr lang="en-IN" sz="2000" b="0" u="sng" dirty="0">
                          <a:effectLst/>
                        </a:rPr>
                        <a:t>D-Name</a:t>
                      </a:r>
                      <a:endParaRPr lang="en-IN" sz="2000" b="0" dirty="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000" b="0" u="sng" dirty="0">
                          <a:effectLst/>
                        </a:rPr>
                        <a:t>E-Id</a:t>
                      </a:r>
                      <a:endParaRPr lang="en-IN" sz="2000" b="0" dirty="0">
                        <a:effectLst/>
                      </a:endParaRP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IN" sz="2000" b="0" dirty="0">
                          <a:effectLst/>
                        </a:rPr>
                        <a:t>Other Dependents Attribute</a:t>
                      </a:r>
                    </a:p>
                  </a:txBody>
                  <a:tcPr marL="63500" marR="63500" marT="88900" marB="889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03878764"/>
                  </a:ext>
                </a:extLst>
              </a:tr>
            </a:tbl>
          </a:graphicData>
        </a:graphic>
      </p:graphicFrame>
      <p:sp>
        <p:nvSpPr>
          <p:cNvPr id="13" name="TextBox 12">
            <a:extLst>
              <a:ext uri="{FF2B5EF4-FFF2-40B4-BE49-F238E27FC236}">
                <a16:creationId xmlns:a16="http://schemas.microsoft.com/office/drawing/2014/main" id="{7035B253-5BA8-F86E-71BE-899570AD2DC8}"/>
              </a:ext>
            </a:extLst>
          </p:cNvPr>
          <p:cNvSpPr txBox="1"/>
          <p:nvPr/>
        </p:nvSpPr>
        <p:spPr>
          <a:xfrm>
            <a:off x="374584" y="426061"/>
            <a:ext cx="6097772" cy="369332"/>
          </a:xfrm>
          <a:prstGeom prst="rect">
            <a:avLst/>
          </a:prstGeom>
          <a:noFill/>
        </p:spPr>
        <p:txBody>
          <a:bodyPr wrap="square">
            <a:spAutoFit/>
          </a:bodyPr>
          <a:lstStyle/>
          <a:p>
            <a:pPr marL="228600" lvl="1">
              <a:spcBef>
                <a:spcPts val="1000"/>
              </a:spcBef>
              <a:buNone/>
            </a:pPr>
            <a:r>
              <a:rPr lang="en-US" dirty="0">
                <a:solidFill>
                  <a:srgbClr val="C00000"/>
                </a:solidFill>
                <a:latin typeface="Copperplate Gothic Light" pitchFamily="34" charset="0"/>
              </a:rPr>
              <a:t>Binary Relationship With Weak Entity Set</a:t>
            </a:r>
          </a:p>
        </p:txBody>
      </p:sp>
    </p:spTree>
    <p:extLst>
      <p:ext uri="{BB962C8B-B14F-4D97-AF65-F5344CB8AC3E}">
        <p14:creationId xmlns:p14="http://schemas.microsoft.com/office/powerpoint/2010/main" val="19622986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048" y="986896"/>
            <a:ext cx="10899423" cy="5139270"/>
          </a:xfrm>
        </p:spPr>
        <p:txBody>
          <a:bodyPr>
            <a:normAutofit lnSpcReduction="10000"/>
          </a:bodyPr>
          <a:lstStyle/>
          <a:p>
            <a:pPr>
              <a:buNone/>
            </a:pPr>
            <a:r>
              <a:rPr lang="en-US" sz="2735" dirty="0">
                <a:solidFill>
                  <a:srgbClr val="C00000"/>
                </a:solidFill>
                <a:latin typeface="Copperplate Gothic Light" pitchFamily="34" charset="0"/>
              </a:rPr>
              <a:t>Pitfalls in Relational Database</a:t>
            </a:r>
          </a:p>
          <a:p>
            <a:pPr algn="just">
              <a:buClr>
                <a:srgbClr val="C00000"/>
              </a:buClr>
              <a:buFont typeface="Wingdings" pitchFamily="2" charset="2"/>
              <a:buChar char="ü"/>
            </a:pPr>
            <a:r>
              <a:rPr lang="en-US" sz="2735" dirty="0">
                <a:solidFill>
                  <a:srgbClr val="213AF1"/>
                </a:solidFill>
                <a:latin typeface="Bookman Old Style" pitchFamily="18" charset="0"/>
              </a:rPr>
              <a:t>Relational database design requires that we find a “good” collection of relation schemas. </a:t>
            </a:r>
          </a:p>
          <a:p>
            <a:pPr algn="just">
              <a:buClr>
                <a:srgbClr val="C00000"/>
              </a:buClr>
              <a:buFont typeface="Wingdings" pitchFamily="2" charset="2"/>
              <a:buChar char="ü"/>
            </a:pPr>
            <a:r>
              <a:rPr lang="en-US" sz="2735" dirty="0">
                <a:solidFill>
                  <a:srgbClr val="213AF1"/>
                </a:solidFill>
                <a:latin typeface="Bookman Old Style" pitchFamily="18" charset="0"/>
              </a:rPr>
              <a:t>A bad design may lead to </a:t>
            </a:r>
          </a:p>
          <a:p>
            <a:pPr lvl="1" algn="just">
              <a:buClr>
                <a:srgbClr val="C00000"/>
              </a:buClr>
              <a:buFont typeface="Arial" pitchFamily="34" charset="0"/>
              <a:buChar char="•"/>
            </a:pPr>
            <a:r>
              <a:rPr lang="en-US" sz="2735" dirty="0">
                <a:solidFill>
                  <a:srgbClr val="213AF1"/>
                </a:solidFill>
                <a:latin typeface="Bookman Old Style" pitchFamily="18" charset="0"/>
              </a:rPr>
              <a:t>Repetition of information. </a:t>
            </a:r>
          </a:p>
          <a:p>
            <a:pPr lvl="1" algn="just">
              <a:buClr>
                <a:srgbClr val="C00000"/>
              </a:buClr>
              <a:buFont typeface="Arial" pitchFamily="34" charset="0"/>
              <a:buChar char="•"/>
            </a:pPr>
            <a:r>
              <a:rPr lang="en-US" sz="2735" dirty="0">
                <a:solidFill>
                  <a:srgbClr val="213AF1"/>
                </a:solidFill>
                <a:latin typeface="Bookman Old Style" pitchFamily="18" charset="0"/>
              </a:rPr>
              <a:t>Inability to represent certain information. </a:t>
            </a:r>
          </a:p>
          <a:p>
            <a:pPr algn="just">
              <a:buClr>
                <a:srgbClr val="C00000"/>
              </a:buClr>
              <a:buFont typeface="Wingdings" pitchFamily="2" charset="2"/>
              <a:buChar char="ü"/>
            </a:pPr>
            <a:r>
              <a:rPr lang="en-US" sz="2735" dirty="0">
                <a:solidFill>
                  <a:srgbClr val="213AF1"/>
                </a:solidFill>
                <a:latin typeface="Bookman Old Style" pitchFamily="18" charset="0"/>
              </a:rPr>
              <a:t>Design Goals: </a:t>
            </a:r>
          </a:p>
          <a:p>
            <a:pPr lvl="1" algn="just">
              <a:buClr>
                <a:srgbClr val="C00000"/>
              </a:buClr>
              <a:buFont typeface="Arial" pitchFamily="34" charset="0"/>
              <a:buChar char="•"/>
            </a:pPr>
            <a:r>
              <a:rPr lang="en-US" sz="2735" dirty="0">
                <a:solidFill>
                  <a:srgbClr val="213AF1"/>
                </a:solidFill>
                <a:latin typeface="Bookman Old Style" pitchFamily="18" charset="0"/>
              </a:rPr>
              <a:t>Avoid redundant data </a:t>
            </a:r>
          </a:p>
          <a:p>
            <a:pPr lvl="1" algn="just">
              <a:buClr>
                <a:srgbClr val="C00000"/>
              </a:buClr>
              <a:buFont typeface="Arial" pitchFamily="34" charset="0"/>
              <a:buChar char="•"/>
            </a:pPr>
            <a:r>
              <a:rPr lang="en-US" sz="2735" dirty="0">
                <a:solidFill>
                  <a:srgbClr val="213AF1"/>
                </a:solidFill>
                <a:latin typeface="Bookman Old Style" pitchFamily="18" charset="0"/>
              </a:rPr>
              <a:t>Ensure that relationships among attributes are represented </a:t>
            </a:r>
          </a:p>
          <a:p>
            <a:pPr lvl="1" algn="just">
              <a:buClr>
                <a:srgbClr val="C00000"/>
              </a:buClr>
              <a:buFont typeface="Arial" pitchFamily="34" charset="0"/>
              <a:buChar char="•"/>
            </a:pPr>
            <a:r>
              <a:rPr lang="en-US" sz="2735" dirty="0">
                <a:solidFill>
                  <a:srgbClr val="213AF1"/>
                </a:solidFill>
                <a:latin typeface="Bookman Old Style" pitchFamily="18" charset="0"/>
              </a:rPr>
              <a:t>Facilitate the checking of updates for violation of database integrity constraints</a:t>
            </a:r>
          </a:p>
          <a:p>
            <a:pPr>
              <a:buClr>
                <a:srgbClr val="C00000"/>
              </a:buClr>
              <a:buFont typeface="Wingdings" pitchFamily="2" charset="2"/>
              <a:buChar char="ü"/>
            </a:pPr>
            <a:endParaRPr lang="en-US" dirty="0"/>
          </a:p>
        </p:txBody>
      </p:sp>
      <p:sp>
        <p:nvSpPr>
          <p:cNvPr id="7" name="Title 1"/>
          <p:cNvSpPr>
            <a:spLocks noGrp="1"/>
          </p:cNvSpPr>
          <p:nvPr>
            <p:ph type="title"/>
          </p:nvPr>
        </p:nvSpPr>
        <p:spPr>
          <a:xfrm>
            <a:off x="187701" y="0"/>
            <a:ext cx="10722733" cy="777573"/>
          </a:xfrm>
        </p:spPr>
        <p:txBody>
          <a:bodyPr>
            <a:noAutofit/>
          </a:bodyPr>
          <a:lstStyle/>
          <a:p>
            <a:pPr algn="l"/>
            <a:r>
              <a:rPr lang="en-US" sz="2735" dirty="0">
                <a:solidFill>
                  <a:srgbClr val="FF0000"/>
                </a:solidFill>
                <a:latin typeface="Copperplate Gothic Light" pitchFamily="34" charset="0"/>
              </a:rPr>
              <a:t> Pitfalls in Relational database			</a:t>
            </a:r>
            <a:endParaRPr lang="en-US" sz="2539" dirty="0">
              <a:solidFill>
                <a:srgbClr val="FF0000"/>
              </a:solidFill>
              <a:latin typeface="Copperplate Gothic Light" pitchFamily="34" charset="0"/>
            </a:endParaRPr>
          </a:p>
        </p:txBody>
      </p:sp>
      <p:sp>
        <p:nvSpPr>
          <p:cNvPr id="2" name="Slide Number Placeholder 1">
            <a:extLst>
              <a:ext uri="{FF2B5EF4-FFF2-40B4-BE49-F238E27FC236}">
                <a16:creationId xmlns:a16="http://schemas.microsoft.com/office/drawing/2014/main" id="{CEE0AC40-6892-9760-42DD-AA69965424F2}"/>
              </a:ext>
            </a:extLst>
          </p:cNvPr>
          <p:cNvSpPr>
            <a:spLocks noGrp="1"/>
          </p:cNvSpPr>
          <p:nvPr>
            <p:ph type="sldNum" sz="quarter" idx="12"/>
          </p:nvPr>
        </p:nvSpPr>
        <p:spPr/>
        <p:txBody>
          <a:bodyPr/>
          <a:lstStyle/>
          <a:p>
            <a:fld id="{30BB16E2-1063-4ECC-B0F4-DD6A8CC0C30D}"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048" y="1126445"/>
            <a:ext cx="10899423" cy="4999722"/>
          </a:xfrm>
        </p:spPr>
        <p:txBody>
          <a:bodyPr>
            <a:normAutofit/>
          </a:bodyPr>
          <a:lstStyle/>
          <a:p>
            <a:pPr>
              <a:buNone/>
            </a:pPr>
            <a:r>
              <a:rPr lang="en-US" sz="2735" dirty="0">
                <a:solidFill>
                  <a:srgbClr val="C00000"/>
                </a:solidFill>
                <a:latin typeface="Copperplate Gothic Light" pitchFamily="34" charset="0"/>
              </a:rPr>
              <a:t>Example </a:t>
            </a:r>
          </a:p>
          <a:p>
            <a:pPr>
              <a:buClr>
                <a:srgbClr val="C00000"/>
              </a:buClr>
              <a:buFont typeface="Wingdings" pitchFamily="2" charset="2"/>
              <a:buChar char="ü"/>
            </a:pPr>
            <a:r>
              <a:rPr lang="en-US" sz="2442" dirty="0">
                <a:solidFill>
                  <a:srgbClr val="213AF1"/>
                </a:solidFill>
                <a:latin typeface="Bookman Old Style" pitchFamily="18" charset="0"/>
              </a:rPr>
              <a:t>Consider the relation schema:</a:t>
            </a:r>
          </a:p>
          <a:p>
            <a:pPr>
              <a:buClr>
                <a:srgbClr val="C00000"/>
              </a:buClr>
              <a:buNone/>
            </a:pPr>
            <a:r>
              <a:rPr lang="en-US" sz="2442" dirty="0">
                <a:solidFill>
                  <a:srgbClr val="213AF1"/>
                </a:solidFill>
                <a:latin typeface="Bookman Old Style" pitchFamily="18" charset="0"/>
              </a:rPr>
              <a:t>	Lending-schema = (</a:t>
            </a:r>
            <a:r>
              <a:rPr lang="en-US" sz="2442" dirty="0" err="1">
                <a:solidFill>
                  <a:srgbClr val="213AF1"/>
                </a:solidFill>
                <a:latin typeface="Bookman Old Style" pitchFamily="18" charset="0"/>
              </a:rPr>
              <a:t>branch_name</a:t>
            </a:r>
            <a:r>
              <a:rPr lang="en-US" sz="2442" dirty="0">
                <a:solidFill>
                  <a:srgbClr val="213AF1"/>
                </a:solidFill>
                <a:latin typeface="Bookman Old Style" pitchFamily="18" charset="0"/>
              </a:rPr>
              <a:t>, </a:t>
            </a:r>
            <a:r>
              <a:rPr lang="en-US" sz="2442" dirty="0" err="1">
                <a:solidFill>
                  <a:srgbClr val="213AF1"/>
                </a:solidFill>
                <a:latin typeface="Bookman Old Style" pitchFamily="18" charset="0"/>
              </a:rPr>
              <a:t>branch_city</a:t>
            </a:r>
            <a:r>
              <a:rPr lang="en-US" sz="2442" dirty="0">
                <a:solidFill>
                  <a:srgbClr val="213AF1"/>
                </a:solidFill>
                <a:latin typeface="Bookman Old Style" pitchFamily="18" charset="0"/>
              </a:rPr>
              <a:t>, assets, </a:t>
            </a:r>
          </a:p>
          <a:p>
            <a:pPr>
              <a:buClr>
                <a:srgbClr val="C00000"/>
              </a:buClr>
              <a:buNone/>
            </a:pPr>
            <a:r>
              <a:rPr lang="en-US" sz="2442" dirty="0">
                <a:solidFill>
                  <a:srgbClr val="213AF1"/>
                </a:solidFill>
                <a:latin typeface="Bookman Old Style" pitchFamily="18" charset="0"/>
              </a:rPr>
              <a:t>				    </a:t>
            </a:r>
            <a:r>
              <a:rPr lang="en-US" sz="2442" dirty="0" err="1">
                <a:solidFill>
                  <a:srgbClr val="213AF1"/>
                </a:solidFill>
                <a:latin typeface="Bookman Old Style" pitchFamily="18" charset="0"/>
              </a:rPr>
              <a:t>customer_name</a:t>
            </a:r>
            <a:r>
              <a:rPr lang="en-US" sz="2442" dirty="0">
                <a:solidFill>
                  <a:srgbClr val="213AF1"/>
                </a:solidFill>
                <a:latin typeface="Bookman Old Style" pitchFamily="18" charset="0"/>
              </a:rPr>
              <a:t>, </a:t>
            </a:r>
            <a:r>
              <a:rPr lang="en-US" sz="2442" dirty="0" err="1">
                <a:solidFill>
                  <a:srgbClr val="213AF1"/>
                </a:solidFill>
                <a:latin typeface="Bookman Old Style" pitchFamily="18" charset="0"/>
              </a:rPr>
              <a:t>loan_number</a:t>
            </a:r>
            <a:r>
              <a:rPr lang="en-US" sz="2442" dirty="0">
                <a:solidFill>
                  <a:srgbClr val="213AF1"/>
                </a:solidFill>
                <a:latin typeface="Bookman Old Style" pitchFamily="18" charset="0"/>
              </a:rPr>
              <a:t>, amount)</a:t>
            </a:r>
          </a:p>
          <a:p>
            <a:pPr>
              <a:buClr>
                <a:srgbClr val="C00000"/>
              </a:buClr>
              <a:buFont typeface="Wingdings" pitchFamily="2" charset="2"/>
              <a:buChar char="ü"/>
            </a:pPr>
            <a:r>
              <a:rPr lang="en-US" sz="2442" dirty="0">
                <a:solidFill>
                  <a:srgbClr val="213AF1"/>
                </a:solidFill>
                <a:latin typeface="Bookman Old Style" pitchFamily="18" charset="0"/>
              </a:rPr>
              <a:t>Redundancy: </a:t>
            </a:r>
          </a:p>
          <a:p>
            <a:pPr lvl="1">
              <a:buClr>
                <a:srgbClr val="C00000"/>
              </a:buClr>
              <a:buFont typeface="Arial" pitchFamily="34" charset="0"/>
              <a:buChar char="•"/>
            </a:pPr>
            <a:r>
              <a:rPr lang="en-US" sz="2442" dirty="0">
                <a:solidFill>
                  <a:srgbClr val="213AF1"/>
                </a:solidFill>
                <a:latin typeface="Bookman Old Style" pitchFamily="18" charset="0"/>
              </a:rPr>
              <a:t>Data for branch-name, branch-city, assets are repeated for each loan that a branch makes </a:t>
            </a:r>
          </a:p>
          <a:p>
            <a:pPr lvl="1">
              <a:buClr>
                <a:srgbClr val="C00000"/>
              </a:buClr>
              <a:buFont typeface="Arial" pitchFamily="34" charset="0"/>
              <a:buChar char="•"/>
            </a:pPr>
            <a:r>
              <a:rPr lang="en-US" sz="2442" dirty="0">
                <a:solidFill>
                  <a:srgbClr val="213AF1"/>
                </a:solidFill>
                <a:latin typeface="Bookman Old Style" pitchFamily="18" charset="0"/>
              </a:rPr>
              <a:t>Wastes space and complicates updating </a:t>
            </a:r>
          </a:p>
          <a:p>
            <a:pPr>
              <a:buClr>
                <a:srgbClr val="C00000"/>
              </a:buClr>
              <a:buFont typeface="Wingdings" pitchFamily="2" charset="2"/>
              <a:buChar char="ü"/>
            </a:pPr>
            <a:r>
              <a:rPr lang="en-US" sz="2442" dirty="0">
                <a:solidFill>
                  <a:srgbClr val="213AF1"/>
                </a:solidFill>
                <a:latin typeface="Bookman Old Style" pitchFamily="18" charset="0"/>
              </a:rPr>
              <a:t> Null values </a:t>
            </a:r>
          </a:p>
          <a:p>
            <a:pPr lvl="1">
              <a:buClr>
                <a:srgbClr val="C00000"/>
              </a:buClr>
              <a:buFont typeface="Arial" pitchFamily="34" charset="0"/>
              <a:buChar char="•"/>
            </a:pPr>
            <a:r>
              <a:rPr lang="en-US" sz="2442" dirty="0">
                <a:solidFill>
                  <a:srgbClr val="213AF1"/>
                </a:solidFill>
                <a:latin typeface="Bookman Old Style" pitchFamily="18" charset="0"/>
              </a:rPr>
              <a:t>Cannot store information about a branch if no loans exist </a:t>
            </a:r>
          </a:p>
          <a:p>
            <a:pPr lvl="1">
              <a:buClr>
                <a:srgbClr val="C00000"/>
              </a:buClr>
              <a:buFont typeface="Arial" pitchFamily="34" charset="0"/>
              <a:buChar char="•"/>
            </a:pPr>
            <a:r>
              <a:rPr lang="en-US" sz="2442" dirty="0">
                <a:solidFill>
                  <a:srgbClr val="213AF1"/>
                </a:solidFill>
                <a:latin typeface="Bookman Old Style" pitchFamily="18" charset="0"/>
              </a:rPr>
              <a:t>Can use null values, but they are difficult to handle</a:t>
            </a:r>
          </a:p>
        </p:txBody>
      </p:sp>
      <p:sp>
        <p:nvSpPr>
          <p:cNvPr id="7" name="Title 1"/>
          <p:cNvSpPr txBox="1">
            <a:spLocks/>
          </p:cNvSpPr>
          <p:nvPr/>
        </p:nvSpPr>
        <p:spPr>
          <a:xfrm>
            <a:off x="187701" y="0"/>
            <a:ext cx="10722733" cy="777573"/>
          </a:xfrm>
          <a:prstGeom prst="rect">
            <a:avLst/>
          </a:prstGeom>
        </p:spPr>
        <p:txBody>
          <a:bodyPr vert="horz" lIns="100805" tIns="50402" rIns="100805" bIns="50402" rtlCol="0" anchor="ctr">
            <a:noAutofit/>
          </a:bodyPr>
          <a:lstStyle/>
          <a:p>
            <a:pPr defTabSz="1008035">
              <a:spcBef>
                <a:spcPct val="0"/>
              </a:spcBef>
              <a:defRPr/>
            </a:pPr>
            <a:r>
              <a:rPr lang="en-US" sz="2735" dirty="0">
                <a:solidFill>
                  <a:srgbClr val="FF0000"/>
                </a:solidFill>
                <a:latin typeface="Copperplate Gothic Light" pitchFamily="34" charset="0"/>
                <a:ea typeface="+mj-ea"/>
                <a:cs typeface="+mj-cs"/>
              </a:rPr>
              <a:t>Pitfalls in Relational database			</a:t>
            </a:r>
            <a:endParaRPr lang="en-US" sz="2539" dirty="0">
              <a:solidFill>
                <a:srgbClr val="FF0000"/>
              </a:solidFill>
              <a:latin typeface="Copperplate Gothic Light" pitchFamily="34" charset="0"/>
              <a:ea typeface="+mj-ea"/>
              <a:cs typeface="+mj-cs"/>
            </a:endParaRPr>
          </a:p>
        </p:txBody>
      </p:sp>
      <p:sp>
        <p:nvSpPr>
          <p:cNvPr id="2" name="Slide Number Placeholder 1">
            <a:extLst>
              <a:ext uri="{FF2B5EF4-FFF2-40B4-BE49-F238E27FC236}">
                <a16:creationId xmlns:a16="http://schemas.microsoft.com/office/drawing/2014/main" id="{4E7E37FE-7E06-6D50-DED4-BDDED32B2D36}"/>
              </a:ext>
            </a:extLst>
          </p:cNvPr>
          <p:cNvSpPr>
            <a:spLocks noGrp="1"/>
          </p:cNvSpPr>
          <p:nvPr>
            <p:ph type="sldNum" sz="quarter" idx="12"/>
          </p:nvPr>
        </p:nvSpPr>
        <p:spPr/>
        <p:txBody>
          <a:bodyPr/>
          <a:lstStyle/>
          <a:p>
            <a:fld id="{30BB16E2-1063-4ECC-B0F4-DD6A8CC0C30D}" type="slidenum">
              <a:rPr lang="en-US" smtClean="0"/>
              <a:pPr/>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274" y="777573"/>
            <a:ext cx="10969197" cy="5651726"/>
          </a:xfrm>
        </p:spPr>
        <p:txBody>
          <a:bodyPr>
            <a:normAutofit lnSpcReduction="10000"/>
          </a:bodyPr>
          <a:lstStyle/>
          <a:p>
            <a:pPr>
              <a:buNone/>
            </a:pPr>
            <a:r>
              <a:rPr lang="en-US" sz="2539" dirty="0">
                <a:solidFill>
                  <a:srgbClr val="C00000"/>
                </a:solidFill>
                <a:latin typeface="Copperplate Gothic Light" pitchFamily="34" charset="0"/>
              </a:rPr>
              <a:t>Decomposition</a:t>
            </a:r>
          </a:p>
          <a:p>
            <a:pPr>
              <a:buClr>
                <a:srgbClr val="C00000"/>
              </a:buClr>
              <a:buFont typeface="Wingdings" pitchFamily="2" charset="2"/>
              <a:buChar char="ü"/>
            </a:pPr>
            <a:endParaRPr lang="en-US" sz="2442" dirty="0">
              <a:solidFill>
                <a:srgbClr val="213AF1"/>
              </a:solidFill>
              <a:latin typeface="Bookman Old Style" pitchFamily="18" charset="0"/>
            </a:endParaRPr>
          </a:p>
          <a:p>
            <a:pPr>
              <a:buClr>
                <a:srgbClr val="C00000"/>
              </a:buClr>
              <a:buFont typeface="Wingdings" pitchFamily="2" charset="2"/>
              <a:buChar char="ü"/>
            </a:pPr>
            <a:r>
              <a:rPr lang="en-US" sz="2442" dirty="0">
                <a:solidFill>
                  <a:srgbClr val="213AF1"/>
                </a:solidFill>
                <a:latin typeface="Bookman Old Style" pitchFamily="18" charset="0"/>
              </a:rPr>
              <a:t>Repetition of information will lead to many issues, that type of schema is a bad design. To avoid such issues the designed schema is decomposed into two or more schemas.</a:t>
            </a:r>
          </a:p>
          <a:p>
            <a:pPr>
              <a:buClr>
                <a:srgbClr val="C00000"/>
              </a:buClr>
              <a:buFont typeface="Wingdings" pitchFamily="2" charset="2"/>
              <a:buChar char="ü"/>
            </a:pPr>
            <a:endParaRPr lang="en-US" sz="2442" dirty="0">
              <a:solidFill>
                <a:srgbClr val="213AF1"/>
              </a:solidFill>
              <a:latin typeface="Bookman Old Style" pitchFamily="18" charset="0"/>
            </a:endParaRPr>
          </a:p>
          <a:p>
            <a:pPr>
              <a:buClr>
                <a:srgbClr val="C00000"/>
              </a:buClr>
              <a:buFont typeface="Wingdings" pitchFamily="2" charset="2"/>
              <a:buChar char="ü"/>
            </a:pPr>
            <a:r>
              <a:rPr lang="en-US" sz="2442" dirty="0">
                <a:solidFill>
                  <a:srgbClr val="213AF1"/>
                </a:solidFill>
                <a:latin typeface="Bookman Old Style" pitchFamily="18" charset="0"/>
              </a:rPr>
              <a:t>Consider the schema : </a:t>
            </a:r>
            <a:r>
              <a:rPr lang="en-US" sz="2442" dirty="0" err="1">
                <a:solidFill>
                  <a:srgbClr val="213AF1"/>
                </a:solidFill>
                <a:latin typeface="Bookman Old Style" pitchFamily="18" charset="0"/>
              </a:rPr>
              <a:t>Lending_schema</a:t>
            </a:r>
            <a:endParaRPr lang="en-US" sz="2442" dirty="0">
              <a:solidFill>
                <a:srgbClr val="213AF1"/>
              </a:solidFill>
              <a:latin typeface="Bookman Old Style" pitchFamily="18" charset="0"/>
            </a:endParaRPr>
          </a:p>
          <a:p>
            <a:pPr>
              <a:buClr>
                <a:srgbClr val="C00000"/>
              </a:buClr>
              <a:buFont typeface="Wingdings" pitchFamily="2" charset="2"/>
              <a:buChar char="ü"/>
            </a:pPr>
            <a:endParaRPr lang="en-US" sz="2442" dirty="0">
              <a:solidFill>
                <a:srgbClr val="213AF1"/>
              </a:solidFill>
              <a:latin typeface="Bookman Old Style" pitchFamily="18" charset="0"/>
            </a:endParaRPr>
          </a:p>
          <a:p>
            <a:pPr>
              <a:buClr>
                <a:srgbClr val="C00000"/>
              </a:buClr>
              <a:buFont typeface="Wingdings" pitchFamily="2" charset="2"/>
              <a:buChar char="ü"/>
            </a:pPr>
            <a:r>
              <a:rPr lang="en-US" sz="2442" dirty="0" err="1">
                <a:solidFill>
                  <a:srgbClr val="213AF1"/>
                </a:solidFill>
                <a:latin typeface="Bookman Old Style" pitchFamily="18" charset="0"/>
              </a:rPr>
              <a:t>Lending_schema</a:t>
            </a:r>
            <a:r>
              <a:rPr lang="en-US" sz="2442" dirty="0">
                <a:solidFill>
                  <a:srgbClr val="213AF1"/>
                </a:solidFill>
                <a:latin typeface="Bookman Old Style" pitchFamily="18" charset="0"/>
              </a:rPr>
              <a:t> is decomposed into two schemas as given below</a:t>
            </a:r>
          </a:p>
          <a:p>
            <a:pPr lvl="1">
              <a:buClr>
                <a:srgbClr val="C00000"/>
              </a:buClr>
              <a:buFont typeface="Arial" pitchFamily="34" charset="0"/>
              <a:buChar char="•"/>
            </a:pPr>
            <a:endParaRPr lang="en-US" sz="2442" dirty="0">
              <a:solidFill>
                <a:srgbClr val="213AF1"/>
              </a:solidFill>
              <a:latin typeface="Bookman Old Style" pitchFamily="18" charset="0"/>
            </a:endParaRPr>
          </a:p>
          <a:p>
            <a:pPr lvl="1">
              <a:buClr>
                <a:srgbClr val="C00000"/>
              </a:buClr>
              <a:buFont typeface="Arial" pitchFamily="34" charset="0"/>
              <a:buChar char="•"/>
            </a:pPr>
            <a:r>
              <a:rPr lang="en-US" sz="2442" dirty="0">
                <a:solidFill>
                  <a:srgbClr val="213AF1"/>
                </a:solidFill>
                <a:latin typeface="Bookman Old Style" pitchFamily="18" charset="0"/>
              </a:rPr>
              <a:t>Branch-customer-schema = (</a:t>
            </a:r>
            <a:r>
              <a:rPr lang="en-US" sz="2442" dirty="0" err="1">
                <a:solidFill>
                  <a:srgbClr val="213AF1"/>
                </a:solidFill>
                <a:latin typeface="Bookman Old Style" pitchFamily="18" charset="0"/>
              </a:rPr>
              <a:t>branch_name</a:t>
            </a:r>
            <a:r>
              <a:rPr lang="en-US" sz="2442" dirty="0">
                <a:solidFill>
                  <a:srgbClr val="213AF1"/>
                </a:solidFill>
                <a:latin typeface="Bookman Old Style" pitchFamily="18" charset="0"/>
              </a:rPr>
              <a:t>, </a:t>
            </a:r>
            <a:r>
              <a:rPr lang="en-US" sz="2442" dirty="0" err="1">
                <a:solidFill>
                  <a:srgbClr val="213AF1"/>
                </a:solidFill>
                <a:latin typeface="Bookman Old Style" pitchFamily="18" charset="0"/>
              </a:rPr>
              <a:t>branch_city</a:t>
            </a:r>
            <a:r>
              <a:rPr lang="en-US" sz="2442" dirty="0">
                <a:solidFill>
                  <a:srgbClr val="213AF1"/>
                </a:solidFill>
                <a:latin typeface="Bookman Old Style" pitchFamily="18" charset="0"/>
              </a:rPr>
              <a:t>, assets, 					  </a:t>
            </a:r>
            <a:r>
              <a:rPr lang="en-US" sz="2442" dirty="0" err="1">
                <a:solidFill>
                  <a:srgbClr val="213AF1"/>
                </a:solidFill>
                <a:latin typeface="Bookman Old Style" pitchFamily="18" charset="0"/>
              </a:rPr>
              <a:t>customer_name</a:t>
            </a:r>
            <a:r>
              <a:rPr lang="en-US" sz="2442" dirty="0">
                <a:solidFill>
                  <a:srgbClr val="213AF1"/>
                </a:solidFill>
                <a:latin typeface="Bookman Old Style" pitchFamily="18" charset="0"/>
              </a:rPr>
              <a:t>) </a:t>
            </a:r>
          </a:p>
          <a:p>
            <a:pPr lvl="1">
              <a:buClr>
                <a:srgbClr val="C00000"/>
              </a:buClr>
              <a:buFont typeface="Arial" pitchFamily="34" charset="0"/>
              <a:buChar char="•"/>
            </a:pPr>
            <a:r>
              <a:rPr lang="en-US" sz="2442" dirty="0">
                <a:solidFill>
                  <a:srgbClr val="213AF1"/>
                </a:solidFill>
                <a:latin typeface="Bookman Old Style" pitchFamily="18" charset="0"/>
              </a:rPr>
              <a:t>Customer-loan-schema = (</a:t>
            </a:r>
            <a:r>
              <a:rPr lang="en-US" sz="2442" dirty="0" err="1">
                <a:solidFill>
                  <a:srgbClr val="213AF1"/>
                </a:solidFill>
                <a:latin typeface="Bookman Old Style" pitchFamily="18" charset="0"/>
              </a:rPr>
              <a:t>customer_name</a:t>
            </a:r>
            <a:r>
              <a:rPr lang="en-US" sz="2442" dirty="0">
                <a:solidFill>
                  <a:srgbClr val="213AF1"/>
                </a:solidFill>
                <a:latin typeface="Bookman Old Style" pitchFamily="18" charset="0"/>
              </a:rPr>
              <a:t>, </a:t>
            </a:r>
            <a:r>
              <a:rPr lang="en-US" sz="2442" dirty="0" err="1">
                <a:solidFill>
                  <a:srgbClr val="213AF1"/>
                </a:solidFill>
                <a:latin typeface="Bookman Old Style" pitchFamily="18" charset="0"/>
              </a:rPr>
              <a:t>loan_number</a:t>
            </a:r>
            <a:r>
              <a:rPr lang="en-US" sz="2442" dirty="0">
                <a:solidFill>
                  <a:srgbClr val="213AF1"/>
                </a:solidFill>
                <a:latin typeface="Bookman Old Style" pitchFamily="18" charset="0"/>
              </a:rPr>
              <a:t>, 					        amount)</a:t>
            </a:r>
          </a:p>
        </p:txBody>
      </p:sp>
      <p:sp>
        <p:nvSpPr>
          <p:cNvPr id="7" name="Title 1"/>
          <p:cNvSpPr txBox="1">
            <a:spLocks/>
          </p:cNvSpPr>
          <p:nvPr/>
        </p:nvSpPr>
        <p:spPr>
          <a:xfrm>
            <a:off x="187701" y="0"/>
            <a:ext cx="10722733" cy="777573"/>
          </a:xfrm>
          <a:prstGeom prst="rect">
            <a:avLst/>
          </a:prstGeom>
        </p:spPr>
        <p:txBody>
          <a:bodyPr vert="horz" lIns="100805" tIns="50402" rIns="100805" bIns="50402" rtlCol="0" anchor="ctr">
            <a:noAutofit/>
          </a:bodyPr>
          <a:lstStyle/>
          <a:p>
            <a:pPr defTabSz="1008035">
              <a:spcBef>
                <a:spcPct val="0"/>
              </a:spcBef>
              <a:defRPr/>
            </a:pPr>
            <a:r>
              <a:rPr lang="en-US" sz="2735" dirty="0">
                <a:solidFill>
                  <a:srgbClr val="FF0000"/>
                </a:solidFill>
                <a:latin typeface="Copperplate Gothic Light" pitchFamily="34" charset="0"/>
                <a:ea typeface="+mj-ea"/>
                <a:cs typeface="+mj-cs"/>
              </a:rPr>
              <a:t>Pitfalls in Relational database, 				    Decomposing bad schema</a:t>
            </a:r>
            <a:endParaRPr lang="en-US" sz="2539" dirty="0">
              <a:solidFill>
                <a:srgbClr val="FF0000"/>
              </a:solidFill>
              <a:latin typeface="Copperplate Gothic Light" pitchFamily="34" charset="0"/>
              <a:ea typeface="+mj-ea"/>
              <a:cs typeface="+mj-cs"/>
            </a:endParaRPr>
          </a:p>
        </p:txBody>
      </p:sp>
      <p:sp>
        <p:nvSpPr>
          <p:cNvPr id="2" name="Slide Number Placeholder 1">
            <a:extLst>
              <a:ext uri="{FF2B5EF4-FFF2-40B4-BE49-F238E27FC236}">
                <a16:creationId xmlns:a16="http://schemas.microsoft.com/office/drawing/2014/main" id="{A70737D3-C84A-5715-D6E7-39C0676FD3FA}"/>
              </a:ext>
            </a:extLst>
          </p:cNvPr>
          <p:cNvSpPr>
            <a:spLocks noGrp="1"/>
          </p:cNvSpPr>
          <p:nvPr>
            <p:ph type="sldNum" sz="quarter" idx="12"/>
          </p:nvPr>
        </p:nvSpPr>
        <p:spPr/>
        <p:txBody>
          <a:bodyPr/>
          <a:lstStyle/>
          <a:p>
            <a:fld id="{30BB16E2-1063-4ECC-B0F4-DD6A8CC0C30D}" type="slidenum">
              <a:rPr lang="en-US" smtClean="0"/>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3372" y="1056671"/>
            <a:ext cx="10634940" cy="4525963"/>
          </a:xfrm>
        </p:spPr>
        <p:txBody>
          <a:bodyPr/>
          <a:lstStyle/>
          <a:p>
            <a:pPr>
              <a:buNone/>
            </a:pPr>
            <a:r>
              <a:rPr lang="en-US" sz="2539" dirty="0">
                <a:solidFill>
                  <a:srgbClr val="C00000"/>
                </a:solidFill>
                <a:latin typeface="Copperplate Gothic Light" pitchFamily="34" charset="0"/>
              </a:rPr>
              <a:t>Decomposition</a:t>
            </a:r>
          </a:p>
          <a:p>
            <a:pPr>
              <a:buClr>
                <a:srgbClr val="C00000"/>
              </a:buClr>
              <a:buFont typeface="Wingdings" pitchFamily="2" charset="2"/>
              <a:buChar char="ü"/>
            </a:pPr>
            <a:endParaRPr lang="en-US" sz="2539" dirty="0">
              <a:solidFill>
                <a:srgbClr val="213AF1"/>
              </a:solidFill>
              <a:latin typeface="Bookman Old Style" pitchFamily="18" charset="0"/>
            </a:endParaRPr>
          </a:p>
          <a:p>
            <a:pPr>
              <a:buClr>
                <a:srgbClr val="C00000"/>
              </a:buClr>
              <a:buFont typeface="Wingdings" pitchFamily="2" charset="2"/>
              <a:buChar char="ü"/>
            </a:pPr>
            <a:r>
              <a:rPr lang="en-US" sz="2539" dirty="0">
                <a:solidFill>
                  <a:srgbClr val="213AF1"/>
                </a:solidFill>
                <a:latin typeface="Bookman Old Style" pitchFamily="18" charset="0"/>
              </a:rPr>
              <a:t>All attributes of an original schema (R) must appear in the decomposition (R1, R2): </a:t>
            </a:r>
          </a:p>
          <a:p>
            <a:pPr>
              <a:buNone/>
            </a:pPr>
            <a:r>
              <a:rPr lang="en-US" sz="2539" dirty="0">
                <a:solidFill>
                  <a:srgbClr val="213AF1"/>
                </a:solidFill>
                <a:latin typeface="Bookman Old Style" pitchFamily="18" charset="0"/>
              </a:rPr>
              <a:t>	</a:t>
            </a:r>
          </a:p>
          <a:p>
            <a:pPr>
              <a:buNone/>
            </a:pPr>
            <a:r>
              <a:rPr lang="en-US" sz="2539" dirty="0">
                <a:solidFill>
                  <a:srgbClr val="213AF1"/>
                </a:solidFill>
                <a:latin typeface="Bookman Old Style" pitchFamily="18" charset="0"/>
              </a:rPr>
              <a:t>			R = R1 ∪ R</a:t>
            </a:r>
          </a:p>
          <a:p>
            <a:pPr>
              <a:buClr>
                <a:srgbClr val="C00000"/>
              </a:buClr>
              <a:buFont typeface="Wingdings" pitchFamily="2" charset="2"/>
              <a:buChar char="ü"/>
            </a:pPr>
            <a:endParaRPr lang="en-US" sz="2539" dirty="0">
              <a:solidFill>
                <a:srgbClr val="213AF1"/>
              </a:solidFill>
              <a:latin typeface="Bookman Old Style" pitchFamily="18" charset="0"/>
            </a:endParaRPr>
          </a:p>
          <a:p>
            <a:pPr>
              <a:buClr>
                <a:srgbClr val="C00000"/>
              </a:buClr>
              <a:buFont typeface="Wingdings" pitchFamily="2" charset="2"/>
              <a:buChar char="ü"/>
            </a:pPr>
            <a:r>
              <a:rPr lang="en-US" sz="2539" dirty="0">
                <a:solidFill>
                  <a:srgbClr val="213AF1"/>
                </a:solidFill>
                <a:latin typeface="Bookman Old Style" pitchFamily="18" charset="0"/>
              </a:rPr>
              <a:t>Lossless-join decomposition. For all possible relations r on schema R.</a:t>
            </a:r>
          </a:p>
          <a:p>
            <a:pPr>
              <a:buNone/>
            </a:pPr>
            <a:r>
              <a:rPr lang="en-US" sz="2539" dirty="0">
                <a:solidFill>
                  <a:srgbClr val="213AF1"/>
                </a:solidFill>
                <a:latin typeface="Bookman Old Style" pitchFamily="18" charset="0"/>
              </a:rPr>
              <a:t> 			r = </a:t>
            </a:r>
            <a:r>
              <a:rPr lang="el-GR" sz="2539" dirty="0">
                <a:solidFill>
                  <a:srgbClr val="213AF1"/>
                </a:solidFill>
                <a:latin typeface="Bookman Old Style" pitchFamily="18" charset="0"/>
              </a:rPr>
              <a:t>Π</a:t>
            </a:r>
            <a:r>
              <a:rPr lang="en-US" sz="2539" dirty="0">
                <a:solidFill>
                  <a:srgbClr val="213AF1"/>
                </a:solidFill>
                <a:latin typeface="Bookman Old Style" pitchFamily="18" charset="0"/>
              </a:rPr>
              <a:t>R1 (r)    </a:t>
            </a:r>
            <a:r>
              <a:rPr lang="el-GR" sz="2539" dirty="0">
                <a:solidFill>
                  <a:srgbClr val="213AF1"/>
                </a:solidFill>
                <a:latin typeface="Bookman Old Style" pitchFamily="18" charset="0"/>
              </a:rPr>
              <a:t>Π</a:t>
            </a:r>
            <a:r>
              <a:rPr lang="en-US" sz="2539" dirty="0">
                <a:solidFill>
                  <a:srgbClr val="213AF1"/>
                </a:solidFill>
                <a:latin typeface="Bookman Old Style" pitchFamily="18" charset="0"/>
              </a:rPr>
              <a:t>R2 (r)</a:t>
            </a:r>
          </a:p>
        </p:txBody>
      </p:sp>
      <p:sp>
        <p:nvSpPr>
          <p:cNvPr id="7" name="Title 1"/>
          <p:cNvSpPr txBox="1">
            <a:spLocks/>
          </p:cNvSpPr>
          <p:nvPr/>
        </p:nvSpPr>
        <p:spPr>
          <a:xfrm>
            <a:off x="187701" y="0"/>
            <a:ext cx="10722733" cy="777573"/>
          </a:xfrm>
          <a:prstGeom prst="rect">
            <a:avLst/>
          </a:prstGeom>
        </p:spPr>
        <p:txBody>
          <a:bodyPr vert="horz" lIns="100805" tIns="50402" rIns="100805" bIns="50402" rtlCol="0" anchor="ctr">
            <a:noAutofit/>
          </a:bodyPr>
          <a:lstStyle/>
          <a:p>
            <a:pPr defTabSz="1008035">
              <a:spcBef>
                <a:spcPct val="0"/>
              </a:spcBef>
              <a:defRPr/>
            </a:pPr>
            <a:r>
              <a:rPr lang="en-US" sz="2735" dirty="0">
                <a:solidFill>
                  <a:srgbClr val="FF0000"/>
                </a:solidFill>
                <a:latin typeface="Copperplate Gothic Light" pitchFamily="34" charset="0"/>
                <a:ea typeface="+mj-ea"/>
                <a:cs typeface="+mj-cs"/>
              </a:rPr>
              <a:t>Pitfalls in Relational database, 				    Decomposing bad schema</a:t>
            </a:r>
            <a:endParaRPr lang="en-US" sz="2539" dirty="0">
              <a:solidFill>
                <a:srgbClr val="FF0000"/>
              </a:solidFill>
              <a:latin typeface="Copperplate Gothic Light" pitchFamily="34" charset="0"/>
              <a:ea typeface="+mj-ea"/>
              <a:cs typeface="+mj-cs"/>
            </a:endParaRPr>
          </a:p>
        </p:txBody>
      </p:sp>
      <p:grpSp>
        <p:nvGrpSpPr>
          <p:cNvPr id="18" name="Group 17"/>
          <p:cNvGrpSpPr/>
          <p:nvPr/>
        </p:nvGrpSpPr>
        <p:grpSpPr>
          <a:xfrm>
            <a:off x="4407788" y="5230117"/>
            <a:ext cx="279873" cy="140324"/>
            <a:chOff x="4476739" y="5396425"/>
            <a:chExt cx="286546" cy="143670"/>
          </a:xfrm>
        </p:grpSpPr>
        <p:cxnSp>
          <p:nvCxnSpPr>
            <p:cNvPr id="9" name="Straight Connector 8"/>
            <p:cNvCxnSpPr/>
            <p:nvPr/>
          </p:nvCxnSpPr>
          <p:spPr>
            <a:xfrm>
              <a:off x="4477533" y="5396425"/>
              <a:ext cx="285752" cy="142876"/>
            </a:xfrm>
            <a:prstGeom prst="line">
              <a:avLst/>
            </a:prstGeom>
            <a:ln w="19050">
              <a:solidFill>
                <a:srgbClr val="213AF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flipV="1">
              <a:off x="4477533" y="5396425"/>
              <a:ext cx="285752" cy="142876"/>
            </a:xfrm>
            <a:prstGeom prst="line">
              <a:avLst/>
            </a:prstGeom>
            <a:ln w="19050">
              <a:solidFill>
                <a:srgbClr val="213AF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rot="5400000">
              <a:off x="4406095" y="5467863"/>
              <a:ext cx="142876" cy="1588"/>
            </a:xfrm>
            <a:prstGeom prst="line">
              <a:avLst/>
            </a:prstGeom>
            <a:ln w="19050">
              <a:solidFill>
                <a:srgbClr val="213AF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rot="5400000">
              <a:off x="4691052" y="5467069"/>
              <a:ext cx="142876" cy="1588"/>
            </a:xfrm>
            <a:prstGeom prst="line">
              <a:avLst/>
            </a:prstGeom>
            <a:ln w="19050">
              <a:solidFill>
                <a:srgbClr val="213AF1"/>
              </a:solidFill>
            </a:ln>
          </p:spPr>
          <p:style>
            <a:lnRef idx="1">
              <a:schemeClr val="accent1"/>
            </a:lnRef>
            <a:fillRef idx="0">
              <a:schemeClr val="accent1"/>
            </a:fillRef>
            <a:effectRef idx="0">
              <a:schemeClr val="accent1"/>
            </a:effectRef>
            <a:fontRef idx="minor">
              <a:schemeClr val="tx1"/>
            </a:fontRef>
          </p:style>
        </p:cxnSp>
      </p:grpSp>
      <p:sp>
        <p:nvSpPr>
          <p:cNvPr id="2" name="Slide Number Placeholder 1">
            <a:extLst>
              <a:ext uri="{FF2B5EF4-FFF2-40B4-BE49-F238E27FC236}">
                <a16:creationId xmlns:a16="http://schemas.microsoft.com/office/drawing/2014/main" id="{F5FF76C3-273E-F927-A908-160562AB18AA}"/>
              </a:ext>
            </a:extLst>
          </p:cNvPr>
          <p:cNvSpPr>
            <a:spLocks noGrp="1"/>
          </p:cNvSpPr>
          <p:nvPr>
            <p:ph type="sldNum" sz="quarter" idx="12"/>
          </p:nvPr>
        </p:nvSpPr>
        <p:spPr/>
        <p:txBody>
          <a:bodyPr/>
          <a:lstStyle/>
          <a:p>
            <a:fld id="{30BB16E2-1063-4ECC-B0F4-DD6A8CC0C30D}" type="slidenum">
              <a:rPr lang="en-US" smtClean="0"/>
              <a:pPr/>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048" y="917122"/>
            <a:ext cx="10899423" cy="5209045"/>
          </a:xfrm>
        </p:spPr>
        <p:txBody>
          <a:bodyPr/>
          <a:lstStyle/>
          <a:p>
            <a:pPr>
              <a:buNone/>
            </a:pPr>
            <a:r>
              <a:rPr lang="en-US" sz="2539" dirty="0">
                <a:solidFill>
                  <a:srgbClr val="C00000"/>
                </a:solidFill>
                <a:latin typeface="Copperplate Gothic Light" pitchFamily="34" charset="0"/>
              </a:rPr>
              <a:t>Decomposition</a:t>
            </a:r>
          </a:p>
          <a:p>
            <a:pPr>
              <a:buNone/>
            </a:pPr>
            <a:r>
              <a:rPr lang="en-US" sz="2539" dirty="0">
                <a:solidFill>
                  <a:srgbClr val="C00000"/>
                </a:solidFill>
                <a:latin typeface="Copperplate Gothic Light" pitchFamily="34" charset="0"/>
              </a:rPr>
              <a:t>Example :</a:t>
            </a:r>
          </a:p>
          <a:p>
            <a:pPr>
              <a:buNone/>
            </a:pPr>
            <a:r>
              <a:rPr lang="en-US" sz="2539" dirty="0">
                <a:solidFill>
                  <a:srgbClr val="C00000"/>
                </a:solidFill>
                <a:latin typeface="Copperplate Gothic Light" pitchFamily="34" charset="0"/>
              </a:rPr>
              <a:t>Consider The relation : R = (A,B)</a:t>
            </a:r>
          </a:p>
          <a:p>
            <a:pPr>
              <a:buNone/>
            </a:pPr>
            <a:r>
              <a:rPr lang="en-US" sz="2539" dirty="0">
                <a:solidFill>
                  <a:srgbClr val="C00000"/>
                </a:solidFill>
                <a:latin typeface="Copperplate Gothic Light" pitchFamily="34" charset="0"/>
              </a:rPr>
              <a:t>Decomposition of R = R1(A) and R2(B)</a:t>
            </a:r>
          </a:p>
          <a:p>
            <a:pPr>
              <a:buNone/>
            </a:pPr>
            <a:endParaRPr lang="en-US" sz="2539" dirty="0">
              <a:solidFill>
                <a:srgbClr val="C00000"/>
              </a:solidFill>
              <a:latin typeface="Copperplate Gothic Light" pitchFamily="34" charset="0"/>
            </a:endParaRPr>
          </a:p>
          <a:p>
            <a:pPr>
              <a:buNone/>
            </a:pPr>
            <a:endParaRPr lang="en-US" dirty="0"/>
          </a:p>
        </p:txBody>
      </p:sp>
      <p:sp>
        <p:nvSpPr>
          <p:cNvPr id="7" name="Title 1"/>
          <p:cNvSpPr txBox="1">
            <a:spLocks/>
          </p:cNvSpPr>
          <p:nvPr/>
        </p:nvSpPr>
        <p:spPr>
          <a:xfrm>
            <a:off x="187701" y="0"/>
            <a:ext cx="10722733" cy="777573"/>
          </a:xfrm>
          <a:prstGeom prst="rect">
            <a:avLst/>
          </a:prstGeom>
        </p:spPr>
        <p:txBody>
          <a:bodyPr vert="horz" lIns="100805" tIns="50402" rIns="100805" bIns="50402" rtlCol="0" anchor="ctr">
            <a:noAutofit/>
          </a:bodyPr>
          <a:lstStyle/>
          <a:p>
            <a:pPr defTabSz="1008035">
              <a:spcBef>
                <a:spcPct val="0"/>
              </a:spcBef>
              <a:defRPr/>
            </a:pPr>
            <a:r>
              <a:rPr lang="en-US" sz="2735" dirty="0">
                <a:solidFill>
                  <a:srgbClr val="FF0000"/>
                </a:solidFill>
                <a:latin typeface="Copperplate Gothic Light" pitchFamily="34" charset="0"/>
                <a:ea typeface="+mj-ea"/>
                <a:cs typeface="+mj-cs"/>
              </a:rPr>
              <a:t>Pitfalls in Relational database, 				    Decomposing bad schema</a:t>
            </a:r>
            <a:endParaRPr lang="en-US" sz="2539" dirty="0">
              <a:solidFill>
                <a:srgbClr val="FF0000"/>
              </a:solidFill>
              <a:latin typeface="Copperplate Gothic Light" pitchFamily="34" charset="0"/>
              <a:ea typeface="+mj-ea"/>
              <a:cs typeface="+mj-cs"/>
            </a:endParaRPr>
          </a:p>
        </p:txBody>
      </p:sp>
      <p:graphicFrame>
        <p:nvGraphicFramePr>
          <p:cNvPr id="8" name="Table 7"/>
          <p:cNvGraphicFramePr>
            <a:graphicFrameLocks noGrp="1"/>
          </p:cNvGraphicFramePr>
          <p:nvPr/>
        </p:nvGraphicFramePr>
        <p:xfrm>
          <a:off x="1769987" y="3917421"/>
          <a:ext cx="1325714" cy="1454520"/>
        </p:xfrm>
        <a:graphic>
          <a:graphicData uri="http://schemas.openxmlformats.org/drawingml/2006/table">
            <a:tbl>
              <a:tblPr firstRow="1" bandRow="1">
                <a:tableStyleId>{5940675A-B579-460E-94D1-54222C63F5DA}</a:tableStyleId>
              </a:tblPr>
              <a:tblGrid>
                <a:gridCol w="627970">
                  <a:extLst>
                    <a:ext uri="{9D8B030D-6E8A-4147-A177-3AD203B41FA5}">
                      <a16:colId xmlns:a16="http://schemas.microsoft.com/office/drawing/2014/main" val="20000"/>
                    </a:ext>
                  </a:extLst>
                </a:gridCol>
                <a:gridCol w="697744">
                  <a:extLst>
                    <a:ext uri="{9D8B030D-6E8A-4147-A177-3AD203B41FA5}">
                      <a16:colId xmlns:a16="http://schemas.microsoft.com/office/drawing/2014/main" val="20001"/>
                    </a:ext>
                  </a:extLst>
                </a:gridCol>
              </a:tblGrid>
              <a:tr h="362204">
                <a:tc>
                  <a:txBody>
                    <a:bodyPr/>
                    <a:lstStyle/>
                    <a:p>
                      <a:pPr algn="ctr"/>
                      <a:r>
                        <a:rPr lang="en-US" sz="1800" dirty="0">
                          <a:solidFill>
                            <a:srgbClr val="213AF1"/>
                          </a:solidFill>
                          <a:latin typeface="Bookman Old Style" pitchFamily="18" charset="0"/>
                        </a:rPr>
                        <a:t>A</a:t>
                      </a:r>
                    </a:p>
                  </a:txBody>
                  <a:tcPr marL="89311" marR="89311" marT="44655" marB="44655" anchor="ctr">
                    <a:solidFill>
                      <a:schemeClr val="bg2"/>
                    </a:solidFill>
                  </a:tcPr>
                </a:tc>
                <a:tc>
                  <a:txBody>
                    <a:bodyPr/>
                    <a:lstStyle/>
                    <a:p>
                      <a:pPr algn="ctr"/>
                      <a:r>
                        <a:rPr lang="en-US" sz="1800" dirty="0">
                          <a:solidFill>
                            <a:srgbClr val="213AF1"/>
                          </a:solidFill>
                          <a:latin typeface="Bookman Old Style" pitchFamily="18" charset="0"/>
                        </a:rPr>
                        <a:t>B</a:t>
                      </a:r>
                    </a:p>
                  </a:txBody>
                  <a:tcPr marL="89311" marR="89311" marT="44655" marB="44655" anchor="ctr">
                    <a:solidFill>
                      <a:schemeClr val="bg2"/>
                    </a:solidFill>
                  </a:tcPr>
                </a:tc>
                <a:extLst>
                  <a:ext uri="{0D108BD9-81ED-4DB2-BD59-A6C34878D82A}">
                    <a16:rowId xmlns:a16="http://schemas.microsoft.com/office/drawing/2014/main" val="10000"/>
                  </a:ext>
                </a:extLst>
              </a:tr>
              <a:tr h="362204">
                <a:tc>
                  <a:txBody>
                    <a:bodyPr/>
                    <a:lstStyle/>
                    <a:p>
                      <a:pPr algn="ctr"/>
                      <a:r>
                        <a:rPr lang="en-US" sz="1800" dirty="0">
                          <a:solidFill>
                            <a:srgbClr val="213AF1"/>
                          </a:solidFill>
                          <a:latin typeface="Bookman Old Style" pitchFamily="18" charset="0"/>
                        </a:rPr>
                        <a:t>X</a:t>
                      </a:r>
                    </a:p>
                  </a:txBody>
                  <a:tcPr marL="89311" marR="89311" marT="44655" marB="44655" anchor="ctr">
                    <a:solidFill>
                      <a:schemeClr val="bg2"/>
                    </a:solidFill>
                  </a:tcPr>
                </a:tc>
                <a:tc>
                  <a:txBody>
                    <a:bodyPr/>
                    <a:lstStyle/>
                    <a:p>
                      <a:pPr algn="ctr"/>
                      <a:r>
                        <a:rPr lang="en-US" sz="1800" dirty="0">
                          <a:solidFill>
                            <a:srgbClr val="213AF1"/>
                          </a:solidFill>
                          <a:latin typeface="Bookman Old Style" pitchFamily="18" charset="0"/>
                        </a:rPr>
                        <a:t>1</a:t>
                      </a:r>
                    </a:p>
                  </a:txBody>
                  <a:tcPr marL="89311" marR="89311" marT="44655" marB="44655" anchor="ctr">
                    <a:solidFill>
                      <a:schemeClr val="bg2"/>
                    </a:solidFill>
                  </a:tcPr>
                </a:tc>
                <a:extLst>
                  <a:ext uri="{0D108BD9-81ED-4DB2-BD59-A6C34878D82A}">
                    <a16:rowId xmlns:a16="http://schemas.microsoft.com/office/drawing/2014/main" val="10001"/>
                  </a:ext>
                </a:extLst>
              </a:tr>
              <a:tr h="362204">
                <a:tc>
                  <a:txBody>
                    <a:bodyPr/>
                    <a:lstStyle/>
                    <a:p>
                      <a:pPr algn="ctr"/>
                      <a:r>
                        <a:rPr lang="en-US" sz="1800" dirty="0">
                          <a:solidFill>
                            <a:srgbClr val="213AF1"/>
                          </a:solidFill>
                          <a:latin typeface="Bookman Old Style" pitchFamily="18" charset="0"/>
                        </a:rPr>
                        <a:t>X</a:t>
                      </a:r>
                    </a:p>
                  </a:txBody>
                  <a:tcPr marL="89311" marR="89311" marT="44655" marB="44655" anchor="ctr">
                    <a:solidFill>
                      <a:schemeClr val="bg2"/>
                    </a:solidFill>
                  </a:tcPr>
                </a:tc>
                <a:tc>
                  <a:txBody>
                    <a:bodyPr/>
                    <a:lstStyle/>
                    <a:p>
                      <a:pPr algn="ctr"/>
                      <a:r>
                        <a:rPr lang="en-US" sz="1800" dirty="0">
                          <a:solidFill>
                            <a:srgbClr val="213AF1"/>
                          </a:solidFill>
                          <a:latin typeface="Bookman Old Style" pitchFamily="18" charset="0"/>
                        </a:rPr>
                        <a:t>2</a:t>
                      </a:r>
                    </a:p>
                  </a:txBody>
                  <a:tcPr marL="89311" marR="89311" marT="44655" marB="44655" anchor="ctr">
                    <a:solidFill>
                      <a:schemeClr val="bg2"/>
                    </a:solidFill>
                  </a:tcPr>
                </a:tc>
                <a:extLst>
                  <a:ext uri="{0D108BD9-81ED-4DB2-BD59-A6C34878D82A}">
                    <a16:rowId xmlns:a16="http://schemas.microsoft.com/office/drawing/2014/main" val="10002"/>
                  </a:ext>
                </a:extLst>
              </a:tr>
              <a:tr h="362204">
                <a:tc>
                  <a:txBody>
                    <a:bodyPr/>
                    <a:lstStyle/>
                    <a:p>
                      <a:pPr algn="ctr"/>
                      <a:r>
                        <a:rPr lang="en-US" sz="1800" dirty="0">
                          <a:solidFill>
                            <a:srgbClr val="213AF1"/>
                          </a:solidFill>
                          <a:latin typeface="Bookman Old Style" pitchFamily="18" charset="0"/>
                        </a:rPr>
                        <a:t>Y</a:t>
                      </a:r>
                    </a:p>
                  </a:txBody>
                  <a:tcPr marL="89311" marR="89311" marT="44655" marB="44655" anchor="ctr">
                    <a:solidFill>
                      <a:schemeClr val="bg2"/>
                    </a:solidFill>
                  </a:tcPr>
                </a:tc>
                <a:tc>
                  <a:txBody>
                    <a:bodyPr/>
                    <a:lstStyle/>
                    <a:p>
                      <a:pPr algn="ctr"/>
                      <a:r>
                        <a:rPr lang="en-US" sz="1800" dirty="0">
                          <a:solidFill>
                            <a:srgbClr val="213AF1"/>
                          </a:solidFill>
                          <a:latin typeface="Bookman Old Style" pitchFamily="18" charset="0"/>
                        </a:rPr>
                        <a:t>1</a:t>
                      </a:r>
                    </a:p>
                  </a:txBody>
                  <a:tcPr marL="89311" marR="89311" marT="44655" marB="44655" anchor="ctr">
                    <a:solidFill>
                      <a:schemeClr val="bg2"/>
                    </a:solidFill>
                  </a:tcPr>
                </a:tc>
                <a:extLst>
                  <a:ext uri="{0D108BD9-81ED-4DB2-BD59-A6C34878D82A}">
                    <a16:rowId xmlns:a16="http://schemas.microsoft.com/office/drawing/2014/main" val="10003"/>
                  </a:ext>
                </a:extLst>
              </a:tr>
            </a:tbl>
          </a:graphicData>
        </a:graphic>
      </p:graphicFrame>
      <p:sp>
        <p:nvSpPr>
          <p:cNvPr id="9" name="TextBox 8"/>
          <p:cNvSpPr txBox="1"/>
          <p:nvPr/>
        </p:nvSpPr>
        <p:spPr>
          <a:xfrm>
            <a:off x="2258408" y="3010354"/>
            <a:ext cx="346570" cy="362856"/>
          </a:xfrm>
          <a:prstGeom prst="rect">
            <a:avLst/>
          </a:prstGeom>
          <a:noFill/>
        </p:spPr>
        <p:txBody>
          <a:bodyPr wrap="none" rtlCol="0">
            <a:spAutoFit/>
          </a:bodyPr>
          <a:lstStyle/>
          <a:p>
            <a:r>
              <a:rPr lang="en-US" sz="1758" dirty="0">
                <a:solidFill>
                  <a:srgbClr val="213AF1"/>
                </a:solidFill>
                <a:latin typeface="Bookman Old Style" pitchFamily="18" charset="0"/>
              </a:rPr>
              <a:t>R</a:t>
            </a:r>
          </a:p>
        </p:txBody>
      </p:sp>
      <p:graphicFrame>
        <p:nvGraphicFramePr>
          <p:cNvPr id="10" name="Table 9"/>
          <p:cNvGraphicFramePr>
            <a:graphicFrameLocks noGrp="1"/>
          </p:cNvGraphicFramePr>
          <p:nvPr/>
        </p:nvGraphicFramePr>
        <p:xfrm>
          <a:off x="3653896" y="3917421"/>
          <a:ext cx="627970" cy="1090890"/>
        </p:xfrm>
        <a:graphic>
          <a:graphicData uri="http://schemas.openxmlformats.org/drawingml/2006/table">
            <a:tbl>
              <a:tblPr firstRow="1" bandRow="1">
                <a:tableStyleId>{5940675A-B579-460E-94D1-54222C63F5DA}</a:tableStyleId>
              </a:tblPr>
              <a:tblGrid>
                <a:gridCol w="627970">
                  <a:extLst>
                    <a:ext uri="{9D8B030D-6E8A-4147-A177-3AD203B41FA5}">
                      <a16:colId xmlns:a16="http://schemas.microsoft.com/office/drawing/2014/main" val="20000"/>
                    </a:ext>
                  </a:extLst>
                </a:gridCol>
              </a:tblGrid>
              <a:tr h="362204">
                <a:tc>
                  <a:txBody>
                    <a:bodyPr/>
                    <a:lstStyle/>
                    <a:p>
                      <a:pPr algn="ctr"/>
                      <a:r>
                        <a:rPr lang="en-US" sz="1800" dirty="0">
                          <a:solidFill>
                            <a:srgbClr val="213AF1"/>
                          </a:solidFill>
                          <a:latin typeface="Bookman Old Style" pitchFamily="18" charset="0"/>
                        </a:rPr>
                        <a:t>A</a:t>
                      </a:r>
                    </a:p>
                  </a:txBody>
                  <a:tcPr marL="89311" marR="89311" marT="44655" marB="44655" anchor="ctr">
                    <a:solidFill>
                      <a:schemeClr val="accent6">
                        <a:lumMod val="20000"/>
                        <a:lumOff val="80000"/>
                      </a:schemeClr>
                    </a:solidFill>
                  </a:tcPr>
                </a:tc>
                <a:extLst>
                  <a:ext uri="{0D108BD9-81ED-4DB2-BD59-A6C34878D82A}">
                    <a16:rowId xmlns:a16="http://schemas.microsoft.com/office/drawing/2014/main" val="10000"/>
                  </a:ext>
                </a:extLst>
              </a:tr>
              <a:tr h="362204">
                <a:tc>
                  <a:txBody>
                    <a:bodyPr/>
                    <a:lstStyle/>
                    <a:p>
                      <a:pPr algn="ctr"/>
                      <a:r>
                        <a:rPr lang="en-US" sz="1800" dirty="0">
                          <a:solidFill>
                            <a:srgbClr val="213AF1"/>
                          </a:solidFill>
                          <a:latin typeface="Bookman Old Style" pitchFamily="18" charset="0"/>
                        </a:rPr>
                        <a:t>X</a:t>
                      </a:r>
                    </a:p>
                  </a:txBody>
                  <a:tcPr marL="89311" marR="89311" marT="44655" marB="44655" anchor="ctr">
                    <a:solidFill>
                      <a:schemeClr val="accent6">
                        <a:lumMod val="20000"/>
                        <a:lumOff val="80000"/>
                      </a:schemeClr>
                    </a:solidFill>
                  </a:tcPr>
                </a:tc>
                <a:extLst>
                  <a:ext uri="{0D108BD9-81ED-4DB2-BD59-A6C34878D82A}">
                    <a16:rowId xmlns:a16="http://schemas.microsoft.com/office/drawing/2014/main" val="10001"/>
                  </a:ext>
                </a:extLst>
              </a:tr>
              <a:tr h="362204">
                <a:tc>
                  <a:txBody>
                    <a:bodyPr/>
                    <a:lstStyle/>
                    <a:p>
                      <a:pPr algn="ctr"/>
                      <a:r>
                        <a:rPr lang="en-US" sz="1800" dirty="0">
                          <a:solidFill>
                            <a:srgbClr val="213AF1"/>
                          </a:solidFill>
                          <a:latin typeface="Bookman Old Style" pitchFamily="18" charset="0"/>
                        </a:rPr>
                        <a:t>Y</a:t>
                      </a:r>
                    </a:p>
                  </a:txBody>
                  <a:tcPr marL="89311" marR="89311" marT="44655" marB="44655" anchor="ctr">
                    <a:solidFill>
                      <a:schemeClr val="accent6">
                        <a:lumMod val="20000"/>
                        <a:lumOff val="80000"/>
                      </a:schemeClr>
                    </a:solidFill>
                  </a:tcPr>
                </a:tc>
                <a:extLst>
                  <a:ext uri="{0D108BD9-81ED-4DB2-BD59-A6C34878D82A}">
                    <a16:rowId xmlns:a16="http://schemas.microsoft.com/office/drawing/2014/main" val="10002"/>
                  </a:ext>
                </a:extLst>
              </a:tr>
            </a:tbl>
          </a:graphicData>
        </a:graphic>
      </p:graphicFrame>
      <p:graphicFrame>
        <p:nvGraphicFramePr>
          <p:cNvPr id="11" name="Table 10"/>
          <p:cNvGraphicFramePr>
            <a:graphicFrameLocks noGrp="1"/>
          </p:cNvGraphicFramePr>
          <p:nvPr/>
        </p:nvGraphicFramePr>
        <p:xfrm>
          <a:off x="4840061" y="3917421"/>
          <a:ext cx="627970" cy="1090890"/>
        </p:xfrm>
        <a:graphic>
          <a:graphicData uri="http://schemas.openxmlformats.org/drawingml/2006/table">
            <a:tbl>
              <a:tblPr firstRow="1" bandRow="1">
                <a:tableStyleId>{5940675A-B579-460E-94D1-54222C63F5DA}</a:tableStyleId>
              </a:tblPr>
              <a:tblGrid>
                <a:gridCol w="627970">
                  <a:extLst>
                    <a:ext uri="{9D8B030D-6E8A-4147-A177-3AD203B41FA5}">
                      <a16:colId xmlns:a16="http://schemas.microsoft.com/office/drawing/2014/main" val="20000"/>
                    </a:ext>
                  </a:extLst>
                </a:gridCol>
              </a:tblGrid>
              <a:tr h="362204">
                <a:tc>
                  <a:txBody>
                    <a:bodyPr/>
                    <a:lstStyle/>
                    <a:p>
                      <a:pPr algn="ctr"/>
                      <a:r>
                        <a:rPr lang="en-US" sz="1800" dirty="0">
                          <a:solidFill>
                            <a:srgbClr val="213AF1"/>
                          </a:solidFill>
                          <a:latin typeface="Bookman Old Style" pitchFamily="18" charset="0"/>
                        </a:rPr>
                        <a:t>B</a:t>
                      </a:r>
                    </a:p>
                  </a:txBody>
                  <a:tcPr marL="89311" marR="89311" marT="44655" marB="44655" anchor="ctr">
                    <a:solidFill>
                      <a:schemeClr val="accent5">
                        <a:lumMod val="20000"/>
                        <a:lumOff val="80000"/>
                      </a:schemeClr>
                    </a:solidFill>
                  </a:tcPr>
                </a:tc>
                <a:extLst>
                  <a:ext uri="{0D108BD9-81ED-4DB2-BD59-A6C34878D82A}">
                    <a16:rowId xmlns:a16="http://schemas.microsoft.com/office/drawing/2014/main" val="10000"/>
                  </a:ext>
                </a:extLst>
              </a:tr>
              <a:tr h="362204">
                <a:tc>
                  <a:txBody>
                    <a:bodyPr/>
                    <a:lstStyle/>
                    <a:p>
                      <a:pPr algn="ctr"/>
                      <a:r>
                        <a:rPr lang="en-US" sz="1800" dirty="0">
                          <a:solidFill>
                            <a:srgbClr val="213AF1"/>
                          </a:solidFill>
                          <a:latin typeface="Bookman Old Style" pitchFamily="18" charset="0"/>
                        </a:rPr>
                        <a:t>1</a:t>
                      </a:r>
                    </a:p>
                  </a:txBody>
                  <a:tcPr marL="89311" marR="89311" marT="44655" marB="44655" anchor="ctr">
                    <a:solidFill>
                      <a:schemeClr val="accent5">
                        <a:lumMod val="20000"/>
                        <a:lumOff val="80000"/>
                      </a:schemeClr>
                    </a:solidFill>
                  </a:tcPr>
                </a:tc>
                <a:extLst>
                  <a:ext uri="{0D108BD9-81ED-4DB2-BD59-A6C34878D82A}">
                    <a16:rowId xmlns:a16="http://schemas.microsoft.com/office/drawing/2014/main" val="10001"/>
                  </a:ext>
                </a:extLst>
              </a:tr>
              <a:tr h="362204">
                <a:tc>
                  <a:txBody>
                    <a:bodyPr/>
                    <a:lstStyle/>
                    <a:p>
                      <a:pPr algn="ctr"/>
                      <a:r>
                        <a:rPr lang="en-US" sz="1800" dirty="0">
                          <a:solidFill>
                            <a:srgbClr val="213AF1"/>
                          </a:solidFill>
                          <a:latin typeface="Bookman Old Style" pitchFamily="18" charset="0"/>
                        </a:rPr>
                        <a:t>2</a:t>
                      </a:r>
                    </a:p>
                  </a:txBody>
                  <a:tcPr marL="89311" marR="89311" marT="44655" marB="44655" anchor="ctr">
                    <a:solidFill>
                      <a:schemeClr val="accent5">
                        <a:lumMod val="20000"/>
                        <a:lumOff val="80000"/>
                      </a:schemeClr>
                    </a:solidFill>
                  </a:tcPr>
                </a:tc>
                <a:extLst>
                  <a:ext uri="{0D108BD9-81ED-4DB2-BD59-A6C34878D82A}">
                    <a16:rowId xmlns:a16="http://schemas.microsoft.com/office/drawing/2014/main" val="10002"/>
                  </a:ext>
                </a:extLst>
              </a:tr>
            </a:tbl>
          </a:graphicData>
        </a:graphic>
      </p:graphicFrame>
      <p:sp>
        <p:nvSpPr>
          <p:cNvPr id="12" name="TextBox 11"/>
          <p:cNvSpPr txBox="1"/>
          <p:nvPr/>
        </p:nvSpPr>
        <p:spPr>
          <a:xfrm>
            <a:off x="3584122" y="3149902"/>
            <a:ext cx="795411" cy="362856"/>
          </a:xfrm>
          <a:prstGeom prst="rect">
            <a:avLst/>
          </a:prstGeom>
          <a:noFill/>
        </p:spPr>
        <p:txBody>
          <a:bodyPr wrap="none" rtlCol="0">
            <a:spAutoFit/>
          </a:bodyPr>
          <a:lstStyle/>
          <a:p>
            <a:r>
              <a:rPr lang="el-GR" sz="1758" dirty="0">
                <a:solidFill>
                  <a:srgbClr val="213AF1"/>
                </a:solidFill>
                <a:latin typeface="Bookman Old Style" pitchFamily="18" charset="0"/>
              </a:rPr>
              <a:t>Π</a:t>
            </a:r>
            <a:r>
              <a:rPr lang="en-US" sz="1074" dirty="0">
                <a:solidFill>
                  <a:srgbClr val="213AF1"/>
                </a:solidFill>
                <a:latin typeface="Bookman Old Style" pitchFamily="18" charset="0"/>
              </a:rPr>
              <a:t>A </a:t>
            </a:r>
            <a:r>
              <a:rPr lang="en-US" sz="1758" dirty="0">
                <a:solidFill>
                  <a:srgbClr val="213AF1"/>
                </a:solidFill>
                <a:latin typeface="Bookman Old Style" pitchFamily="18" charset="0"/>
              </a:rPr>
              <a:t>(R)</a:t>
            </a:r>
          </a:p>
        </p:txBody>
      </p:sp>
      <p:sp>
        <p:nvSpPr>
          <p:cNvPr id="13" name="TextBox 12"/>
          <p:cNvSpPr txBox="1"/>
          <p:nvPr/>
        </p:nvSpPr>
        <p:spPr>
          <a:xfrm>
            <a:off x="4770287" y="3149902"/>
            <a:ext cx="769763" cy="362856"/>
          </a:xfrm>
          <a:prstGeom prst="rect">
            <a:avLst/>
          </a:prstGeom>
          <a:noFill/>
        </p:spPr>
        <p:txBody>
          <a:bodyPr wrap="none" rtlCol="0">
            <a:spAutoFit/>
          </a:bodyPr>
          <a:lstStyle/>
          <a:p>
            <a:r>
              <a:rPr lang="el-GR" sz="1758" dirty="0">
                <a:solidFill>
                  <a:srgbClr val="213AF1"/>
                </a:solidFill>
                <a:latin typeface="Bookman Old Style" pitchFamily="18" charset="0"/>
              </a:rPr>
              <a:t>Π</a:t>
            </a:r>
            <a:r>
              <a:rPr lang="en-US" sz="1172" dirty="0">
                <a:solidFill>
                  <a:srgbClr val="213AF1"/>
                </a:solidFill>
                <a:latin typeface="Bookman Old Style" pitchFamily="18" charset="0"/>
              </a:rPr>
              <a:t>B</a:t>
            </a:r>
            <a:r>
              <a:rPr lang="en-US" sz="1758" dirty="0">
                <a:solidFill>
                  <a:srgbClr val="213AF1"/>
                </a:solidFill>
                <a:latin typeface="Bookman Old Style" pitchFamily="18" charset="0"/>
              </a:rPr>
              <a:t>(R)</a:t>
            </a:r>
          </a:p>
        </p:txBody>
      </p:sp>
      <p:sp>
        <p:nvSpPr>
          <p:cNvPr id="14" name="TextBox 13"/>
          <p:cNvSpPr txBox="1"/>
          <p:nvPr/>
        </p:nvSpPr>
        <p:spPr>
          <a:xfrm>
            <a:off x="6444873" y="3219677"/>
            <a:ext cx="1887055" cy="362856"/>
          </a:xfrm>
          <a:prstGeom prst="rect">
            <a:avLst/>
          </a:prstGeom>
          <a:noFill/>
        </p:spPr>
        <p:txBody>
          <a:bodyPr wrap="none" rtlCol="0">
            <a:spAutoFit/>
          </a:bodyPr>
          <a:lstStyle/>
          <a:p>
            <a:r>
              <a:rPr lang="el-GR" sz="1758" dirty="0">
                <a:solidFill>
                  <a:srgbClr val="213AF1"/>
                </a:solidFill>
                <a:latin typeface="Bookman Old Style" pitchFamily="18" charset="0"/>
              </a:rPr>
              <a:t>Π</a:t>
            </a:r>
            <a:r>
              <a:rPr lang="en-US" sz="1758" dirty="0">
                <a:solidFill>
                  <a:srgbClr val="213AF1"/>
                </a:solidFill>
                <a:latin typeface="Bookman Old Style" pitchFamily="18" charset="0"/>
              </a:rPr>
              <a:t>A (R)     </a:t>
            </a:r>
            <a:r>
              <a:rPr lang="el-GR" sz="1758" dirty="0">
                <a:solidFill>
                  <a:srgbClr val="213AF1"/>
                </a:solidFill>
                <a:latin typeface="Bookman Old Style" pitchFamily="18" charset="0"/>
              </a:rPr>
              <a:t>Π</a:t>
            </a:r>
            <a:r>
              <a:rPr lang="en-US" sz="1758" dirty="0">
                <a:solidFill>
                  <a:srgbClr val="213AF1"/>
                </a:solidFill>
                <a:latin typeface="Bookman Old Style" pitchFamily="18" charset="0"/>
              </a:rPr>
              <a:t>B(R)</a:t>
            </a:r>
            <a:endParaRPr lang="en-US" sz="1758" dirty="0"/>
          </a:p>
        </p:txBody>
      </p:sp>
      <p:grpSp>
        <p:nvGrpSpPr>
          <p:cNvPr id="15" name="Group 14"/>
          <p:cNvGrpSpPr/>
          <p:nvPr/>
        </p:nvGrpSpPr>
        <p:grpSpPr>
          <a:xfrm>
            <a:off x="7351939" y="3359226"/>
            <a:ext cx="279873" cy="140324"/>
            <a:chOff x="4476739" y="5396425"/>
            <a:chExt cx="286546" cy="143670"/>
          </a:xfrm>
        </p:grpSpPr>
        <p:cxnSp>
          <p:nvCxnSpPr>
            <p:cNvPr id="16" name="Straight Connector 15"/>
            <p:cNvCxnSpPr/>
            <p:nvPr/>
          </p:nvCxnSpPr>
          <p:spPr>
            <a:xfrm>
              <a:off x="4477533" y="5396425"/>
              <a:ext cx="285752" cy="142876"/>
            </a:xfrm>
            <a:prstGeom prst="line">
              <a:avLst/>
            </a:prstGeom>
            <a:ln w="19050">
              <a:solidFill>
                <a:srgbClr val="213AF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V="1">
              <a:off x="4477533" y="5396425"/>
              <a:ext cx="285752" cy="142876"/>
            </a:xfrm>
            <a:prstGeom prst="line">
              <a:avLst/>
            </a:prstGeom>
            <a:ln w="19050">
              <a:solidFill>
                <a:srgbClr val="213AF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rot="5400000">
              <a:off x="4406095" y="5467863"/>
              <a:ext cx="142876" cy="1588"/>
            </a:xfrm>
            <a:prstGeom prst="line">
              <a:avLst/>
            </a:prstGeom>
            <a:ln w="19050">
              <a:solidFill>
                <a:srgbClr val="213AF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rot="5400000">
              <a:off x="4691052" y="5467069"/>
              <a:ext cx="142876" cy="1588"/>
            </a:xfrm>
            <a:prstGeom prst="line">
              <a:avLst/>
            </a:prstGeom>
            <a:ln w="19050">
              <a:solidFill>
                <a:srgbClr val="213AF1"/>
              </a:solidFill>
            </a:ln>
          </p:spPr>
          <p:style>
            <a:lnRef idx="1">
              <a:schemeClr val="accent1"/>
            </a:lnRef>
            <a:fillRef idx="0">
              <a:schemeClr val="accent1"/>
            </a:fillRef>
            <a:effectRef idx="0">
              <a:schemeClr val="accent1"/>
            </a:effectRef>
            <a:fontRef idx="minor">
              <a:schemeClr val="tx1"/>
            </a:fontRef>
          </p:style>
        </p:cxnSp>
      </p:grpSp>
      <p:graphicFrame>
        <p:nvGraphicFramePr>
          <p:cNvPr id="20" name="Table 19"/>
          <p:cNvGraphicFramePr>
            <a:graphicFrameLocks noGrp="1"/>
          </p:cNvGraphicFramePr>
          <p:nvPr/>
        </p:nvGraphicFramePr>
        <p:xfrm>
          <a:off x="6863518" y="3917421"/>
          <a:ext cx="1325714" cy="1818150"/>
        </p:xfrm>
        <a:graphic>
          <a:graphicData uri="http://schemas.openxmlformats.org/drawingml/2006/table">
            <a:tbl>
              <a:tblPr firstRow="1" bandRow="1">
                <a:tableStyleId>{5940675A-B579-460E-94D1-54222C63F5DA}</a:tableStyleId>
              </a:tblPr>
              <a:tblGrid>
                <a:gridCol w="627970">
                  <a:extLst>
                    <a:ext uri="{9D8B030D-6E8A-4147-A177-3AD203B41FA5}">
                      <a16:colId xmlns:a16="http://schemas.microsoft.com/office/drawing/2014/main" val="20000"/>
                    </a:ext>
                  </a:extLst>
                </a:gridCol>
                <a:gridCol w="697744">
                  <a:extLst>
                    <a:ext uri="{9D8B030D-6E8A-4147-A177-3AD203B41FA5}">
                      <a16:colId xmlns:a16="http://schemas.microsoft.com/office/drawing/2014/main" val="20001"/>
                    </a:ext>
                  </a:extLst>
                </a:gridCol>
              </a:tblGrid>
              <a:tr h="362204">
                <a:tc>
                  <a:txBody>
                    <a:bodyPr/>
                    <a:lstStyle/>
                    <a:p>
                      <a:pPr algn="ctr"/>
                      <a:r>
                        <a:rPr lang="en-US" sz="1800" dirty="0">
                          <a:solidFill>
                            <a:srgbClr val="213AF1"/>
                          </a:solidFill>
                          <a:latin typeface="Bookman Old Style" pitchFamily="18" charset="0"/>
                        </a:rPr>
                        <a:t>A</a:t>
                      </a:r>
                    </a:p>
                  </a:txBody>
                  <a:tcPr marL="89311" marR="89311" marT="44655" marB="44655" anchor="ctr">
                    <a:solidFill>
                      <a:schemeClr val="accent6">
                        <a:lumMod val="40000"/>
                        <a:lumOff val="60000"/>
                      </a:schemeClr>
                    </a:solidFill>
                  </a:tcPr>
                </a:tc>
                <a:tc>
                  <a:txBody>
                    <a:bodyPr/>
                    <a:lstStyle/>
                    <a:p>
                      <a:pPr algn="ctr"/>
                      <a:r>
                        <a:rPr lang="en-US" sz="1800" dirty="0">
                          <a:solidFill>
                            <a:srgbClr val="213AF1"/>
                          </a:solidFill>
                          <a:latin typeface="Bookman Old Style" pitchFamily="18" charset="0"/>
                        </a:rPr>
                        <a:t>B</a:t>
                      </a:r>
                    </a:p>
                  </a:txBody>
                  <a:tcPr marL="89311" marR="89311" marT="44655" marB="44655" anchor="ctr">
                    <a:solidFill>
                      <a:schemeClr val="accent6">
                        <a:lumMod val="40000"/>
                        <a:lumOff val="60000"/>
                      </a:schemeClr>
                    </a:solidFill>
                  </a:tcPr>
                </a:tc>
                <a:extLst>
                  <a:ext uri="{0D108BD9-81ED-4DB2-BD59-A6C34878D82A}">
                    <a16:rowId xmlns:a16="http://schemas.microsoft.com/office/drawing/2014/main" val="10000"/>
                  </a:ext>
                </a:extLst>
              </a:tr>
              <a:tr h="362204">
                <a:tc>
                  <a:txBody>
                    <a:bodyPr/>
                    <a:lstStyle/>
                    <a:p>
                      <a:pPr algn="ctr"/>
                      <a:r>
                        <a:rPr lang="en-US" sz="1800" dirty="0">
                          <a:solidFill>
                            <a:srgbClr val="213AF1"/>
                          </a:solidFill>
                          <a:latin typeface="Bookman Old Style" pitchFamily="18" charset="0"/>
                        </a:rPr>
                        <a:t>X</a:t>
                      </a:r>
                    </a:p>
                  </a:txBody>
                  <a:tcPr marL="89311" marR="89311" marT="44655" marB="44655" anchor="ctr">
                    <a:solidFill>
                      <a:schemeClr val="accent6">
                        <a:lumMod val="40000"/>
                        <a:lumOff val="60000"/>
                      </a:schemeClr>
                    </a:solidFill>
                  </a:tcPr>
                </a:tc>
                <a:tc>
                  <a:txBody>
                    <a:bodyPr/>
                    <a:lstStyle/>
                    <a:p>
                      <a:pPr algn="ctr"/>
                      <a:r>
                        <a:rPr lang="en-US" sz="1800" dirty="0">
                          <a:solidFill>
                            <a:srgbClr val="213AF1"/>
                          </a:solidFill>
                          <a:latin typeface="Bookman Old Style" pitchFamily="18" charset="0"/>
                        </a:rPr>
                        <a:t>1</a:t>
                      </a:r>
                    </a:p>
                  </a:txBody>
                  <a:tcPr marL="89311" marR="89311" marT="44655" marB="44655" anchor="ctr">
                    <a:solidFill>
                      <a:schemeClr val="accent6">
                        <a:lumMod val="40000"/>
                        <a:lumOff val="60000"/>
                      </a:schemeClr>
                    </a:solidFill>
                  </a:tcPr>
                </a:tc>
                <a:extLst>
                  <a:ext uri="{0D108BD9-81ED-4DB2-BD59-A6C34878D82A}">
                    <a16:rowId xmlns:a16="http://schemas.microsoft.com/office/drawing/2014/main" val="10001"/>
                  </a:ext>
                </a:extLst>
              </a:tr>
              <a:tr h="362204">
                <a:tc>
                  <a:txBody>
                    <a:bodyPr/>
                    <a:lstStyle/>
                    <a:p>
                      <a:pPr algn="ctr"/>
                      <a:r>
                        <a:rPr lang="en-US" sz="1800" dirty="0">
                          <a:solidFill>
                            <a:srgbClr val="213AF1"/>
                          </a:solidFill>
                          <a:latin typeface="Bookman Old Style" pitchFamily="18" charset="0"/>
                        </a:rPr>
                        <a:t>X</a:t>
                      </a:r>
                    </a:p>
                  </a:txBody>
                  <a:tcPr marL="89311" marR="89311" marT="44655" marB="44655" anchor="ctr">
                    <a:solidFill>
                      <a:schemeClr val="accent6">
                        <a:lumMod val="40000"/>
                        <a:lumOff val="60000"/>
                      </a:schemeClr>
                    </a:solidFill>
                  </a:tcPr>
                </a:tc>
                <a:tc>
                  <a:txBody>
                    <a:bodyPr/>
                    <a:lstStyle/>
                    <a:p>
                      <a:pPr algn="ctr"/>
                      <a:r>
                        <a:rPr lang="en-US" sz="1800" dirty="0">
                          <a:solidFill>
                            <a:srgbClr val="213AF1"/>
                          </a:solidFill>
                          <a:latin typeface="Bookman Old Style" pitchFamily="18" charset="0"/>
                        </a:rPr>
                        <a:t>2</a:t>
                      </a:r>
                    </a:p>
                  </a:txBody>
                  <a:tcPr marL="89311" marR="89311" marT="44655" marB="44655" anchor="ctr">
                    <a:solidFill>
                      <a:schemeClr val="accent6">
                        <a:lumMod val="40000"/>
                        <a:lumOff val="60000"/>
                      </a:schemeClr>
                    </a:solidFill>
                  </a:tcPr>
                </a:tc>
                <a:extLst>
                  <a:ext uri="{0D108BD9-81ED-4DB2-BD59-A6C34878D82A}">
                    <a16:rowId xmlns:a16="http://schemas.microsoft.com/office/drawing/2014/main" val="10002"/>
                  </a:ext>
                </a:extLst>
              </a:tr>
              <a:tr h="362204">
                <a:tc>
                  <a:txBody>
                    <a:bodyPr/>
                    <a:lstStyle/>
                    <a:p>
                      <a:pPr algn="ctr"/>
                      <a:r>
                        <a:rPr lang="en-US" sz="1800" dirty="0">
                          <a:solidFill>
                            <a:srgbClr val="213AF1"/>
                          </a:solidFill>
                          <a:latin typeface="Bookman Old Style" pitchFamily="18" charset="0"/>
                        </a:rPr>
                        <a:t>Y</a:t>
                      </a:r>
                    </a:p>
                  </a:txBody>
                  <a:tcPr marL="89311" marR="89311" marT="44655" marB="44655" anchor="ctr">
                    <a:solidFill>
                      <a:schemeClr val="accent6">
                        <a:lumMod val="40000"/>
                        <a:lumOff val="60000"/>
                      </a:schemeClr>
                    </a:solidFill>
                  </a:tcPr>
                </a:tc>
                <a:tc>
                  <a:txBody>
                    <a:bodyPr/>
                    <a:lstStyle/>
                    <a:p>
                      <a:pPr algn="ctr"/>
                      <a:r>
                        <a:rPr lang="en-US" sz="1800" dirty="0">
                          <a:solidFill>
                            <a:srgbClr val="213AF1"/>
                          </a:solidFill>
                          <a:latin typeface="Bookman Old Style" pitchFamily="18" charset="0"/>
                        </a:rPr>
                        <a:t>1</a:t>
                      </a:r>
                    </a:p>
                  </a:txBody>
                  <a:tcPr marL="89311" marR="89311" marT="44655" marB="44655" anchor="ctr">
                    <a:solidFill>
                      <a:schemeClr val="accent6">
                        <a:lumMod val="40000"/>
                        <a:lumOff val="60000"/>
                      </a:schemeClr>
                    </a:solidFill>
                  </a:tcPr>
                </a:tc>
                <a:extLst>
                  <a:ext uri="{0D108BD9-81ED-4DB2-BD59-A6C34878D82A}">
                    <a16:rowId xmlns:a16="http://schemas.microsoft.com/office/drawing/2014/main" val="10003"/>
                  </a:ext>
                </a:extLst>
              </a:tr>
              <a:tr h="362204">
                <a:tc>
                  <a:txBody>
                    <a:bodyPr/>
                    <a:lstStyle/>
                    <a:p>
                      <a:pPr algn="ctr"/>
                      <a:r>
                        <a:rPr lang="en-US" sz="1800" dirty="0">
                          <a:solidFill>
                            <a:srgbClr val="213AF1"/>
                          </a:solidFill>
                          <a:latin typeface="Bookman Old Style" pitchFamily="18" charset="0"/>
                        </a:rPr>
                        <a:t>Y</a:t>
                      </a:r>
                    </a:p>
                  </a:txBody>
                  <a:tcPr marL="89311" marR="89311" marT="44655" marB="44655" anchor="ctr">
                    <a:solidFill>
                      <a:schemeClr val="accent6">
                        <a:lumMod val="40000"/>
                        <a:lumOff val="60000"/>
                      </a:schemeClr>
                    </a:solidFill>
                  </a:tcPr>
                </a:tc>
                <a:tc>
                  <a:txBody>
                    <a:bodyPr/>
                    <a:lstStyle/>
                    <a:p>
                      <a:pPr algn="ctr"/>
                      <a:r>
                        <a:rPr lang="en-US" sz="1800" dirty="0">
                          <a:solidFill>
                            <a:srgbClr val="213AF1"/>
                          </a:solidFill>
                          <a:latin typeface="Bookman Old Style" pitchFamily="18" charset="0"/>
                        </a:rPr>
                        <a:t>2</a:t>
                      </a:r>
                    </a:p>
                  </a:txBody>
                  <a:tcPr marL="89311" marR="89311" marT="44655" marB="44655" anchor="ctr">
                    <a:solidFill>
                      <a:schemeClr val="accent6">
                        <a:lumMod val="40000"/>
                        <a:lumOff val="60000"/>
                      </a:schemeClr>
                    </a:solidFill>
                  </a:tcPr>
                </a:tc>
                <a:extLst>
                  <a:ext uri="{0D108BD9-81ED-4DB2-BD59-A6C34878D82A}">
                    <a16:rowId xmlns:a16="http://schemas.microsoft.com/office/drawing/2014/main" val="10004"/>
                  </a:ext>
                </a:extLst>
              </a:tr>
            </a:tbl>
          </a:graphicData>
        </a:graphic>
      </p:graphicFrame>
      <p:sp>
        <p:nvSpPr>
          <p:cNvPr id="2" name="Slide Number Placeholder 1">
            <a:extLst>
              <a:ext uri="{FF2B5EF4-FFF2-40B4-BE49-F238E27FC236}">
                <a16:creationId xmlns:a16="http://schemas.microsoft.com/office/drawing/2014/main" id="{11EA8FEB-764D-3131-F431-BB9589DF018A}"/>
              </a:ext>
            </a:extLst>
          </p:cNvPr>
          <p:cNvSpPr>
            <a:spLocks noGrp="1"/>
          </p:cNvSpPr>
          <p:nvPr>
            <p:ph type="sldNum" sz="quarter" idx="12"/>
          </p:nvPr>
        </p:nvSpPr>
        <p:spPr/>
        <p:txBody>
          <a:bodyPr/>
          <a:lstStyle/>
          <a:p>
            <a:fld id="{30BB16E2-1063-4ECC-B0F4-DD6A8CC0C30D}" type="slidenum">
              <a:rPr lang="en-US" smtClean="0"/>
              <a:pPr/>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71A2B7-BF6A-E28A-8B20-A472F90DC7BC}"/>
              </a:ext>
            </a:extLst>
          </p:cNvPr>
          <p:cNvSpPr>
            <a:spLocks noGrp="1"/>
          </p:cNvSpPr>
          <p:nvPr>
            <p:ph type="title"/>
          </p:nvPr>
        </p:nvSpPr>
        <p:spPr/>
        <p:txBody>
          <a:bodyPr/>
          <a:lstStyle/>
          <a:p>
            <a:r>
              <a:rPr lang="en-IN" dirty="0"/>
              <a:t>Relational Model Languages</a:t>
            </a:r>
          </a:p>
        </p:txBody>
      </p:sp>
      <p:sp>
        <p:nvSpPr>
          <p:cNvPr id="3" name="Content Placeholder 2">
            <a:extLst>
              <a:ext uri="{FF2B5EF4-FFF2-40B4-BE49-F238E27FC236}">
                <a16:creationId xmlns:a16="http://schemas.microsoft.com/office/drawing/2014/main" id="{51E45A4C-2933-B0D0-6540-C36A54F10502}"/>
              </a:ext>
            </a:extLst>
          </p:cNvPr>
          <p:cNvSpPr>
            <a:spLocks noGrp="1"/>
          </p:cNvSpPr>
          <p:nvPr>
            <p:ph idx="1"/>
          </p:nvPr>
        </p:nvSpPr>
        <p:spPr/>
        <p:txBody>
          <a:bodyPr/>
          <a:lstStyle/>
          <a:p>
            <a:pPr>
              <a:lnSpc>
                <a:spcPct val="150000"/>
              </a:lnSpc>
            </a:pPr>
            <a:r>
              <a:rPr lang="en-IN" sz="3200" dirty="0"/>
              <a:t>Relational Algebra</a:t>
            </a:r>
          </a:p>
          <a:p>
            <a:pPr>
              <a:lnSpc>
                <a:spcPct val="150000"/>
              </a:lnSpc>
            </a:pPr>
            <a:r>
              <a:rPr lang="en-IN" sz="3200" dirty="0"/>
              <a:t>Relational Calculus</a:t>
            </a:r>
          </a:p>
          <a:p>
            <a:pPr lvl="1">
              <a:lnSpc>
                <a:spcPct val="150000"/>
              </a:lnSpc>
            </a:pPr>
            <a:r>
              <a:rPr lang="en-IN" sz="3200" dirty="0"/>
              <a:t>Tuple relational Calculus</a:t>
            </a:r>
          </a:p>
          <a:p>
            <a:pPr lvl="1">
              <a:lnSpc>
                <a:spcPct val="150000"/>
              </a:lnSpc>
            </a:pPr>
            <a:r>
              <a:rPr lang="en-IN" sz="3200" dirty="0"/>
              <a:t>Domain Relational Calculus</a:t>
            </a:r>
          </a:p>
          <a:p>
            <a:endParaRPr lang="en-IN" dirty="0"/>
          </a:p>
        </p:txBody>
      </p:sp>
      <p:sp>
        <p:nvSpPr>
          <p:cNvPr id="4" name="Slide Number Placeholder 3">
            <a:extLst>
              <a:ext uri="{FF2B5EF4-FFF2-40B4-BE49-F238E27FC236}">
                <a16:creationId xmlns:a16="http://schemas.microsoft.com/office/drawing/2014/main" id="{EF4454DE-F434-3700-8CF5-5274BA40C204}"/>
              </a:ext>
            </a:extLst>
          </p:cNvPr>
          <p:cNvSpPr>
            <a:spLocks noGrp="1"/>
          </p:cNvSpPr>
          <p:nvPr>
            <p:ph type="sldNum" sz="quarter" idx="12"/>
          </p:nvPr>
        </p:nvSpPr>
        <p:spPr/>
        <p:txBody>
          <a:bodyPr/>
          <a:lstStyle/>
          <a:p>
            <a:fld id="{30BB16E2-1063-4ECC-B0F4-DD6A8CC0C30D}" type="slidenum">
              <a:rPr lang="en-US" smtClean="0"/>
              <a:pPr/>
              <a:t>27</a:t>
            </a:fld>
            <a:endParaRPr lang="en-US"/>
          </a:p>
        </p:txBody>
      </p:sp>
    </p:spTree>
    <p:extLst>
      <p:ext uri="{BB962C8B-B14F-4D97-AF65-F5344CB8AC3E}">
        <p14:creationId xmlns:p14="http://schemas.microsoft.com/office/powerpoint/2010/main" val="4288101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500" y="628717"/>
            <a:ext cx="10535934" cy="5314359"/>
          </a:xfrm>
        </p:spPr>
        <p:txBody>
          <a:bodyPr>
            <a:noAutofit/>
          </a:bodyPr>
          <a:lstStyle/>
          <a:p>
            <a:pPr>
              <a:lnSpc>
                <a:spcPct val="120000"/>
              </a:lnSpc>
              <a:buClr>
                <a:srgbClr val="C00000"/>
              </a:buClr>
              <a:buFont typeface="Wingdings" pitchFamily="2" charset="2"/>
              <a:buChar char="ü"/>
            </a:pPr>
            <a:r>
              <a:rPr lang="en-US" sz="2000" dirty="0">
                <a:solidFill>
                  <a:srgbClr val="213AF1"/>
                </a:solidFill>
                <a:latin typeface="Bookman Old Style" pitchFamily="18" charset="0"/>
              </a:rPr>
              <a:t>Relational algebra is a procedural query language.</a:t>
            </a:r>
          </a:p>
          <a:p>
            <a:pPr>
              <a:lnSpc>
                <a:spcPct val="120000"/>
              </a:lnSpc>
              <a:buClr>
                <a:srgbClr val="C00000"/>
              </a:buClr>
              <a:buFont typeface="Wingdings" pitchFamily="2" charset="2"/>
              <a:buChar char="ü"/>
            </a:pPr>
            <a:r>
              <a:rPr lang="en-US" sz="2000" dirty="0">
                <a:solidFill>
                  <a:srgbClr val="213AF1"/>
                </a:solidFill>
                <a:latin typeface="Bookman Old Style" pitchFamily="18" charset="0"/>
              </a:rPr>
              <a:t>provides a theoretical foundation for relational databases and SQL</a:t>
            </a:r>
          </a:p>
          <a:p>
            <a:pPr>
              <a:lnSpc>
                <a:spcPct val="120000"/>
              </a:lnSpc>
              <a:buClr>
                <a:srgbClr val="C00000"/>
              </a:buClr>
              <a:buFont typeface="Wingdings" pitchFamily="2" charset="2"/>
              <a:buChar char="ü"/>
            </a:pPr>
            <a:r>
              <a:rPr lang="en-US" sz="2000" dirty="0">
                <a:solidFill>
                  <a:srgbClr val="213AF1"/>
                </a:solidFill>
                <a:latin typeface="Bookman Old Style" pitchFamily="18" charset="0"/>
              </a:rPr>
              <a:t>define operators that transform one or more input relations into an output relation</a:t>
            </a:r>
          </a:p>
          <a:p>
            <a:pPr>
              <a:lnSpc>
                <a:spcPct val="120000"/>
              </a:lnSpc>
              <a:buClr>
                <a:srgbClr val="C00000"/>
              </a:buClr>
              <a:buFont typeface="Wingdings" pitchFamily="2" charset="2"/>
              <a:buChar char="ü"/>
            </a:pPr>
            <a:r>
              <a:rPr lang="en-US" sz="2000" dirty="0">
                <a:solidFill>
                  <a:srgbClr val="213AF1"/>
                </a:solidFill>
                <a:latin typeface="Bookman Old Style" pitchFamily="18" charset="0"/>
              </a:rPr>
              <a:t>An operator can be either unary or binary</a:t>
            </a:r>
          </a:p>
          <a:p>
            <a:pPr>
              <a:lnSpc>
                <a:spcPct val="120000"/>
              </a:lnSpc>
              <a:buClr>
                <a:srgbClr val="C00000"/>
              </a:buClr>
              <a:buFont typeface="Wingdings" pitchFamily="2" charset="2"/>
              <a:buChar char="ü"/>
            </a:pPr>
            <a:r>
              <a:rPr lang="en-US" sz="2000" dirty="0">
                <a:solidFill>
                  <a:srgbClr val="213AF1"/>
                </a:solidFill>
                <a:latin typeface="Bookman Old Style" pitchFamily="18" charset="0"/>
              </a:rPr>
              <a:t>Relational algebra is performed recursively on a relation and intermediate results are also considered relations.</a:t>
            </a:r>
          </a:p>
          <a:p>
            <a:pPr>
              <a:lnSpc>
                <a:spcPct val="120000"/>
              </a:lnSpc>
              <a:buClr>
                <a:srgbClr val="C00000"/>
              </a:buClr>
              <a:buFont typeface="Wingdings" pitchFamily="2" charset="2"/>
              <a:buChar char="ü"/>
            </a:pPr>
            <a:r>
              <a:rPr lang="en-US" sz="2000" b="1" dirty="0">
                <a:solidFill>
                  <a:srgbClr val="213AF1"/>
                </a:solidFill>
                <a:latin typeface="Bookman Old Style" pitchFamily="18" charset="0"/>
              </a:rPr>
              <a:t>Fundamental operations of Relational Algebra</a:t>
            </a:r>
          </a:p>
          <a:p>
            <a:pPr marL="1371600" lvl="2" indent="-457200">
              <a:lnSpc>
                <a:spcPct val="120000"/>
              </a:lnSpc>
              <a:buClr>
                <a:srgbClr val="C00000"/>
              </a:buClr>
              <a:buFont typeface="+mj-lt"/>
              <a:buAutoNum type="arabicPeriod"/>
            </a:pPr>
            <a:r>
              <a:rPr lang="en-US" dirty="0">
                <a:solidFill>
                  <a:srgbClr val="213AF1"/>
                </a:solidFill>
                <a:latin typeface="Bookman Old Style" pitchFamily="18" charset="0"/>
              </a:rPr>
              <a:t>Select Operation (</a:t>
            </a:r>
            <a:r>
              <a:rPr lang="el-GR" dirty="0">
                <a:solidFill>
                  <a:srgbClr val="213AF1"/>
                </a:solidFill>
                <a:latin typeface="Bookman Old Style" pitchFamily="18" charset="0"/>
              </a:rPr>
              <a:t>σ)</a:t>
            </a:r>
          </a:p>
          <a:p>
            <a:pPr marL="1371600" lvl="2" indent="-457200">
              <a:lnSpc>
                <a:spcPct val="120000"/>
              </a:lnSpc>
              <a:buClr>
                <a:srgbClr val="C00000"/>
              </a:buClr>
              <a:buFont typeface="+mj-lt"/>
              <a:buAutoNum type="arabicPeriod"/>
            </a:pPr>
            <a:r>
              <a:rPr lang="en-US" dirty="0">
                <a:solidFill>
                  <a:srgbClr val="213AF1"/>
                </a:solidFill>
                <a:latin typeface="Bookman Old Style" pitchFamily="18" charset="0"/>
              </a:rPr>
              <a:t>Project Operation (∏)</a:t>
            </a:r>
          </a:p>
          <a:p>
            <a:pPr marL="1371600" lvl="2" indent="-457200">
              <a:lnSpc>
                <a:spcPct val="120000"/>
              </a:lnSpc>
              <a:buClr>
                <a:srgbClr val="C00000"/>
              </a:buClr>
              <a:buFont typeface="+mj-lt"/>
              <a:buAutoNum type="arabicPeriod"/>
            </a:pPr>
            <a:r>
              <a:rPr lang="en-US" dirty="0">
                <a:solidFill>
                  <a:srgbClr val="213AF1"/>
                </a:solidFill>
                <a:latin typeface="Bookman Old Style" pitchFamily="18" charset="0"/>
              </a:rPr>
              <a:t>Set Operations</a:t>
            </a:r>
          </a:p>
          <a:p>
            <a:pPr lvl="3">
              <a:lnSpc>
                <a:spcPct val="120000"/>
              </a:lnSpc>
              <a:buClr>
                <a:srgbClr val="C00000"/>
              </a:buClr>
            </a:pPr>
            <a:r>
              <a:rPr lang="en-US" dirty="0">
                <a:solidFill>
                  <a:srgbClr val="213AF1"/>
                </a:solidFill>
                <a:latin typeface="Bookman Old Style" pitchFamily="18" charset="0"/>
              </a:rPr>
              <a:t>Union Operation (∪)</a:t>
            </a:r>
          </a:p>
          <a:p>
            <a:pPr lvl="3">
              <a:lnSpc>
                <a:spcPct val="120000"/>
              </a:lnSpc>
              <a:buClr>
                <a:srgbClr val="C00000"/>
              </a:buClr>
            </a:pPr>
            <a:r>
              <a:rPr lang="en-US" dirty="0">
                <a:solidFill>
                  <a:srgbClr val="213AF1"/>
                </a:solidFill>
                <a:latin typeface="Bookman Old Style" pitchFamily="18" charset="0"/>
              </a:rPr>
              <a:t>Intersection (∩)</a:t>
            </a:r>
          </a:p>
          <a:p>
            <a:pPr lvl="3">
              <a:lnSpc>
                <a:spcPct val="120000"/>
              </a:lnSpc>
              <a:buClr>
                <a:srgbClr val="C00000"/>
              </a:buClr>
            </a:pPr>
            <a:r>
              <a:rPr lang="en-US" dirty="0">
                <a:solidFill>
                  <a:srgbClr val="213AF1"/>
                </a:solidFill>
                <a:latin typeface="Bookman Old Style" pitchFamily="18" charset="0"/>
              </a:rPr>
              <a:t>Set Difference  (−)</a:t>
            </a:r>
          </a:p>
        </p:txBody>
      </p:sp>
      <p:sp>
        <p:nvSpPr>
          <p:cNvPr id="7" name="Title 1"/>
          <p:cNvSpPr>
            <a:spLocks noGrp="1"/>
          </p:cNvSpPr>
          <p:nvPr>
            <p:ph type="title"/>
          </p:nvPr>
        </p:nvSpPr>
        <p:spPr>
          <a:xfrm>
            <a:off x="187701" y="0"/>
            <a:ext cx="11880252" cy="777573"/>
          </a:xfrm>
        </p:spPr>
        <p:txBody>
          <a:bodyPr>
            <a:normAutofit/>
          </a:bodyPr>
          <a:lstStyle/>
          <a:p>
            <a:pPr algn="l"/>
            <a:r>
              <a:rPr lang="en-US" sz="2735" dirty="0">
                <a:solidFill>
                  <a:srgbClr val="FF0000"/>
                </a:solidFill>
                <a:latin typeface="Copperplate Gothic Light" pitchFamily="34" charset="0"/>
              </a:rPr>
              <a:t>Relational Algebra – Fundamental  Operators and syntax</a:t>
            </a:r>
            <a:endParaRPr lang="en-US" sz="3125" dirty="0">
              <a:solidFill>
                <a:srgbClr val="FF0000"/>
              </a:solidFill>
              <a:latin typeface="Copperplate Gothic Light" pitchFamily="34" charset="0"/>
            </a:endParaRPr>
          </a:p>
        </p:txBody>
      </p:sp>
      <p:sp>
        <p:nvSpPr>
          <p:cNvPr id="2" name="Slide Number Placeholder 1">
            <a:extLst>
              <a:ext uri="{FF2B5EF4-FFF2-40B4-BE49-F238E27FC236}">
                <a16:creationId xmlns:a16="http://schemas.microsoft.com/office/drawing/2014/main" id="{611926BD-AEC3-B3DC-883D-7B7A163060AD}"/>
              </a:ext>
            </a:extLst>
          </p:cNvPr>
          <p:cNvSpPr>
            <a:spLocks noGrp="1"/>
          </p:cNvSpPr>
          <p:nvPr>
            <p:ph type="sldNum" sz="quarter" idx="12"/>
          </p:nvPr>
        </p:nvSpPr>
        <p:spPr/>
        <p:txBody>
          <a:bodyPr/>
          <a:lstStyle/>
          <a:p>
            <a:fld id="{30BB16E2-1063-4ECC-B0F4-DD6A8CC0C30D}" type="slidenum">
              <a:rPr lang="en-US" smtClean="0"/>
              <a:pPr/>
              <a:t>28</a:t>
            </a:fld>
            <a:endParaRPr lang="en-US"/>
          </a:p>
        </p:txBody>
      </p:sp>
      <p:sp>
        <p:nvSpPr>
          <p:cNvPr id="5" name="TextBox 4">
            <a:extLst>
              <a:ext uri="{FF2B5EF4-FFF2-40B4-BE49-F238E27FC236}">
                <a16:creationId xmlns:a16="http://schemas.microsoft.com/office/drawing/2014/main" id="{1DC3A938-60FA-6990-CCAB-0233C4116C4C}"/>
              </a:ext>
            </a:extLst>
          </p:cNvPr>
          <p:cNvSpPr txBox="1"/>
          <p:nvPr/>
        </p:nvSpPr>
        <p:spPr>
          <a:xfrm>
            <a:off x="4812661" y="4352437"/>
            <a:ext cx="6284571" cy="1544077"/>
          </a:xfrm>
          <a:prstGeom prst="rect">
            <a:avLst/>
          </a:prstGeom>
          <a:noFill/>
        </p:spPr>
        <p:txBody>
          <a:bodyPr wrap="square">
            <a:spAutoFit/>
          </a:bodyPr>
          <a:lstStyle/>
          <a:p>
            <a:pPr marL="1371600" lvl="2" indent="-457200">
              <a:lnSpc>
                <a:spcPct val="120000"/>
              </a:lnSpc>
              <a:buClr>
                <a:srgbClr val="C00000"/>
              </a:buClr>
              <a:buFont typeface="+mj-lt"/>
              <a:buAutoNum type="arabicPeriod" startAt="4"/>
            </a:pPr>
            <a:r>
              <a:rPr lang="en-US" sz="2000" dirty="0">
                <a:solidFill>
                  <a:srgbClr val="213AF1"/>
                </a:solidFill>
                <a:latin typeface="Bookman Old Style" pitchFamily="18" charset="0"/>
              </a:rPr>
              <a:t>Join Operation (⋈)</a:t>
            </a:r>
          </a:p>
          <a:p>
            <a:pPr marL="1371600" lvl="2" indent="-457200">
              <a:lnSpc>
                <a:spcPct val="120000"/>
              </a:lnSpc>
              <a:buClr>
                <a:srgbClr val="C00000"/>
              </a:buClr>
              <a:buFont typeface="+mj-lt"/>
              <a:buAutoNum type="arabicPeriod" startAt="4"/>
            </a:pPr>
            <a:r>
              <a:rPr lang="en-US" sz="2000" dirty="0">
                <a:solidFill>
                  <a:srgbClr val="213AF1"/>
                </a:solidFill>
                <a:latin typeface="Bookman Old Style" pitchFamily="18" charset="0"/>
              </a:rPr>
              <a:t>Cartesian Product (</a:t>
            </a:r>
            <a:r>
              <a:rPr lang="el-GR" sz="2000" dirty="0">
                <a:solidFill>
                  <a:srgbClr val="213AF1"/>
                </a:solidFill>
                <a:latin typeface="Bookman Old Style" pitchFamily="18" charset="0"/>
              </a:rPr>
              <a:t>Χ)</a:t>
            </a:r>
          </a:p>
          <a:p>
            <a:pPr marL="1371600" lvl="2" indent="-457200">
              <a:lnSpc>
                <a:spcPct val="120000"/>
              </a:lnSpc>
              <a:buClr>
                <a:srgbClr val="C00000"/>
              </a:buClr>
              <a:buFont typeface="+mj-lt"/>
              <a:buAutoNum type="arabicPeriod" startAt="4"/>
            </a:pPr>
            <a:r>
              <a:rPr lang="en-US" sz="2000" dirty="0">
                <a:solidFill>
                  <a:srgbClr val="213AF1"/>
                </a:solidFill>
                <a:latin typeface="Bookman Old Style" pitchFamily="18" charset="0"/>
              </a:rPr>
              <a:t>Rename Operation (</a:t>
            </a:r>
            <a:r>
              <a:rPr lang="el-GR" sz="2000" dirty="0">
                <a:solidFill>
                  <a:srgbClr val="213AF1"/>
                </a:solidFill>
                <a:latin typeface="Bookman Old Style" pitchFamily="18" charset="0"/>
              </a:rPr>
              <a:t>ρ)</a:t>
            </a:r>
            <a:endParaRPr lang="en-IN" sz="2000" dirty="0">
              <a:solidFill>
                <a:srgbClr val="213AF1"/>
              </a:solidFill>
              <a:latin typeface="Bookman Old Style" pitchFamily="18" charset="0"/>
            </a:endParaRPr>
          </a:p>
          <a:p>
            <a:pPr marL="1371600" lvl="2" indent="-457200">
              <a:lnSpc>
                <a:spcPct val="120000"/>
              </a:lnSpc>
              <a:buClr>
                <a:srgbClr val="C00000"/>
              </a:buClr>
              <a:buFont typeface="+mj-lt"/>
              <a:buAutoNum type="arabicPeriod" startAt="4"/>
            </a:pPr>
            <a:r>
              <a:rPr lang="en-IN" sz="2000" dirty="0">
                <a:solidFill>
                  <a:srgbClr val="213AF1"/>
                </a:solidFill>
                <a:latin typeface="Bookman Old Style" pitchFamily="18" charset="0"/>
              </a:rPr>
              <a:t>Assignment Operation (</a:t>
            </a:r>
            <a:r>
              <a:rPr lang="en-IN" sz="2000" dirty="0">
                <a:solidFill>
                  <a:srgbClr val="0000FF"/>
                </a:solidFill>
              </a:rPr>
              <a:t>←</a:t>
            </a:r>
            <a:r>
              <a:rPr lang="en-IN" sz="2000" dirty="0">
                <a:solidFill>
                  <a:srgbClr val="213AF1"/>
                </a:solidFill>
                <a:latin typeface="Bookman Old Style" pitchFamily="18" charset="0"/>
              </a:rPr>
              <a:t>)</a:t>
            </a:r>
            <a:endParaRPr lang="el-GR" sz="2000" dirty="0">
              <a:solidFill>
                <a:srgbClr val="213AF1"/>
              </a:solidFill>
              <a:latin typeface="Bookman Old Style"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500" y="707798"/>
            <a:ext cx="11038971" cy="5721501"/>
          </a:xfrm>
        </p:spPr>
        <p:txBody>
          <a:bodyPr>
            <a:normAutofit fontScale="92500" lnSpcReduction="10000"/>
          </a:bodyPr>
          <a:lstStyle/>
          <a:p>
            <a:pPr>
              <a:buNone/>
            </a:pPr>
            <a:r>
              <a:rPr lang="en-US" sz="2735" b="1" dirty="0">
                <a:solidFill>
                  <a:srgbClr val="C00000"/>
                </a:solidFill>
                <a:latin typeface="Copperplate Gothic Light" pitchFamily="34" charset="0"/>
              </a:rPr>
              <a:t>Select Operation (</a:t>
            </a:r>
            <a:r>
              <a:rPr lang="el-GR" sz="2735" b="1" dirty="0">
                <a:solidFill>
                  <a:srgbClr val="C00000"/>
                </a:solidFill>
              </a:rPr>
              <a:t>σ)</a:t>
            </a:r>
          </a:p>
          <a:p>
            <a:pPr>
              <a:buNone/>
            </a:pPr>
            <a:r>
              <a:rPr lang="en-US" sz="2539" dirty="0">
                <a:solidFill>
                  <a:srgbClr val="213AF1"/>
                </a:solidFill>
                <a:latin typeface="Bookman Old Style" pitchFamily="18" charset="0"/>
              </a:rPr>
              <a:t>It retrieves the records that satisfy the given predicate from  a relation</a:t>
            </a:r>
          </a:p>
          <a:p>
            <a:pPr>
              <a:buNone/>
            </a:pPr>
            <a:r>
              <a:rPr lang="en-US" sz="2539" dirty="0">
                <a:solidFill>
                  <a:srgbClr val="C00000"/>
                </a:solidFill>
                <a:latin typeface="Bookman Old Style" pitchFamily="18" charset="0"/>
              </a:rPr>
              <a:t>Notation</a:t>
            </a:r>
            <a:r>
              <a:rPr lang="en-US" sz="2539" dirty="0">
                <a:solidFill>
                  <a:srgbClr val="213AF1"/>
                </a:solidFill>
                <a:latin typeface="Bookman Old Style" pitchFamily="18" charset="0"/>
              </a:rPr>
              <a:t> </a:t>
            </a:r>
            <a:r>
              <a:rPr lang="en-US" sz="2539" dirty="0">
                <a:solidFill>
                  <a:srgbClr val="C00000"/>
                </a:solidFill>
                <a:latin typeface="Bookman Old Style" pitchFamily="18" charset="0"/>
              </a:rPr>
              <a:t>: </a:t>
            </a:r>
            <a:r>
              <a:rPr lang="el-GR" sz="2539" dirty="0">
                <a:solidFill>
                  <a:srgbClr val="213AF1"/>
                </a:solidFill>
                <a:latin typeface="Bookman Old Style" pitchFamily="18" charset="0"/>
              </a:rPr>
              <a:t>σ</a:t>
            </a:r>
            <a:r>
              <a:rPr lang="en-US" sz="2539" i="1" baseline="-25000" dirty="0">
                <a:solidFill>
                  <a:srgbClr val="213AF1"/>
                </a:solidFill>
                <a:latin typeface="Bookman Old Style" pitchFamily="18" charset="0"/>
              </a:rPr>
              <a:t>p</a:t>
            </a:r>
            <a:r>
              <a:rPr lang="en-US" sz="2539" dirty="0">
                <a:solidFill>
                  <a:srgbClr val="213AF1"/>
                </a:solidFill>
                <a:latin typeface="Bookman Old Style" pitchFamily="18" charset="0"/>
              </a:rPr>
              <a:t>(r)</a:t>
            </a:r>
          </a:p>
          <a:p>
            <a:pPr>
              <a:buNone/>
            </a:pPr>
            <a:r>
              <a:rPr lang="en-US" sz="2539" dirty="0">
                <a:solidFill>
                  <a:srgbClr val="213AF1"/>
                </a:solidFill>
                <a:latin typeface="Bookman Old Style" pitchFamily="18" charset="0"/>
              </a:rPr>
              <a:t>Where </a:t>
            </a:r>
          </a:p>
          <a:p>
            <a:pPr>
              <a:buNone/>
            </a:pPr>
            <a:r>
              <a:rPr lang="en-US" sz="2539" dirty="0">
                <a:solidFill>
                  <a:srgbClr val="213AF1"/>
                </a:solidFill>
                <a:latin typeface="Bookman Old Style" pitchFamily="18" charset="0"/>
              </a:rPr>
              <a:t>	</a:t>
            </a:r>
            <a:r>
              <a:rPr lang="el-GR" sz="2539" dirty="0">
                <a:solidFill>
                  <a:srgbClr val="213AF1"/>
                </a:solidFill>
                <a:latin typeface="Bookman Old Style" pitchFamily="18" charset="0"/>
              </a:rPr>
              <a:t>σ </a:t>
            </a:r>
            <a:r>
              <a:rPr lang="en-US" sz="2539" dirty="0">
                <a:solidFill>
                  <a:srgbClr val="213AF1"/>
                </a:solidFill>
                <a:latin typeface="Bookman Old Style" pitchFamily="18" charset="0"/>
              </a:rPr>
              <a:t>- Selection Predicate </a:t>
            </a:r>
          </a:p>
          <a:p>
            <a:pPr>
              <a:buNone/>
            </a:pPr>
            <a:r>
              <a:rPr lang="en-US" sz="2539" dirty="0">
                <a:solidFill>
                  <a:srgbClr val="213AF1"/>
                </a:solidFill>
                <a:latin typeface="Bookman Old Style" pitchFamily="18" charset="0"/>
              </a:rPr>
              <a:t>	r – Relation</a:t>
            </a:r>
          </a:p>
          <a:p>
            <a:pPr>
              <a:buNone/>
            </a:pPr>
            <a:r>
              <a:rPr lang="en-US" sz="2539" i="1" dirty="0">
                <a:solidFill>
                  <a:srgbClr val="213AF1"/>
                </a:solidFill>
                <a:latin typeface="Bookman Old Style" pitchFamily="18" charset="0"/>
              </a:rPr>
              <a:t>	p – </a:t>
            </a:r>
            <a:r>
              <a:rPr lang="en-US" sz="2539" dirty="0">
                <a:solidFill>
                  <a:srgbClr val="213AF1"/>
                </a:solidFill>
                <a:latin typeface="Bookman Old Style" pitchFamily="18" charset="0"/>
              </a:rPr>
              <a:t>Prepositional logic formula</a:t>
            </a:r>
          </a:p>
          <a:p>
            <a:pPr>
              <a:buNone/>
            </a:pPr>
            <a:endParaRPr lang="en-US" sz="2539" dirty="0">
              <a:solidFill>
                <a:srgbClr val="C00000"/>
              </a:solidFill>
              <a:latin typeface="Bookman Old Style" pitchFamily="18" charset="0"/>
            </a:endParaRPr>
          </a:p>
          <a:p>
            <a:pPr>
              <a:buNone/>
            </a:pPr>
            <a:r>
              <a:rPr lang="en-US" sz="2539" dirty="0">
                <a:solidFill>
                  <a:srgbClr val="C00000"/>
                </a:solidFill>
                <a:latin typeface="Bookman Old Style" pitchFamily="18" charset="0"/>
              </a:rPr>
              <a:t>Example 1:</a:t>
            </a:r>
            <a:r>
              <a:rPr lang="en-US" sz="2539" dirty="0">
                <a:solidFill>
                  <a:srgbClr val="213AF1"/>
                </a:solidFill>
                <a:latin typeface="Bookman Old Style" pitchFamily="18" charset="0"/>
              </a:rPr>
              <a:t>  </a:t>
            </a:r>
            <a:r>
              <a:rPr lang="el-GR" sz="2735" dirty="0">
                <a:solidFill>
                  <a:srgbClr val="213AF1"/>
                </a:solidFill>
                <a:latin typeface="Bookman Old Style" pitchFamily="18" charset="0"/>
              </a:rPr>
              <a:t>σ</a:t>
            </a:r>
            <a:r>
              <a:rPr lang="en-US" sz="2735" i="1" baseline="-25000" dirty="0">
                <a:solidFill>
                  <a:srgbClr val="213AF1"/>
                </a:solidFill>
                <a:latin typeface="Bookman Old Style" pitchFamily="18" charset="0"/>
              </a:rPr>
              <a:t>JOB = “MANAGER"</a:t>
            </a:r>
            <a:r>
              <a:rPr lang="en-US" sz="2735" dirty="0">
                <a:solidFill>
                  <a:srgbClr val="213AF1"/>
                </a:solidFill>
                <a:latin typeface="Bookman Old Style" pitchFamily="18" charset="0"/>
              </a:rPr>
              <a:t>(EMP)</a:t>
            </a:r>
          </a:p>
          <a:p>
            <a:pPr>
              <a:buNone/>
            </a:pPr>
            <a:r>
              <a:rPr lang="en-US" sz="2735" dirty="0">
                <a:solidFill>
                  <a:srgbClr val="C00000"/>
                </a:solidFill>
                <a:latin typeface="Bookman Old Style" pitchFamily="18" charset="0"/>
              </a:rPr>
              <a:t>Output</a:t>
            </a:r>
            <a:r>
              <a:rPr lang="en-US" sz="2735" dirty="0">
                <a:solidFill>
                  <a:srgbClr val="213AF1"/>
                </a:solidFill>
                <a:latin typeface="Bookman Old Style" pitchFamily="18" charset="0"/>
              </a:rPr>
              <a:t>  </a:t>
            </a:r>
            <a:r>
              <a:rPr lang="en-US" sz="2735" dirty="0">
                <a:solidFill>
                  <a:srgbClr val="C00000"/>
                </a:solidFill>
                <a:latin typeface="Bookman Old Style" pitchFamily="18" charset="0"/>
              </a:rPr>
              <a:t>:</a:t>
            </a:r>
            <a:r>
              <a:rPr lang="en-US" sz="2735" dirty="0">
                <a:solidFill>
                  <a:srgbClr val="213AF1"/>
                </a:solidFill>
                <a:latin typeface="Bookman Old Style" pitchFamily="18" charset="0"/>
              </a:rPr>
              <a:t>  Retrieve the records from </a:t>
            </a:r>
            <a:r>
              <a:rPr lang="en-US" sz="2735" dirty="0" err="1">
                <a:solidFill>
                  <a:srgbClr val="213AF1"/>
                </a:solidFill>
                <a:latin typeface="Bookman Old Style" pitchFamily="18" charset="0"/>
              </a:rPr>
              <a:t>emp</a:t>
            </a:r>
            <a:r>
              <a:rPr lang="en-US" sz="2735" dirty="0">
                <a:solidFill>
                  <a:srgbClr val="213AF1"/>
                </a:solidFill>
                <a:latin typeface="Bookman Old Style" pitchFamily="18" charset="0"/>
              </a:rPr>
              <a:t> where job is manager </a:t>
            </a:r>
          </a:p>
          <a:p>
            <a:pPr>
              <a:buNone/>
            </a:pPr>
            <a:endParaRPr lang="en-US" sz="2735" dirty="0">
              <a:solidFill>
                <a:srgbClr val="C00000"/>
              </a:solidFill>
              <a:latin typeface="Bookman Old Style" pitchFamily="18" charset="0"/>
            </a:endParaRPr>
          </a:p>
          <a:p>
            <a:pPr>
              <a:buNone/>
            </a:pPr>
            <a:r>
              <a:rPr lang="en-US" sz="2735" dirty="0">
                <a:solidFill>
                  <a:srgbClr val="C00000"/>
                </a:solidFill>
                <a:latin typeface="Bookman Old Style" pitchFamily="18" charset="0"/>
              </a:rPr>
              <a:t>Example 2 : </a:t>
            </a:r>
            <a:r>
              <a:rPr lang="en-US" sz="2735" dirty="0" err="1">
                <a:solidFill>
                  <a:srgbClr val="213AF1"/>
                </a:solidFill>
                <a:latin typeface="Bookman Old Style" pitchFamily="18" charset="0"/>
              </a:rPr>
              <a:t>σ</a:t>
            </a:r>
            <a:r>
              <a:rPr lang="en-US" sz="2735" baseline="-25000" dirty="0" err="1">
                <a:solidFill>
                  <a:srgbClr val="213AF1"/>
                </a:solidFill>
                <a:latin typeface="Bookman Old Style" pitchFamily="18" charset="0"/>
              </a:rPr>
              <a:t>JOB</a:t>
            </a:r>
            <a:r>
              <a:rPr lang="en-US" sz="2735" baseline="-25000" dirty="0">
                <a:solidFill>
                  <a:srgbClr val="213AF1"/>
                </a:solidFill>
                <a:latin typeface="Bookman Old Style" pitchFamily="18" charset="0"/>
              </a:rPr>
              <a:t> = “MANAGER" and DEPTNO = 20</a:t>
            </a:r>
            <a:r>
              <a:rPr lang="en-US" sz="2735" dirty="0">
                <a:solidFill>
                  <a:srgbClr val="213AF1"/>
                </a:solidFill>
                <a:latin typeface="Bookman Old Style" pitchFamily="18" charset="0"/>
              </a:rPr>
              <a:t>(EMP)</a:t>
            </a:r>
          </a:p>
          <a:p>
            <a:pPr>
              <a:buNone/>
            </a:pPr>
            <a:r>
              <a:rPr lang="en-US" sz="2735" dirty="0">
                <a:solidFill>
                  <a:srgbClr val="C00000"/>
                </a:solidFill>
                <a:latin typeface="Bookman Old Style" pitchFamily="18" charset="0"/>
              </a:rPr>
              <a:t>Output : </a:t>
            </a:r>
            <a:r>
              <a:rPr lang="en-US" sz="2735" dirty="0">
                <a:solidFill>
                  <a:srgbClr val="213AF1"/>
                </a:solidFill>
                <a:latin typeface="Bookman Old Style" pitchFamily="18" charset="0"/>
              </a:rPr>
              <a:t>Retrieve the records from </a:t>
            </a:r>
            <a:r>
              <a:rPr lang="en-US" sz="2735" dirty="0" err="1">
                <a:solidFill>
                  <a:srgbClr val="213AF1"/>
                </a:solidFill>
                <a:latin typeface="Bookman Old Style" pitchFamily="18" charset="0"/>
              </a:rPr>
              <a:t>emp</a:t>
            </a:r>
            <a:r>
              <a:rPr lang="en-US" sz="2735" dirty="0">
                <a:solidFill>
                  <a:srgbClr val="213AF1"/>
                </a:solidFill>
                <a:latin typeface="Bookman Old Style" pitchFamily="18" charset="0"/>
              </a:rPr>
              <a:t> where job is manger and 	    </a:t>
            </a:r>
            <a:r>
              <a:rPr lang="en-US" sz="2735" dirty="0" err="1">
                <a:solidFill>
                  <a:srgbClr val="213AF1"/>
                </a:solidFill>
                <a:latin typeface="Bookman Old Style" pitchFamily="18" charset="0"/>
              </a:rPr>
              <a:t>deptno</a:t>
            </a:r>
            <a:r>
              <a:rPr lang="en-US" sz="2735" dirty="0">
                <a:solidFill>
                  <a:srgbClr val="213AF1"/>
                </a:solidFill>
                <a:latin typeface="Bookman Old Style" pitchFamily="18" charset="0"/>
              </a:rPr>
              <a:t> is 20. </a:t>
            </a:r>
            <a:endParaRPr lang="en-US" sz="2539" dirty="0">
              <a:solidFill>
                <a:srgbClr val="213AF1"/>
              </a:solidFill>
              <a:latin typeface="Bookman Old Style" pitchFamily="18" charset="0"/>
            </a:endParaRPr>
          </a:p>
        </p:txBody>
      </p:sp>
      <p:sp>
        <p:nvSpPr>
          <p:cNvPr id="2" name="Slide Number Placeholder 1">
            <a:extLst>
              <a:ext uri="{FF2B5EF4-FFF2-40B4-BE49-F238E27FC236}">
                <a16:creationId xmlns:a16="http://schemas.microsoft.com/office/drawing/2014/main" id="{2067C420-D5BA-F603-6BF5-A94150B6DD18}"/>
              </a:ext>
            </a:extLst>
          </p:cNvPr>
          <p:cNvSpPr>
            <a:spLocks noGrp="1"/>
          </p:cNvSpPr>
          <p:nvPr>
            <p:ph type="sldNum" sz="quarter" idx="12"/>
          </p:nvPr>
        </p:nvSpPr>
        <p:spPr/>
        <p:txBody>
          <a:bodyPr/>
          <a:lstStyle/>
          <a:p>
            <a:fld id="{30BB16E2-1063-4ECC-B0F4-DD6A8CC0C30D}" type="slidenum">
              <a:rPr lang="en-US" smtClean="0"/>
              <a:pPr/>
              <a:t>29</a:t>
            </a:fld>
            <a:endParaRPr lang="en-US"/>
          </a:p>
        </p:txBody>
      </p:sp>
      <p:sp>
        <p:nvSpPr>
          <p:cNvPr id="6" name="Title 1">
            <a:extLst>
              <a:ext uri="{FF2B5EF4-FFF2-40B4-BE49-F238E27FC236}">
                <a16:creationId xmlns:a16="http://schemas.microsoft.com/office/drawing/2014/main" id="{C5B0FF58-0EAE-0F52-3E30-0F9F9A4759CA}"/>
              </a:ext>
            </a:extLst>
          </p:cNvPr>
          <p:cNvSpPr txBox="1">
            <a:spLocks/>
          </p:cNvSpPr>
          <p:nvPr/>
        </p:nvSpPr>
        <p:spPr>
          <a:xfrm>
            <a:off x="187701" y="0"/>
            <a:ext cx="11880252" cy="7775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735">
                <a:solidFill>
                  <a:srgbClr val="FF0000"/>
                </a:solidFill>
                <a:latin typeface="Copperplate Gothic Light" pitchFamily="34" charset="0"/>
              </a:rPr>
              <a:t>Relational Algebra – Fundamental  Operators and syntax</a:t>
            </a:r>
            <a:endParaRPr lang="en-US" sz="3125" dirty="0">
              <a:solidFill>
                <a:srgbClr val="FF0000"/>
              </a:solidFill>
              <a:latin typeface="Copperplate Gothic Light" pitchFamily="34"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5EBFA-D004-77BD-E5BC-1946D12CB714}"/>
              </a:ext>
            </a:extLst>
          </p:cNvPr>
          <p:cNvSpPr>
            <a:spLocks noGrp="1"/>
          </p:cNvSpPr>
          <p:nvPr>
            <p:ph type="title"/>
          </p:nvPr>
        </p:nvSpPr>
        <p:spPr/>
        <p:txBody>
          <a:bodyPr/>
          <a:lstStyle/>
          <a:p>
            <a:r>
              <a:rPr lang="en-IN" dirty="0"/>
              <a:t>Example</a:t>
            </a:r>
          </a:p>
        </p:txBody>
      </p:sp>
      <p:graphicFrame>
        <p:nvGraphicFramePr>
          <p:cNvPr id="16" name="Content Placeholder 2">
            <a:extLst>
              <a:ext uri="{FF2B5EF4-FFF2-40B4-BE49-F238E27FC236}">
                <a16:creationId xmlns:a16="http://schemas.microsoft.com/office/drawing/2014/main" id="{B06C9FAD-00AB-37B0-C8CB-0BB30072F42F}"/>
              </a:ext>
            </a:extLst>
          </p:cNvPr>
          <p:cNvGraphicFramePr>
            <a:graphicFrameLocks noGrp="1"/>
          </p:cNvGraphicFramePr>
          <p:nvPr>
            <p:ph idx="1"/>
            <p:extLst>
              <p:ext uri="{D42A27DB-BD31-4B8C-83A1-F6EECF244321}">
                <p14:modId xmlns:p14="http://schemas.microsoft.com/office/powerpoint/2010/main" val="3785742297"/>
              </p:ext>
            </p:extLst>
          </p:nvPr>
        </p:nvGraphicFramePr>
        <p:xfrm>
          <a:off x="836250" y="1428488"/>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DB13D7FE-0CE6-CBD9-B642-F0BB7C5BBDC6}"/>
              </a:ext>
            </a:extLst>
          </p:cNvPr>
          <p:cNvSpPr>
            <a:spLocks noGrp="1"/>
          </p:cNvSpPr>
          <p:nvPr>
            <p:ph type="sldNum" sz="quarter" idx="12"/>
          </p:nvPr>
        </p:nvSpPr>
        <p:spPr/>
        <p:txBody>
          <a:bodyPr/>
          <a:lstStyle/>
          <a:p>
            <a:fld id="{30BB16E2-1063-4ECC-B0F4-DD6A8CC0C30D}" type="slidenum">
              <a:rPr lang="en-US" smtClean="0"/>
              <a:pPr/>
              <a:t>30</a:t>
            </a:fld>
            <a:endParaRPr lang="en-US"/>
          </a:p>
        </p:txBody>
      </p:sp>
      <p:pic>
        <p:nvPicPr>
          <p:cNvPr id="6" name="Picture 5">
            <a:extLst>
              <a:ext uri="{FF2B5EF4-FFF2-40B4-BE49-F238E27FC236}">
                <a16:creationId xmlns:a16="http://schemas.microsoft.com/office/drawing/2014/main" id="{90B49375-8182-C4FD-68FC-A6C6C6559A3C}"/>
              </a:ext>
            </a:extLst>
          </p:cNvPr>
          <p:cNvPicPr>
            <a:picLocks noChangeAspect="1"/>
          </p:cNvPicPr>
          <p:nvPr/>
        </p:nvPicPr>
        <p:blipFill>
          <a:blip r:embed="rId7"/>
          <a:stretch>
            <a:fillRect/>
          </a:stretch>
        </p:blipFill>
        <p:spPr>
          <a:xfrm>
            <a:off x="4348716" y="150921"/>
            <a:ext cx="4482284" cy="1166702"/>
          </a:xfrm>
          <a:prstGeom prst="rect">
            <a:avLst/>
          </a:prstGeom>
        </p:spPr>
      </p:pic>
      <p:pic>
        <p:nvPicPr>
          <p:cNvPr id="10" name="Picture 9">
            <a:extLst>
              <a:ext uri="{FF2B5EF4-FFF2-40B4-BE49-F238E27FC236}">
                <a16:creationId xmlns:a16="http://schemas.microsoft.com/office/drawing/2014/main" id="{A4C50DFC-DA9A-C1AB-4385-94610C9BE480}"/>
              </a:ext>
            </a:extLst>
          </p:cNvPr>
          <p:cNvPicPr>
            <a:picLocks noChangeAspect="1"/>
          </p:cNvPicPr>
          <p:nvPr/>
        </p:nvPicPr>
        <p:blipFill>
          <a:blip r:embed="rId8"/>
          <a:stretch>
            <a:fillRect/>
          </a:stretch>
        </p:blipFill>
        <p:spPr>
          <a:xfrm>
            <a:off x="7342666" y="3287380"/>
            <a:ext cx="3791479" cy="619211"/>
          </a:xfrm>
          <a:prstGeom prst="rect">
            <a:avLst/>
          </a:prstGeom>
        </p:spPr>
      </p:pic>
      <p:pic>
        <p:nvPicPr>
          <p:cNvPr id="12" name="Picture 11">
            <a:extLst>
              <a:ext uri="{FF2B5EF4-FFF2-40B4-BE49-F238E27FC236}">
                <a16:creationId xmlns:a16="http://schemas.microsoft.com/office/drawing/2014/main" id="{96D9FB23-C5FC-A90F-C15D-A788AA961C20}"/>
              </a:ext>
            </a:extLst>
          </p:cNvPr>
          <p:cNvPicPr>
            <a:picLocks noChangeAspect="1"/>
          </p:cNvPicPr>
          <p:nvPr/>
        </p:nvPicPr>
        <p:blipFill>
          <a:blip r:embed="rId9"/>
          <a:stretch>
            <a:fillRect/>
          </a:stretch>
        </p:blipFill>
        <p:spPr>
          <a:xfrm>
            <a:off x="7342666" y="1619055"/>
            <a:ext cx="4458322" cy="724001"/>
          </a:xfrm>
          <a:prstGeom prst="rect">
            <a:avLst/>
          </a:prstGeom>
        </p:spPr>
      </p:pic>
      <p:pic>
        <p:nvPicPr>
          <p:cNvPr id="14" name="Picture 13">
            <a:extLst>
              <a:ext uri="{FF2B5EF4-FFF2-40B4-BE49-F238E27FC236}">
                <a16:creationId xmlns:a16="http://schemas.microsoft.com/office/drawing/2014/main" id="{911DC1F3-9618-1A88-A121-2872466EFA9C}"/>
              </a:ext>
            </a:extLst>
          </p:cNvPr>
          <p:cNvPicPr>
            <a:picLocks noChangeAspect="1"/>
          </p:cNvPicPr>
          <p:nvPr/>
        </p:nvPicPr>
        <p:blipFill>
          <a:blip r:embed="rId10"/>
          <a:stretch>
            <a:fillRect/>
          </a:stretch>
        </p:blipFill>
        <p:spPr>
          <a:xfrm>
            <a:off x="5490727" y="4695985"/>
            <a:ext cx="6239746" cy="733527"/>
          </a:xfrm>
          <a:prstGeom prst="rect">
            <a:avLst/>
          </a:prstGeom>
        </p:spPr>
      </p:pic>
      <p:sp>
        <p:nvSpPr>
          <p:cNvPr id="17" name="TextBox 16">
            <a:extLst>
              <a:ext uri="{FF2B5EF4-FFF2-40B4-BE49-F238E27FC236}">
                <a16:creationId xmlns:a16="http://schemas.microsoft.com/office/drawing/2014/main" id="{D1A46F67-F691-61BC-51A0-985855D00FA6}"/>
              </a:ext>
            </a:extLst>
          </p:cNvPr>
          <p:cNvSpPr txBox="1"/>
          <p:nvPr/>
        </p:nvSpPr>
        <p:spPr>
          <a:xfrm>
            <a:off x="836250" y="5896400"/>
            <a:ext cx="10434262" cy="523220"/>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r>
              <a:rPr lang="en-US" sz="2800" dirty="0"/>
              <a:t>find all departments whose name is the same as their building name</a:t>
            </a:r>
            <a:endParaRPr lang="en-IN" sz="2800" dirty="0"/>
          </a:p>
        </p:txBody>
      </p:sp>
      <p:pic>
        <p:nvPicPr>
          <p:cNvPr id="40" name="Picture 39">
            <a:extLst>
              <a:ext uri="{FF2B5EF4-FFF2-40B4-BE49-F238E27FC236}">
                <a16:creationId xmlns:a16="http://schemas.microsoft.com/office/drawing/2014/main" id="{7916FDD9-49F9-8F92-FB13-7037B50B5876}"/>
              </a:ext>
            </a:extLst>
          </p:cNvPr>
          <p:cNvPicPr>
            <a:picLocks noChangeAspect="1"/>
          </p:cNvPicPr>
          <p:nvPr/>
        </p:nvPicPr>
        <p:blipFill>
          <a:blip r:embed="rId11"/>
          <a:stretch>
            <a:fillRect/>
          </a:stretch>
        </p:blipFill>
        <p:spPr>
          <a:xfrm>
            <a:off x="7105241" y="5852665"/>
            <a:ext cx="4525006" cy="781159"/>
          </a:xfrm>
          <a:prstGeom prst="rect">
            <a:avLst/>
          </a:prstGeom>
        </p:spPr>
      </p:pic>
      <p:sp>
        <p:nvSpPr>
          <p:cNvPr id="41" name="Rectangle: Rounded Corners 40">
            <a:extLst>
              <a:ext uri="{FF2B5EF4-FFF2-40B4-BE49-F238E27FC236}">
                <a16:creationId xmlns:a16="http://schemas.microsoft.com/office/drawing/2014/main" id="{73B3F2D7-9230-29B6-0EB4-A3AA0AE4A526}"/>
              </a:ext>
            </a:extLst>
          </p:cNvPr>
          <p:cNvSpPr/>
          <p:nvPr/>
        </p:nvSpPr>
        <p:spPr>
          <a:xfrm>
            <a:off x="11351850" y="6364961"/>
            <a:ext cx="45719" cy="4571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17779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274" y="777574"/>
            <a:ext cx="10969197" cy="6000598"/>
          </a:xfrm>
        </p:spPr>
        <p:txBody>
          <a:bodyPr>
            <a:normAutofit fontScale="92500" lnSpcReduction="10000"/>
          </a:bodyPr>
          <a:lstStyle/>
          <a:p>
            <a:pPr>
              <a:buNone/>
            </a:pPr>
            <a:r>
              <a:rPr lang="en-US" sz="2539" b="1" dirty="0">
                <a:solidFill>
                  <a:srgbClr val="C00000"/>
                </a:solidFill>
                <a:latin typeface="Copperplate Gothic Light" pitchFamily="34" charset="0"/>
              </a:rPr>
              <a:t>Project Operation (∏)</a:t>
            </a:r>
          </a:p>
          <a:p>
            <a:pPr>
              <a:buNone/>
            </a:pPr>
            <a:r>
              <a:rPr lang="en-US" sz="2539" dirty="0">
                <a:solidFill>
                  <a:srgbClr val="213AF1"/>
                </a:solidFill>
                <a:latin typeface="Bookman Old Style" pitchFamily="18" charset="0"/>
              </a:rPr>
              <a:t>It projects column(s) that satisfy a given predicate.</a:t>
            </a:r>
          </a:p>
          <a:p>
            <a:pPr>
              <a:buNone/>
            </a:pPr>
            <a:endParaRPr lang="en-US" sz="1172" dirty="0">
              <a:solidFill>
                <a:srgbClr val="C00000"/>
              </a:solidFill>
              <a:latin typeface="Bookman Old Style" pitchFamily="18" charset="0"/>
            </a:endParaRPr>
          </a:p>
          <a:p>
            <a:pPr>
              <a:buNone/>
            </a:pPr>
            <a:r>
              <a:rPr lang="en-US" sz="2539" dirty="0">
                <a:solidFill>
                  <a:srgbClr val="C00000"/>
                </a:solidFill>
                <a:latin typeface="Bookman Old Style" pitchFamily="18" charset="0"/>
              </a:rPr>
              <a:t>Notation : </a:t>
            </a:r>
            <a:r>
              <a:rPr lang="en-US" sz="2539" dirty="0">
                <a:solidFill>
                  <a:srgbClr val="213AF1"/>
                </a:solidFill>
                <a:latin typeface="Bookman Old Style" pitchFamily="18" charset="0"/>
              </a:rPr>
              <a:t>∏</a:t>
            </a:r>
            <a:r>
              <a:rPr lang="en-US" sz="2539" baseline="-25000" dirty="0">
                <a:solidFill>
                  <a:srgbClr val="213AF1"/>
                </a:solidFill>
                <a:latin typeface="Bookman Old Style" pitchFamily="18" charset="0"/>
              </a:rPr>
              <a:t>A1, A2,…, An</a:t>
            </a:r>
            <a:r>
              <a:rPr lang="en-US" sz="2539" dirty="0">
                <a:solidFill>
                  <a:srgbClr val="213AF1"/>
                </a:solidFill>
                <a:latin typeface="Bookman Old Style" pitchFamily="18" charset="0"/>
              </a:rPr>
              <a:t> (r)</a:t>
            </a:r>
          </a:p>
          <a:p>
            <a:pPr>
              <a:buNone/>
            </a:pPr>
            <a:r>
              <a:rPr lang="en-US" sz="2539" dirty="0">
                <a:solidFill>
                  <a:srgbClr val="213AF1"/>
                </a:solidFill>
                <a:latin typeface="Bookman Old Style" pitchFamily="18" charset="0"/>
              </a:rPr>
              <a:t>Where </a:t>
            </a:r>
          </a:p>
          <a:p>
            <a:pPr>
              <a:buNone/>
            </a:pPr>
            <a:r>
              <a:rPr lang="en-US" sz="2539" dirty="0">
                <a:solidFill>
                  <a:srgbClr val="213AF1"/>
                </a:solidFill>
                <a:latin typeface="Bookman Old Style" pitchFamily="18" charset="0"/>
              </a:rPr>
              <a:t>∏ - Predicate</a:t>
            </a:r>
          </a:p>
          <a:p>
            <a:pPr>
              <a:buNone/>
            </a:pPr>
            <a:r>
              <a:rPr lang="en-US" sz="2539" dirty="0">
                <a:solidFill>
                  <a:srgbClr val="213AF1"/>
                </a:solidFill>
                <a:latin typeface="Bookman Old Style" pitchFamily="18" charset="0"/>
              </a:rPr>
              <a:t>A1,A2,…,An – Attribute names of a relation</a:t>
            </a:r>
          </a:p>
          <a:p>
            <a:pPr>
              <a:buNone/>
            </a:pPr>
            <a:r>
              <a:rPr lang="en-US" sz="2539" dirty="0">
                <a:solidFill>
                  <a:srgbClr val="213AF1"/>
                </a:solidFill>
                <a:latin typeface="Bookman Old Style" pitchFamily="18" charset="0"/>
              </a:rPr>
              <a:t>r – Relation</a:t>
            </a:r>
          </a:p>
          <a:p>
            <a:pPr>
              <a:buNone/>
            </a:pPr>
            <a:endParaRPr lang="en-US" sz="1172" dirty="0">
              <a:solidFill>
                <a:srgbClr val="C00000"/>
              </a:solidFill>
              <a:latin typeface="Copperplate Gothic Light" pitchFamily="34" charset="0"/>
            </a:endParaRPr>
          </a:p>
          <a:p>
            <a:pPr>
              <a:buNone/>
            </a:pPr>
            <a:r>
              <a:rPr lang="en-US" sz="2539" dirty="0">
                <a:solidFill>
                  <a:srgbClr val="FF0000"/>
                </a:solidFill>
                <a:latin typeface="Copperplate Gothic Light" pitchFamily="34" charset="0"/>
              </a:rPr>
              <a:t>Note : </a:t>
            </a:r>
            <a:r>
              <a:rPr lang="en-US" sz="2539" dirty="0">
                <a:solidFill>
                  <a:srgbClr val="FF0000"/>
                </a:solidFill>
                <a:latin typeface="Bookman Old Style" pitchFamily="18" charset="0"/>
              </a:rPr>
              <a:t>Because of relation is a set duplicate rows are eliminated 	     </a:t>
            </a:r>
          </a:p>
          <a:p>
            <a:pPr>
              <a:buNone/>
            </a:pPr>
            <a:r>
              <a:rPr lang="en-US" sz="2539" dirty="0">
                <a:solidFill>
                  <a:srgbClr val="FF0000"/>
                </a:solidFill>
                <a:latin typeface="Bookman Old Style" pitchFamily="18" charset="0"/>
              </a:rPr>
              <a:t> 		automatically.</a:t>
            </a:r>
          </a:p>
          <a:p>
            <a:pPr>
              <a:buNone/>
            </a:pPr>
            <a:endParaRPr lang="en-US" sz="1465" dirty="0">
              <a:solidFill>
                <a:srgbClr val="C00000"/>
              </a:solidFill>
              <a:latin typeface="Bookman Old Style" pitchFamily="18" charset="0"/>
            </a:endParaRPr>
          </a:p>
          <a:p>
            <a:pPr>
              <a:buNone/>
            </a:pPr>
            <a:r>
              <a:rPr lang="en-US" sz="2735" dirty="0">
                <a:solidFill>
                  <a:srgbClr val="C00000"/>
                </a:solidFill>
                <a:latin typeface="Bookman Old Style" pitchFamily="18" charset="0"/>
              </a:rPr>
              <a:t>Example : </a:t>
            </a:r>
            <a:r>
              <a:rPr lang="en-US" sz="2539" dirty="0">
                <a:solidFill>
                  <a:srgbClr val="213AF1"/>
                </a:solidFill>
                <a:latin typeface="Bookman Old Style" pitchFamily="18" charset="0"/>
              </a:rPr>
              <a:t>∏</a:t>
            </a:r>
            <a:r>
              <a:rPr lang="en-US" sz="2539" baseline="-25000" dirty="0">
                <a:solidFill>
                  <a:srgbClr val="213AF1"/>
                </a:solidFill>
                <a:latin typeface="Bookman Old Style" pitchFamily="18" charset="0"/>
              </a:rPr>
              <a:t>ENAME, JOB</a:t>
            </a:r>
            <a:r>
              <a:rPr lang="en-US" sz="2539" dirty="0">
                <a:solidFill>
                  <a:srgbClr val="213AF1"/>
                </a:solidFill>
                <a:latin typeface="Bookman Old Style" pitchFamily="18" charset="0"/>
              </a:rPr>
              <a:t> (EMP)</a:t>
            </a:r>
          </a:p>
          <a:p>
            <a:pPr>
              <a:buNone/>
            </a:pPr>
            <a:endParaRPr lang="en-US" sz="1270" dirty="0">
              <a:solidFill>
                <a:srgbClr val="C00000"/>
              </a:solidFill>
              <a:latin typeface="Bookman Old Style" pitchFamily="18" charset="0"/>
            </a:endParaRPr>
          </a:p>
          <a:p>
            <a:pPr>
              <a:buNone/>
            </a:pPr>
            <a:r>
              <a:rPr lang="en-US" sz="2735" dirty="0">
                <a:solidFill>
                  <a:srgbClr val="C00000"/>
                </a:solidFill>
                <a:latin typeface="Bookman Old Style" pitchFamily="18" charset="0"/>
              </a:rPr>
              <a:t>Output : </a:t>
            </a:r>
            <a:r>
              <a:rPr lang="en-US" sz="2735" dirty="0">
                <a:solidFill>
                  <a:srgbClr val="213AF1"/>
                </a:solidFill>
                <a:latin typeface="Bookman Old Style" pitchFamily="18" charset="0"/>
              </a:rPr>
              <a:t>It selects and projects the column named as </a:t>
            </a:r>
            <a:r>
              <a:rPr lang="en-US" sz="2735" dirty="0" err="1">
                <a:solidFill>
                  <a:srgbClr val="213AF1"/>
                </a:solidFill>
                <a:latin typeface="Bookman Old Style" pitchFamily="18" charset="0"/>
              </a:rPr>
              <a:t>ename</a:t>
            </a:r>
            <a:r>
              <a:rPr lang="en-US" sz="2735" dirty="0">
                <a:solidFill>
                  <a:srgbClr val="213AF1"/>
                </a:solidFill>
                <a:latin typeface="Bookman Old Style" pitchFamily="18" charset="0"/>
              </a:rPr>
              <a:t> 	      	    and job from </a:t>
            </a:r>
            <a:r>
              <a:rPr lang="en-US" sz="2735" dirty="0" err="1">
                <a:solidFill>
                  <a:srgbClr val="213AF1"/>
                </a:solidFill>
                <a:latin typeface="Bookman Old Style" pitchFamily="18" charset="0"/>
              </a:rPr>
              <a:t>emp</a:t>
            </a:r>
            <a:r>
              <a:rPr lang="en-US" sz="2735" dirty="0">
                <a:solidFill>
                  <a:srgbClr val="213AF1"/>
                </a:solidFill>
                <a:latin typeface="Bookman Old Style" pitchFamily="18" charset="0"/>
              </a:rPr>
              <a:t> table</a:t>
            </a:r>
            <a:endParaRPr lang="en-US" sz="2539" dirty="0">
              <a:solidFill>
                <a:srgbClr val="213AF1"/>
              </a:solidFill>
              <a:latin typeface="Bookman Old Style" pitchFamily="18" charset="0"/>
            </a:endParaRPr>
          </a:p>
          <a:p>
            <a:pPr>
              <a:buNone/>
            </a:pPr>
            <a:endParaRPr lang="en-US" dirty="0"/>
          </a:p>
        </p:txBody>
      </p:sp>
      <p:sp>
        <p:nvSpPr>
          <p:cNvPr id="2" name="Slide Number Placeholder 1">
            <a:extLst>
              <a:ext uri="{FF2B5EF4-FFF2-40B4-BE49-F238E27FC236}">
                <a16:creationId xmlns:a16="http://schemas.microsoft.com/office/drawing/2014/main" id="{E6CA4C1B-E24A-4CA1-A839-E4EA0AB3DA8E}"/>
              </a:ext>
            </a:extLst>
          </p:cNvPr>
          <p:cNvSpPr>
            <a:spLocks noGrp="1"/>
          </p:cNvSpPr>
          <p:nvPr>
            <p:ph type="sldNum" sz="quarter" idx="12"/>
          </p:nvPr>
        </p:nvSpPr>
        <p:spPr/>
        <p:txBody>
          <a:bodyPr/>
          <a:lstStyle/>
          <a:p>
            <a:fld id="{30BB16E2-1063-4ECC-B0F4-DD6A8CC0C30D}" type="slidenum">
              <a:rPr lang="en-US" smtClean="0"/>
              <a:pPr/>
              <a:t>31</a:t>
            </a:fld>
            <a:endParaRPr lang="en-US"/>
          </a:p>
        </p:txBody>
      </p:sp>
      <p:sp>
        <p:nvSpPr>
          <p:cNvPr id="6" name="Title 1">
            <a:extLst>
              <a:ext uri="{FF2B5EF4-FFF2-40B4-BE49-F238E27FC236}">
                <a16:creationId xmlns:a16="http://schemas.microsoft.com/office/drawing/2014/main" id="{0A7CA1F4-28DB-C1E9-2057-0CC6997D8EED}"/>
              </a:ext>
            </a:extLst>
          </p:cNvPr>
          <p:cNvSpPr txBox="1">
            <a:spLocks/>
          </p:cNvSpPr>
          <p:nvPr/>
        </p:nvSpPr>
        <p:spPr>
          <a:xfrm>
            <a:off x="187701" y="0"/>
            <a:ext cx="11880252" cy="7775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735">
                <a:solidFill>
                  <a:srgbClr val="FF0000"/>
                </a:solidFill>
                <a:latin typeface="Copperplate Gothic Light" pitchFamily="34" charset="0"/>
              </a:rPr>
              <a:t>Relational Algebra – Fundamental  Operators and syntax</a:t>
            </a:r>
            <a:endParaRPr lang="en-US" sz="3125" dirty="0">
              <a:solidFill>
                <a:srgbClr val="FF0000"/>
              </a:solidFill>
              <a:latin typeface="Copperplate Gothic Light" pitchFamily="34"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250DE-5A70-A357-3722-510EA0D16142}"/>
              </a:ext>
            </a:extLst>
          </p:cNvPr>
          <p:cNvSpPr>
            <a:spLocks noGrp="1"/>
          </p:cNvSpPr>
          <p:nvPr>
            <p:ph type="title"/>
          </p:nvPr>
        </p:nvSpPr>
        <p:spPr/>
        <p:txBody>
          <a:bodyPr/>
          <a:lstStyle/>
          <a:p>
            <a:r>
              <a:rPr lang="en-IN" dirty="0"/>
              <a:t>Example</a:t>
            </a:r>
          </a:p>
        </p:txBody>
      </p:sp>
      <p:pic>
        <p:nvPicPr>
          <p:cNvPr id="6" name="Content Placeholder 5">
            <a:extLst>
              <a:ext uri="{FF2B5EF4-FFF2-40B4-BE49-F238E27FC236}">
                <a16:creationId xmlns:a16="http://schemas.microsoft.com/office/drawing/2014/main" id="{A82B1778-5AA1-8DB2-B940-5107DB7C2B6C}"/>
              </a:ext>
            </a:extLst>
          </p:cNvPr>
          <p:cNvPicPr>
            <a:picLocks noGrp="1" noChangeAspect="1"/>
          </p:cNvPicPr>
          <p:nvPr>
            <p:ph idx="1"/>
          </p:nvPr>
        </p:nvPicPr>
        <p:blipFill>
          <a:blip r:embed="rId2"/>
          <a:stretch>
            <a:fillRect/>
          </a:stretch>
        </p:blipFill>
        <p:spPr>
          <a:xfrm>
            <a:off x="5011122" y="1253331"/>
            <a:ext cx="3823903" cy="4351338"/>
          </a:xfrm>
        </p:spPr>
      </p:pic>
      <p:sp>
        <p:nvSpPr>
          <p:cNvPr id="4" name="Slide Number Placeholder 3">
            <a:extLst>
              <a:ext uri="{FF2B5EF4-FFF2-40B4-BE49-F238E27FC236}">
                <a16:creationId xmlns:a16="http://schemas.microsoft.com/office/drawing/2014/main" id="{D91C5D03-B4CA-4BAA-98C2-D6A28CBC672A}"/>
              </a:ext>
            </a:extLst>
          </p:cNvPr>
          <p:cNvSpPr>
            <a:spLocks noGrp="1"/>
          </p:cNvSpPr>
          <p:nvPr>
            <p:ph type="sldNum" sz="quarter" idx="12"/>
          </p:nvPr>
        </p:nvSpPr>
        <p:spPr/>
        <p:txBody>
          <a:bodyPr/>
          <a:lstStyle/>
          <a:p>
            <a:fld id="{30BB16E2-1063-4ECC-B0F4-DD6A8CC0C30D}" type="slidenum">
              <a:rPr lang="en-US" smtClean="0"/>
              <a:pPr/>
              <a:t>32</a:t>
            </a:fld>
            <a:endParaRPr lang="en-US"/>
          </a:p>
        </p:txBody>
      </p:sp>
      <p:pic>
        <p:nvPicPr>
          <p:cNvPr id="8" name="Picture 7">
            <a:extLst>
              <a:ext uri="{FF2B5EF4-FFF2-40B4-BE49-F238E27FC236}">
                <a16:creationId xmlns:a16="http://schemas.microsoft.com/office/drawing/2014/main" id="{394D19E1-D237-ACDE-03CB-748B37AA50E2}"/>
              </a:ext>
            </a:extLst>
          </p:cNvPr>
          <p:cNvPicPr>
            <a:picLocks noChangeAspect="1"/>
          </p:cNvPicPr>
          <p:nvPr/>
        </p:nvPicPr>
        <p:blipFill>
          <a:blip r:embed="rId3"/>
          <a:stretch>
            <a:fillRect/>
          </a:stretch>
        </p:blipFill>
        <p:spPr>
          <a:xfrm>
            <a:off x="764037" y="1559113"/>
            <a:ext cx="3839111" cy="733527"/>
          </a:xfrm>
          <a:prstGeom prst="rect">
            <a:avLst/>
          </a:prstGeom>
        </p:spPr>
      </p:pic>
      <p:pic>
        <p:nvPicPr>
          <p:cNvPr id="10" name="Picture 9">
            <a:extLst>
              <a:ext uri="{FF2B5EF4-FFF2-40B4-BE49-F238E27FC236}">
                <a16:creationId xmlns:a16="http://schemas.microsoft.com/office/drawing/2014/main" id="{3817814F-7E0E-59F3-58FB-3BC77F1DC9D2}"/>
              </a:ext>
            </a:extLst>
          </p:cNvPr>
          <p:cNvPicPr>
            <a:picLocks noChangeAspect="1"/>
          </p:cNvPicPr>
          <p:nvPr/>
        </p:nvPicPr>
        <p:blipFill>
          <a:blip r:embed="rId4"/>
          <a:stretch>
            <a:fillRect/>
          </a:stretch>
        </p:blipFill>
        <p:spPr>
          <a:xfrm>
            <a:off x="590905" y="4068554"/>
            <a:ext cx="4420217" cy="800212"/>
          </a:xfrm>
          <a:prstGeom prst="rect">
            <a:avLst/>
          </a:prstGeom>
        </p:spPr>
      </p:pic>
    </p:spTree>
    <p:extLst>
      <p:ext uri="{BB962C8B-B14F-4D97-AF65-F5344CB8AC3E}">
        <p14:creationId xmlns:p14="http://schemas.microsoft.com/office/powerpoint/2010/main" val="3454979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A4AFE-2D73-C743-652C-7774B15FE557}"/>
              </a:ext>
            </a:extLst>
          </p:cNvPr>
          <p:cNvSpPr>
            <a:spLocks noGrp="1"/>
          </p:cNvSpPr>
          <p:nvPr>
            <p:ph type="title"/>
          </p:nvPr>
        </p:nvSpPr>
        <p:spPr/>
        <p:txBody>
          <a:bodyPr/>
          <a:lstStyle/>
          <a:p>
            <a:r>
              <a:rPr lang="en-IN" dirty="0"/>
              <a:t>Composition of Relational Operations</a:t>
            </a:r>
          </a:p>
        </p:txBody>
      </p:sp>
      <p:sp>
        <p:nvSpPr>
          <p:cNvPr id="3" name="Content Placeholder 2">
            <a:extLst>
              <a:ext uri="{FF2B5EF4-FFF2-40B4-BE49-F238E27FC236}">
                <a16:creationId xmlns:a16="http://schemas.microsoft.com/office/drawing/2014/main" id="{B1D4351D-509E-EA17-E518-711644A1B7E3}"/>
              </a:ext>
            </a:extLst>
          </p:cNvPr>
          <p:cNvSpPr>
            <a:spLocks noGrp="1"/>
          </p:cNvSpPr>
          <p:nvPr>
            <p:ph idx="1"/>
          </p:nvPr>
        </p:nvSpPr>
        <p:spPr/>
        <p:txBody>
          <a:bodyPr>
            <a:normAutofit/>
          </a:bodyPr>
          <a:lstStyle/>
          <a:p>
            <a:pPr marL="514350" indent="-514350">
              <a:buFont typeface="+mj-lt"/>
              <a:buAutoNum type="arabicPeriod"/>
            </a:pPr>
            <a:r>
              <a:rPr lang="en-IN" dirty="0"/>
              <a:t>Find the names of all instructors in the Physics department</a:t>
            </a:r>
          </a:p>
        </p:txBody>
      </p:sp>
      <p:sp>
        <p:nvSpPr>
          <p:cNvPr id="4" name="Slide Number Placeholder 3">
            <a:extLst>
              <a:ext uri="{FF2B5EF4-FFF2-40B4-BE49-F238E27FC236}">
                <a16:creationId xmlns:a16="http://schemas.microsoft.com/office/drawing/2014/main" id="{E13F1044-1F79-D0CC-1B6A-CC6A92B33774}"/>
              </a:ext>
            </a:extLst>
          </p:cNvPr>
          <p:cNvSpPr>
            <a:spLocks noGrp="1"/>
          </p:cNvSpPr>
          <p:nvPr>
            <p:ph type="sldNum" sz="quarter" idx="12"/>
          </p:nvPr>
        </p:nvSpPr>
        <p:spPr/>
        <p:txBody>
          <a:bodyPr/>
          <a:lstStyle/>
          <a:p>
            <a:fld id="{30BB16E2-1063-4ECC-B0F4-DD6A8CC0C30D}" type="slidenum">
              <a:rPr lang="en-US" smtClean="0"/>
              <a:pPr/>
              <a:t>33</a:t>
            </a:fld>
            <a:endParaRPr lang="en-US"/>
          </a:p>
        </p:txBody>
      </p:sp>
      <p:pic>
        <p:nvPicPr>
          <p:cNvPr id="6" name="Picture 5">
            <a:extLst>
              <a:ext uri="{FF2B5EF4-FFF2-40B4-BE49-F238E27FC236}">
                <a16:creationId xmlns:a16="http://schemas.microsoft.com/office/drawing/2014/main" id="{A79861F0-0F2F-C427-B956-CEDDC9589E47}"/>
              </a:ext>
            </a:extLst>
          </p:cNvPr>
          <p:cNvPicPr>
            <a:picLocks noChangeAspect="1"/>
          </p:cNvPicPr>
          <p:nvPr/>
        </p:nvPicPr>
        <p:blipFill>
          <a:blip r:embed="rId2"/>
          <a:stretch>
            <a:fillRect/>
          </a:stretch>
        </p:blipFill>
        <p:spPr>
          <a:xfrm>
            <a:off x="1937729" y="2998383"/>
            <a:ext cx="7191674" cy="1066708"/>
          </a:xfrm>
          <a:prstGeom prst="rect">
            <a:avLst/>
          </a:prstGeom>
        </p:spPr>
      </p:pic>
    </p:spTree>
    <p:extLst>
      <p:ext uri="{BB962C8B-B14F-4D97-AF65-F5344CB8AC3E}">
        <p14:creationId xmlns:p14="http://schemas.microsoft.com/office/powerpoint/2010/main" val="1975276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888947-38F6-02B4-4359-2D3BA72C096A}"/>
              </a:ext>
            </a:extLst>
          </p:cNvPr>
          <p:cNvSpPr>
            <a:spLocks noGrp="1"/>
          </p:cNvSpPr>
          <p:nvPr>
            <p:ph type="title"/>
          </p:nvPr>
        </p:nvSpPr>
        <p:spPr/>
        <p:txBody>
          <a:bodyPr/>
          <a:lstStyle/>
          <a:p>
            <a:r>
              <a:rPr lang="en-IN" dirty="0"/>
              <a:t>SET Operations</a:t>
            </a:r>
          </a:p>
        </p:txBody>
      </p:sp>
      <p:sp>
        <p:nvSpPr>
          <p:cNvPr id="3" name="Content Placeholder 2">
            <a:extLst>
              <a:ext uri="{FF2B5EF4-FFF2-40B4-BE49-F238E27FC236}">
                <a16:creationId xmlns:a16="http://schemas.microsoft.com/office/drawing/2014/main" id="{42EC9F34-0BA3-0C7C-B7D1-084647E708E2}"/>
              </a:ext>
            </a:extLst>
          </p:cNvPr>
          <p:cNvSpPr>
            <a:spLocks noGrp="1"/>
          </p:cNvSpPr>
          <p:nvPr>
            <p:ph idx="1"/>
          </p:nvPr>
        </p:nvSpPr>
        <p:spPr/>
        <p:txBody>
          <a:bodyPr/>
          <a:lstStyle/>
          <a:p>
            <a:r>
              <a:rPr lang="en-IN" dirty="0"/>
              <a:t>Union</a:t>
            </a:r>
          </a:p>
          <a:p>
            <a:r>
              <a:rPr lang="en-IN" dirty="0"/>
              <a:t>Intersection</a:t>
            </a:r>
          </a:p>
          <a:p>
            <a:r>
              <a:rPr lang="en-IN" dirty="0"/>
              <a:t>Set-Difference</a:t>
            </a:r>
          </a:p>
        </p:txBody>
      </p:sp>
      <p:sp>
        <p:nvSpPr>
          <p:cNvPr id="4" name="Slide Number Placeholder 3">
            <a:extLst>
              <a:ext uri="{FF2B5EF4-FFF2-40B4-BE49-F238E27FC236}">
                <a16:creationId xmlns:a16="http://schemas.microsoft.com/office/drawing/2014/main" id="{E3F15422-2D33-AA12-BEF7-DFE3EEA21A30}"/>
              </a:ext>
            </a:extLst>
          </p:cNvPr>
          <p:cNvSpPr>
            <a:spLocks noGrp="1"/>
          </p:cNvSpPr>
          <p:nvPr>
            <p:ph type="sldNum" sz="quarter" idx="12"/>
          </p:nvPr>
        </p:nvSpPr>
        <p:spPr/>
        <p:txBody>
          <a:bodyPr/>
          <a:lstStyle/>
          <a:p>
            <a:fld id="{30BB16E2-1063-4ECC-B0F4-DD6A8CC0C30D}" type="slidenum">
              <a:rPr lang="en-US" smtClean="0"/>
              <a:pPr/>
              <a:t>34</a:t>
            </a:fld>
            <a:endParaRPr lang="en-US"/>
          </a:p>
        </p:txBody>
      </p:sp>
    </p:spTree>
    <p:extLst>
      <p:ext uri="{BB962C8B-B14F-4D97-AF65-F5344CB8AC3E}">
        <p14:creationId xmlns:p14="http://schemas.microsoft.com/office/powerpoint/2010/main" val="306198037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500" y="568250"/>
            <a:ext cx="11038971" cy="6034569"/>
          </a:xfrm>
        </p:spPr>
        <p:txBody>
          <a:bodyPr>
            <a:normAutofit/>
          </a:bodyPr>
          <a:lstStyle/>
          <a:p>
            <a:pPr>
              <a:buNone/>
            </a:pPr>
            <a:r>
              <a:rPr lang="en-US" sz="2539" b="1" dirty="0">
                <a:solidFill>
                  <a:srgbClr val="C00000"/>
                </a:solidFill>
                <a:latin typeface="Copperplate Gothic Light" pitchFamily="34" charset="0"/>
              </a:rPr>
              <a:t>Union Operation (∪)</a:t>
            </a:r>
          </a:p>
          <a:p>
            <a:pPr>
              <a:buClr>
                <a:srgbClr val="C00000"/>
              </a:buClr>
              <a:buFont typeface="Wingdings" pitchFamily="2" charset="2"/>
              <a:buChar char="ü"/>
            </a:pPr>
            <a:r>
              <a:rPr lang="en-US" sz="2344" dirty="0">
                <a:solidFill>
                  <a:srgbClr val="213AF1"/>
                </a:solidFill>
                <a:latin typeface="Bookman Old Style" pitchFamily="18" charset="0"/>
              </a:rPr>
              <a:t>It performs binary union between two given relations.</a:t>
            </a:r>
          </a:p>
          <a:p>
            <a:pPr>
              <a:buClr>
                <a:srgbClr val="C00000"/>
              </a:buClr>
              <a:buFont typeface="Wingdings" pitchFamily="2" charset="2"/>
              <a:buChar char="ü"/>
            </a:pPr>
            <a:r>
              <a:rPr lang="en-US" sz="2344" dirty="0">
                <a:solidFill>
                  <a:srgbClr val="213AF1"/>
                </a:solidFill>
                <a:latin typeface="Bookman Old Style" pitchFamily="18" charset="0"/>
              </a:rPr>
              <a:t>It is defined as </a:t>
            </a:r>
          </a:p>
          <a:p>
            <a:pPr>
              <a:buNone/>
            </a:pPr>
            <a:r>
              <a:rPr lang="en-US" sz="2344" dirty="0">
                <a:latin typeface="Bookman Old Style" pitchFamily="18" charset="0"/>
              </a:rPr>
              <a:t>			</a:t>
            </a:r>
            <a:r>
              <a:rPr lang="en-US" sz="2344" dirty="0">
                <a:solidFill>
                  <a:srgbClr val="213AF1"/>
                </a:solidFill>
                <a:latin typeface="Bookman Old Style" pitchFamily="18" charset="0"/>
              </a:rPr>
              <a:t>r ∪ s = { t | t ∈ r or t ∈ s}</a:t>
            </a:r>
          </a:p>
          <a:p>
            <a:pPr>
              <a:buNone/>
            </a:pPr>
            <a:r>
              <a:rPr lang="en-US" sz="2344" dirty="0">
                <a:solidFill>
                  <a:srgbClr val="C00000"/>
                </a:solidFill>
                <a:latin typeface="Bookman Old Style" pitchFamily="18" charset="0"/>
              </a:rPr>
              <a:t>Notation : </a:t>
            </a:r>
            <a:r>
              <a:rPr lang="en-US" sz="2344" dirty="0">
                <a:latin typeface="Bookman Old Style" pitchFamily="18" charset="0"/>
              </a:rPr>
              <a:t> </a:t>
            </a:r>
            <a:r>
              <a:rPr lang="en-US" sz="2344" dirty="0">
                <a:solidFill>
                  <a:srgbClr val="213AF1"/>
                </a:solidFill>
                <a:latin typeface="Bookman Old Style" pitchFamily="18" charset="0"/>
              </a:rPr>
              <a:t>r U s</a:t>
            </a:r>
          </a:p>
          <a:p>
            <a:pPr>
              <a:buNone/>
            </a:pPr>
            <a:endParaRPr lang="en-US" sz="879" dirty="0">
              <a:solidFill>
                <a:srgbClr val="213AF1"/>
              </a:solidFill>
              <a:latin typeface="Bookman Old Style" pitchFamily="18" charset="0"/>
            </a:endParaRPr>
          </a:p>
          <a:p>
            <a:pPr>
              <a:buNone/>
            </a:pPr>
            <a:r>
              <a:rPr lang="en-US" sz="2344" dirty="0">
                <a:solidFill>
                  <a:srgbClr val="213AF1"/>
                </a:solidFill>
                <a:latin typeface="Bookman Old Style" pitchFamily="18" charset="0"/>
              </a:rPr>
              <a:t>Where</a:t>
            </a:r>
          </a:p>
          <a:p>
            <a:pPr>
              <a:buNone/>
            </a:pPr>
            <a:r>
              <a:rPr lang="en-US" sz="2344" dirty="0">
                <a:solidFill>
                  <a:srgbClr val="213AF1"/>
                </a:solidFill>
                <a:latin typeface="Bookman Old Style" pitchFamily="18" charset="0"/>
              </a:rPr>
              <a:t>	U is the union operator</a:t>
            </a:r>
          </a:p>
          <a:p>
            <a:pPr>
              <a:buNone/>
            </a:pPr>
            <a:r>
              <a:rPr lang="en-US" sz="2344" dirty="0">
                <a:solidFill>
                  <a:srgbClr val="213AF1"/>
                </a:solidFill>
                <a:latin typeface="Bookman Old Style" pitchFamily="18" charset="0"/>
              </a:rPr>
              <a:t>	R and S are relations</a:t>
            </a:r>
          </a:p>
          <a:p>
            <a:pPr>
              <a:buNone/>
            </a:pPr>
            <a:endParaRPr lang="en-US" sz="1026" dirty="0">
              <a:solidFill>
                <a:srgbClr val="C00000"/>
              </a:solidFill>
              <a:latin typeface="Bookman Old Style" pitchFamily="18" charset="0"/>
            </a:endParaRPr>
          </a:p>
          <a:p>
            <a:pPr>
              <a:buClr>
                <a:srgbClr val="C00000"/>
              </a:buClr>
              <a:buFont typeface="Wingdings" pitchFamily="2" charset="2"/>
              <a:buChar char="ü"/>
            </a:pPr>
            <a:r>
              <a:rPr lang="en-US" sz="2344" dirty="0">
                <a:solidFill>
                  <a:srgbClr val="213AF1"/>
                </a:solidFill>
                <a:latin typeface="Bookman Old Style" pitchFamily="18" charset="0"/>
              </a:rPr>
              <a:t>The following conditions must hold  from both relations to make the union operation is true</a:t>
            </a:r>
          </a:p>
          <a:p>
            <a:pPr lvl="1">
              <a:buClr>
                <a:srgbClr val="C00000"/>
              </a:buClr>
              <a:buFont typeface="Arial" pitchFamily="34" charset="0"/>
              <a:buChar char="•"/>
            </a:pPr>
            <a:r>
              <a:rPr lang="en-US" sz="2344" dirty="0">
                <a:solidFill>
                  <a:srgbClr val="213AF1"/>
                </a:solidFill>
                <a:latin typeface="Bookman Old Style" pitchFamily="18" charset="0"/>
              </a:rPr>
              <a:t>Relations R and S should have the same number of Attributes</a:t>
            </a:r>
          </a:p>
          <a:p>
            <a:pPr lvl="1">
              <a:buClr>
                <a:srgbClr val="C00000"/>
              </a:buClr>
              <a:buFont typeface="Arial" pitchFamily="34" charset="0"/>
              <a:buChar char="•"/>
            </a:pPr>
            <a:r>
              <a:rPr lang="en-US" sz="2344" dirty="0">
                <a:solidFill>
                  <a:srgbClr val="213AF1"/>
                </a:solidFill>
                <a:latin typeface="Bookman Old Style" pitchFamily="18" charset="0"/>
              </a:rPr>
              <a:t>The Attributes domain values (data types) must be compatible </a:t>
            </a:r>
          </a:p>
          <a:p>
            <a:pPr lvl="1">
              <a:buClr>
                <a:srgbClr val="C00000"/>
              </a:buClr>
              <a:buFont typeface="Arial" pitchFamily="34" charset="0"/>
              <a:buChar char="•"/>
            </a:pPr>
            <a:r>
              <a:rPr lang="en-US" sz="2344" dirty="0">
                <a:solidFill>
                  <a:srgbClr val="213AF1"/>
                </a:solidFill>
                <a:latin typeface="Bookman Old Style" pitchFamily="18" charset="0"/>
              </a:rPr>
              <a:t>Duplicate records will be eliminated automatically</a:t>
            </a:r>
            <a:r>
              <a:rPr lang="en-US" sz="2344" dirty="0">
                <a:solidFill>
                  <a:srgbClr val="C00000"/>
                </a:solidFill>
                <a:latin typeface="Bookman Old Style" pitchFamily="18" charset="0"/>
              </a:rPr>
              <a:t> </a:t>
            </a:r>
          </a:p>
          <a:p>
            <a:pPr lvl="1">
              <a:buClr>
                <a:srgbClr val="C00000"/>
              </a:buClr>
              <a:buFont typeface="Arial" pitchFamily="34" charset="0"/>
              <a:buChar char="•"/>
            </a:pPr>
            <a:endParaRPr lang="en-US" sz="2344" dirty="0">
              <a:solidFill>
                <a:srgbClr val="C00000"/>
              </a:solidFill>
              <a:latin typeface="Bookman Old Style" pitchFamily="18" charset="0"/>
            </a:endParaRPr>
          </a:p>
          <a:p>
            <a:pPr>
              <a:buNone/>
            </a:pPr>
            <a:endParaRPr lang="en-US" dirty="0"/>
          </a:p>
        </p:txBody>
      </p:sp>
      <p:sp>
        <p:nvSpPr>
          <p:cNvPr id="2" name="Slide Number Placeholder 1">
            <a:extLst>
              <a:ext uri="{FF2B5EF4-FFF2-40B4-BE49-F238E27FC236}">
                <a16:creationId xmlns:a16="http://schemas.microsoft.com/office/drawing/2014/main" id="{41FEBF08-394C-9267-8952-6F7E5A4A359F}"/>
              </a:ext>
            </a:extLst>
          </p:cNvPr>
          <p:cNvSpPr>
            <a:spLocks noGrp="1"/>
          </p:cNvSpPr>
          <p:nvPr>
            <p:ph type="sldNum" sz="quarter" idx="12"/>
          </p:nvPr>
        </p:nvSpPr>
        <p:spPr/>
        <p:txBody>
          <a:bodyPr/>
          <a:lstStyle/>
          <a:p>
            <a:fld id="{30BB16E2-1063-4ECC-B0F4-DD6A8CC0C30D}" type="slidenum">
              <a:rPr lang="en-US" smtClean="0"/>
              <a:pPr/>
              <a:t>35</a:t>
            </a:fld>
            <a:endParaRPr lang="en-US"/>
          </a:p>
        </p:txBody>
      </p:sp>
      <p:sp>
        <p:nvSpPr>
          <p:cNvPr id="6" name="Title 1">
            <a:extLst>
              <a:ext uri="{FF2B5EF4-FFF2-40B4-BE49-F238E27FC236}">
                <a16:creationId xmlns:a16="http://schemas.microsoft.com/office/drawing/2014/main" id="{4321DB2D-C71C-8604-E3C2-011ECCF6A819}"/>
              </a:ext>
            </a:extLst>
          </p:cNvPr>
          <p:cNvSpPr txBox="1">
            <a:spLocks/>
          </p:cNvSpPr>
          <p:nvPr/>
        </p:nvSpPr>
        <p:spPr>
          <a:xfrm>
            <a:off x="187701" y="0"/>
            <a:ext cx="11880252" cy="7775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735">
                <a:solidFill>
                  <a:srgbClr val="FF0000"/>
                </a:solidFill>
                <a:latin typeface="Copperplate Gothic Light" pitchFamily="34" charset="0"/>
              </a:rPr>
              <a:t>Relational Algebra – Fundamental  Operators and syntax</a:t>
            </a:r>
            <a:endParaRPr lang="en-US" sz="3125" dirty="0">
              <a:solidFill>
                <a:srgbClr val="FF0000"/>
              </a:solidFill>
              <a:latin typeface="Copperplate Gothic Light" pitchFamily="34" charset="0"/>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274" y="707799"/>
            <a:ext cx="10969197" cy="5418368"/>
          </a:xfrm>
        </p:spPr>
        <p:txBody>
          <a:bodyPr/>
          <a:lstStyle/>
          <a:p>
            <a:pPr>
              <a:buNone/>
            </a:pPr>
            <a:r>
              <a:rPr lang="en-US" sz="2735" b="1" dirty="0">
                <a:solidFill>
                  <a:srgbClr val="C00000"/>
                </a:solidFill>
                <a:latin typeface="Copperplate Gothic Light" pitchFamily="34" charset="0"/>
              </a:rPr>
              <a:t>Union Operation (∪)</a:t>
            </a:r>
          </a:p>
          <a:p>
            <a:pPr>
              <a:buNone/>
            </a:pPr>
            <a:r>
              <a:rPr lang="en-US" sz="2344" dirty="0">
                <a:solidFill>
                  <a:srgbClr val="213AF1"/>
                </a:solidFill>
                <a:latin typeface="Bookman Old Style" pitchFamily="18" charset="0"/>
              </a:rPr>
              <a:t>Consider the following table</a:t>
            </a:r>
            <a:r>
              <a:rPr lang="en-US" sz="2735" dirty="0">
                <a:solidFill>
                  <a:srgbClr val="C00000"/>
                </a:solidFill>
                <a:latin typeface="Copperplate Gothic Light" pitchFamily="34" charset="0"/>
              </a:rPr>
              <a:t> 			</a:t>
            </a:r>
          </a:p>
          <a:p>
            <a:pPr>
              <a:buNone/>
            </a:pPr>
            <a:endParaRPr lang="en-US" sz="2735" dirty="0">
              <a:solidFill>
                <a:srgbClr val="C00000"/>
              </a:solidFill>
              <a:latin typeface="Copperplate Gothic Light" pitchFamily="34" charset="0"/>
            </a:endParaRPr>
          </a:p>
          <a:p>
            <a:pPr>
              <a:buNone/>
            </a:pPr>
            <a:r>
              <a:rPr lang="en-US" sz="2735" dirty="0">
                <a:solidFill>
                  <a:srgbClr val="C00000"/>
                </a:solidFill>
                <a:latin typeface="Copperplate Gothic Light" pitchFamily="34" charset="0"/>
              </a:rPr>
              <a:t>						    </a:t>
            </a:r>
            <a:r>
              <a:rPr lang="en-US" sz="2149" dirty="0">
                <a:solidFill>
                  <a:srgbClr val="213AF1"/>
                </a:solidFill>
                <a:latin typeface="Bookman Old Style" pitchFamily="18" charset="0"/>
              </a:rPr>
              <a:t>Example : AUB</a:t>
            </a:r>
          </a:p>
          <a:p>
            <a:pPr>
              <a:buNone/>
            </a:pPr>
            <a:endParaRPr lang="en-US" sz="2735" dirty="0">
              <a:solidFill>
                <a:srgbClr val="C00000"/>
              </a:solidFill>
              <a:latin typeface="Copperplate Gothic Light" pitchFamily="34" charset="0"/>
            </a:endParaRPr>
          </a:p>
          <a:p>
            <a:pPr>
              <a:buNone/>
            </a:pPr>
            <a:endParaRPr lang="en-US" dirty="0"/>
          </a:p>
          <a:p>
            <a:pPr>
              <a:buNone/>
            </a:pPr>
            <a:r>
              <a:rPr lang="en-US" dirty="0"/>
              <a:t> 								 			                       					   </a:t>
            </a:r>
            <a:r>
              <a:rPr lang="en-US" sz="2149" dirty="0">
                <a:solidFill>
                  <a:srgbClr val="C00000"/>
                </a:solidFill>
                <a:latin typeface="Bookman Old Style" pitchFamily="18" charset="0"/>
              </a:rPr>
              <a:t>Example : BUA</a:t>
            </a:r>
            <a:r>
              <a:rPr lang="en-US" dirty="0"/>
              <a:t>	</a:t>
            </a:r>
          </a:p>
        </p:txBody>
      </p:sp>
      <p:sp>
        <p:nvSpPr>
          <p:cNvPr id="8" name="Content Placeholder 1"/>
          <p:cNvSpPr txBox="1">
            <a:spLocks/>
          </p:cNvSpPr>
          <p:nvPr/>
        </p:nvSpPr>
        <p:spPr>
          <a:xfrm>
            <a:off x="723372" y="2033512"/>
            <a:ext cx="2187816" cy="2023458"/>
          </a:xfrm>
          <a:prstGeom prst="rect">
            <a:avLst/>
          </a:prstGeom>
          <a:ln w="19050">
            <a:solidFill>
              <a:srgbClr val="0000FF"/>
            </a:solidFill>
          </a:ln>
        </p:spPr>
        <p:txBody>
          <a:bodyPr vert="horz" lIns="100805" tIns="50402" rIns="100805" bIns="50402" rtlCol="0">
            <a:normAutofit/>
          </a:bodyPr>
          <a:lstStyle/>
          <a:p>
            <a:pPr marL="378013" indent="-378013" defTabSz="1008035">
              <a:spcBef>
                <a:spcPct val="20000"/>
              </a:spcBef>
              <a:defRPr/>
            </a:pPr>
            <a:r>
              <a:rPr lang="en-US" sz="1563" dirty="0">
                <a:solidFill>
                  <a:srgbClr val="0000FF"/>
                </a:solidFill>
                <a:latin typeface="Copperplate Gothic Light" pitchFamily="34" charset="0"/>
              </a:rPr>
              <a:t>Records in table a</a:t>
            </a:r>
          </a:p>
          <a:p>
            <a:pPr marL="378013" indent="-378013" defTabSz="1008035">
              <a:spcBef>
                <a:spcPct val="20000"/>
              </a:spcBef>
              <a:defRPr/>
            </a:pPr>
            <a:r>
              <a:rPr lang="en-US" sz="1563" dirty="0" err="1">
                <a:solidFill>
                  <a:srgbClr val="0000FF"/>
                </a:solidFill>
                <a:latin typeface="Bookman Old Style" pitchFamily="18" charset="0"/>
              </a:rPr>
              <a:t>Sql</a:t>
            </a:r>
            <a:r>
              <a:rPr lang="en-US" sz="1563" dirty="0">
                <a:solidFill>
                  <a:srgbClr val="0000FF"/>
                </a:solidFill>
                <a:latin typeface="Bookman Old Style" pitchFamily="18" charset="0"/>
              </a:rPr>
              <a:t> &gt; Select * from a</a:t>
            </a:r>
          </a:p>
          <a:p>
            <a:pPr marL="378013" indent="-378013" defTabSz="1008035">
              <a:spcBef>
                <a:spcPct val="20000"/>
              </a:spcBef>
              <a:defRPr/>
            </a:pPr>
            <a:r>
              <a:rPr lang="en-US" sz="1563" dirty="0">
                <a:solidFill>
                  <a:srgbClr val="0000FF"/>
                </a:solidFill>
                <a:latin typeface="Bookman Old Style" pitchFamily="18" charset="0"/>
              </a:rPr>
              <a:t>F1	  	F2</a:t>
            </a:r>
          </a:p>
          <a:p>
            <a:pPr marL="378013" indent="-378013" defTabSz="1008035">
              <a:spcBef>
                <a:spcPct val="20000"/>
              </a:spcBef>
              <a:defRPr/>
            </a:pPr>
            <a:r>
              <a:rPr lang="en-US" sz="1563" dirty="0">
                <a:solidFill>
                  <a:srgbClr val="0000FF"/>
                </a:solidFill>
                <a:latin typeface="Bookman Old Style" pitchFamily="18" charset="0"/>
              </a:rPr>
              <a:t>30		C</a:t>
            </a:r>
          </a:p>
          <a:p>
            <a:pPr marL="378013" indent="-378013" defTabSz="1008035">
              <a:spcBef>
                <a:spcPct val="20000"/>
              </a:spcBef>
              <a:defRPr/>
            </a:pPr>
            <a:r>
              <a:rPr lang="en-US" sz="1563" dirty="0">
                <a:solidFill>
                  <a:srgbClr val="0000FF"/>
                </a:solidFill>
                <a:latin typeface="Bookman Old Style" pitchFamily="18" charset="0"/>
              </a:rPr>
              <a:t>10		A</a:t>
            </a:r>
          </a:p>
          <a:p>
            <a:pPr marL="378013" indent="-378013" defTabSz="1008035">
              <a:spcBef>
                <a:spcPct val="20000"/>
              </a:spcBef>
              <a:defRPr/>
            </a:pPr>
            <a:r>
              <a:rPr lang="en-US" sz="1563" dirty="0">
                <a:solidFill>
                  <a:srgbClr val="0000FF"/>
                </a:solidFill>
                <a:latin typeface="Bookman Old Style" pitchFamily="18" charset="0"/>
              </a:rPr>
              <a:t>20		B</a:t>
            </a:r>
          </a:p>
          <a:p>
            <a:pPr marL="378013" indent="-378013" defTabSz="1008035">
              <a:spcBef>
                <a:spcPct val="20000"/>
              </a:spcBef>
              <a:defRPr/>
            </a:pPr>
            <a:endParaRPr lang="en-US" sz="1563" dirty="0">
              <a:solidFill>
                <a:srgbClr val="0000FF"/>
              </a:solidFill>
            </a:endParaRPr>
          </a:p>
        </p:txBody>
      </p:sp>
      <p:sp>
        <p:nvSpPr>
          <p:cNvPr id="9" name="Content Placeholder 1"/>
          <p:cNvSpPr txBox="1">
            <a:spLocks/>
          </p:cNvSpPr>
          <p:nvPr/>
        </p:nvSpPr>
        <p:spPr>
          <a:xfrm>
            <a:off x="3305024" y="2033512"/>
            <a:ext cx="2187816" cy="2023458"/>
          </a:xfrm>
          <a:prstGeom prst="rect">
            <a:avLst/>
          </a:prstGeom>
          <a:ln w="19050">
            <a:solidFill>
              <a:srgbClr val="C00000"/>
            </a:solidFill>
          </a:ln>
        </p:spPr>
        <p:txBody>
          <a:bodyPr vert="horz" lIns="92436" tIns="46218" rIns="92436" bIns="46218" rtlCol="0">
            <a:normAutofit fontScale="92500"/>
          </a:bodyPr>
          <a:lstStyle/>
          <a:p>
            <a:pPr marL="346633" indent="-346633" defTabSz="924353">
              <a:spcBef>
                <a:spcPct val="20000"/>
              </a:spcBef>
              <a:defRPr/>
            </a:pPr>
            <a:r>
              <a:rPr lang="en-US" sz="1563" dirty="0">
                <a:solidFill>
                  <a:srgbClr val="C00000"/>
                </a:solidFill>
                <a:latin typeface="Copperplate Gothic Light" pitchFamily="34" charset="0"/>
              </a:rPr>
              <a:t>Records in table b</a:t>
            </a:r>
          </a:p>
          <a:p>
            <a:pPr marL="346633" indent="-346633" defTabSz="924353">
              <a:spcBef>
                <a:spcPct val="20000"/>
              </a:spcBef>
              <a:defRPr/>
            </a:pPr>
            <a:r>
              <a:rPr lang="en-US" sz="1563" dirty="0" err="1">
                <a:solidFill>
                  <a:srgbClr val="C00000"/>
                </a:solidFill>
                <a:latin typeface="Bookman Old Style" pitchFamily="18" charset="0"/>
              </a:rPr>
              <a:t>Sql</a:t>
            </a:r>
            <a:r>
              <a:rPr lang="en-US" sz="1563" dirty="0">
                <a:solidFill>
                  <a:srgbClr val="C00000"/>
                </a:solidFill>
                <a:latin typeface="Bookman Old Style" pitchFamily="18" charset="0"/>
              </a:rPr>
              <a:t> &gt; Select * from b;</a:t>
            </a:r>
          </a:p>
          <a:p>
            <a:pPr>
              <a:lnSpc>
                <a:spcPct val="150000"/>
              </a:lnSpc>
            </a:pPr>
            <a:r>
              <a:rPr lang="en-US" sz="1563" dirty="0">
                <a:solidFill>
                  <a:srgbClr val="C00000"/>
                </a:solidFill>
                <a:latin typeface="Bookman Old Style" pitchFamily="18" charset="0"/>
              </a:rPr>
              <a:t>ID 	NAME</a:t>
            </a:r>
          </a:p>
          <a:p>
            <a:pPr>
              <a:lnSpc>
                <a:spcPct val="150000"/>
              </a:lnSpc>
            </a:pPr>
            <a:r>
              <a:rPr lang="en-US" sz="1563" dirty="0">
                <a:solidFill>
                  <a:srgbClr val="C00000"/>
                </a:solidFill>
                <a:latin typeface="Bookman Old Style" pitchFamily="18" charset="0"/>
              </a:rPr>
              <a:t>30	C</a:t>
            </a:r>
          </a:p>
          <a:p>
            <a:pPr>
              <a:lnSpc>
                <a:spcPct val="150000"/>
              </a:lnSpc>
            </a:pPr>
            <a:r>
              <a:rPr lang="en-US" sz="1563" dirty="0">
                <a:solidFill>
                  <a:srgbClr val="C00000"/>
                </a:solidFill>
                <a:latin typeface="Bookman Old Style" pitchFamily="18" charset="0"/>
              </a:rPr>
              <a:t>40	D</a:t>
            </a:r>
          </a:p>
          <a:p>
            <a:pPr>
              <a:lnSpc>
                <a:spcPct val="150000"/>
              </a:lnSpc>
            </a:pPr>
            <a:r>
              <a:rPr lang="en-US" sz="1563" dirty="0">
                <a:solidFill>
                  <a:srgbClr val="C00000"/>
                </a:solidFill>
                <a:latin typeface="Bookman Old Style" pitchFamily="18" charset="0"/>
              </a:rPr>
              <a:t>50	E</a:t>
            </a:r>
          </a:p>
          <a:p>
            <a:pPr marL="346633" indent="-346633" defTabSz="924353">
              <a:spcBef>
                <a:spcPct val="20000"/>
              </a:spcBef>
              <a:defRPr/>
            </a:pPr>
            <a:endParaRPr lang="en-US" sz="1563" dirty="0">
              <a:solidFill>
                <a:srgbClr val="C00000"/>
              </a:solidFill>
              <a:latin typeface="Bookman Old Style" pitchFamily="18" charset="0"/>
            </a:endParaRPr>
          </a:p>
        </p:txBody>
      </p:sp>
      <p:sp>
        <p:nvSpPr>
          <p:cNvPr id="10" name="Content Placeholder 1"/>
          <p:cNvSpPr txBox="1">
            <a:spLocks/>
          </p:cNvSpPr>
          <p:nvPr/>
        </p:nvSpPr>
        <p:spPr>
          <a:xfrm>
            <a:off x="8538104" y="1545091"/>
            <a:ext cx="2187816" cy="2023458"/>
          </a:xfrm>
          <a:prstGeom prst="rect">
            <a:avLst/>
          </a:prstGeom>
          <a:ln w="19050">
            <a:solidFill>
              <a:srgbClr val="0000FF"/>
            </a:solidFill>
          </a:ln>
        </p:spPr>
        <p:txBody>
          <a:bodyPr vert="horz" lIns="100805" tIns="50402" rIns="100805" bIns="50402" rtlCol="0">
            <a:normAutofit/>
          </a:bodyPr>
          <a:lstStyle/>
          <a:p>
            <a:pPr marL="378013" indent="-378013" defTabSz="1008035">
              <a:spcBef>
                <a:spcPct val="20000"/>
              </a:spcBef>
              <a:defRPr/>
            </a:pPr>
            <a:r>
              <a:rPr lang="en-US" sz="1563" dirty="0">
                <a:solidFill>
                  <a:srgbClr val="0000FF"/>
                </a:solidFill>
                <a:latin typeface="Bookman Old Style" pitchFamily="18" charset="0"/>
              </a:rPr>
              <a:t>F1	  	F2</a:t>
            </a:r>
          </a:p>
          <a:p>
            <a:pPr marL="378013" indent="-378013" defTabSz="1008035">
              <a:spcBef>
                <a:spcPct val="20000"/>
              </a:spcBef>
              <a:defRPr/>
            </a:pPr>
            <a:r>
              <a:rPr lang="en-US" sz="1563" dirty="0">
                <a:solidFill>
                  <a:srgbClr val="0000FF"/>
                </a:solidFill>
                <a:latin typeface="Bookman Old Style" pitchFamily="18" charset="0"/>
              </a:rPr>
              <a:t>30		C</a:t>
            </a:r>
          </a:p>
          <a:p>
            <a:pPr marL="378013" indent="-378013" defTabSz="1008035">
              <a:spcBef>
                <a:spcPct val="20000"/>
              </a:spcBef>
              <a:defRPr/>
            </a:pPr>
            <a:r>
              <a:rPr lang="en-US" sz="1563" dirty="0">
                <a:solidFill>
                  <a:srgbClr val="0000FF"/>
                </a:solidFill>
                <a:latin typeface="Bookman Old Style" pitchFamily="18" charset="0"/>
              </a:rPr>
              <a:t>10		A</a:t>
            </a:r>
          </a:p>
          <a:p>
            <a:pPr marL="378013" indent="-378013" defTabSz="1008035">
              <a:spcBef>
                <a:spcPct val="20000"/>
              </a:spcBef>
              <a:buFont typeface="Arial" pitchFamily="34" charset="0"/>
              <a:buAutoNum type="arabicPlain" startAt="20"/>
              <a:defRPr/>
            </a:pPr>
            <a:r>
              <a:rPr lang="en-US" sz="1563" dirty="0">
                <a:solidFill>
                  <a:srgbClr val="0000FF"/>
                </a:solidFill>
                <a:latin typeface="Bookman Old Style" pitchFamily="18" charset="0"/>
              </a:rPr>
              <a:t>          B</a:t>
            </a:r>
          </a:p>
          <a:p>
            <a:pPr marL="378013" indent="-378013" defTabSz="1008035">
              <a:spcBef>
                <a:spcPct val="20000"/>
              </a:spcBef>
              <a:buAutoNum type="arabicPlain" startAt="40"/>
              <a:defRPr/>
            </a:pPr>
            <a:r>
              <a:rPr lang="en-US" sz="1563" dirty="0">
                <a:solidFill>
                  <a:srgbClr val="0000FF"/>
                </a:solidFill>
                <a:latin typeface="Bookman Old Style" pitchFamily="18" charset="0"/>
              </a:rPr>
              <a:t>          D</a:t>
            </a:r>
          </a:p>
          <a:p>
            <a:pPr marL="378013" indent="-378013" defTabSz="1008035">
              <a:spcBef>
                <a:spcPct val="20000"/>
              </a:spcBef>
              <a:defRPr/>
            </a:pPr>
            <a:r>
              <a:rPr lang="en-US" sz="1563" dirty="0">
                <a:solidFill>
                  <a:srgbClr val="0000FF"/>
                </a:solidFill>
                <a:latin typeface="Bookman Old Style" pitchFamily="18" charset="0"/>
              </a:rPr>
              <a:t>50 		E</a:t>
            </a:r>
          </a:p>
          <a:p>
            <a:pPr marL="378013" indent="-378013" defTabSz="1008035">
              <a:spcBef>
                <a:spcPct val="20000"/>
              </a:spcBef>
              <a:defRPr/>
            </a:pPr>
            <a:endParaRPr lang="en-US" sz="1563" dirty="0">
              <a:solidFill>
                <a:srgbClr val="0000FF"/>
              </a:solidFill>
              <a:latin typeface="Bookman Old Style" pitchFamily="18" charset="0"/>
            </a:endParaRPr>
          </a:p>
          <a:p>
            <a:pPr marL="378013" indent="-378013" defTabSz="1008035">
              <a:spcBef>
                <a:spcPct val="20000"/>
              </a:spcBef>
              <a:defRPr/>
            </a:pPr>
            <a:endParaRPr lang="en-US" sz="1563" dirty="0">
              <a:solidFill>
                <a:srgbClr val="0000FF"/>
              </a:solidFill>
            </a:endParaRPr>
          </a:p>
        </p:txBody>
      </p:sp>
      <p:sp>
        <p:nvSpPr>
          <p:cNvPr id="11" name="Content Placeholder 1"/>
          <p:cNvSpPr txBox="1">
            <a:spLocks/>
          </p:cNvSpPr>
          <p:nvPr/>
        </p:nvSpPr>
        <p:spPr>
          <a:xfrm>
            <a:off x="8468330" y="3847646"/>
            <a:ext cx="2257590" cy="2372330"/>
          </a:xfrm>
          <a:prstGeom prst="rect">
            <a:avLst/>
          </a:prstGeom>
          <a:ln w="19050">
            <a:solidFill>
              <a:srgbClr val="C00000"/>
            </a:solidFill>
          </a:ln>
        </p:spPr>
        <p:txBody>
          <a:bodyPr vert="horz" lIns="92436" tIns="46218" rIns="92436" bIns="46218" rtlCol="0">
            <a:normAutofit/>
          </a:bodyPr>
          <a:lstStyle/>
          <a:p>
            <a:pPr>
              <a:lnSpc>
                <a:spcPct val="150000"/>
              </a:lnSpc>
            </a:pPr>
            <a:r>
              <a:rPr lang="en-US" sz="1563" dirty="0">
                <a:solidFill>
                  <a:srgbClr val="C00000"/>
                </a:solidFill>
                <a:latin typeface="Bookman Old Style" pitchFamily="18" charset="0"/>
              </a:rPr>
              <a:t>ID 	NAME</a:t>
            </a:r>
          </a:p>
          <a:p>
            <a:pPr>
              <a:lnSpc>
                <a:spcPct val="150000"/>
              </a:lnSpc>
            </a:pPr>
            <a:r>
              <a:rPr lang="en-US" sz="1563" dirty="0">
                <a:solidFill>
                  <a:srgbClr val="C00000"/>
                </a:solidFill>
                <a:latin typeface="Bookman Old Style" pitchFamily="18" charset="0"/>
              </a:rPr>
              <a:t>10                 A</a:t>
            </a:r>
          </a:p>
          <a:p>
            <a:pPr>
              <a:lnSpc>
                <a:spcPct val="150000"/>
              </a:lnSpc>
            </a:pPr>
            <a:r>
              <a:rPr lang="en-US" sz="1563" dirty="0">
                <a:solidFill>
                  <a:srgbClr val="C00000"/>
                </a:solidFill>
                <a:latin typeface="Bookman Old Style" pitchFamily="18" charset="0"/>
              </a:rPr>
              <a:t>20                 B</a:t>
            </a:r>
          </a:p>
          <a:p>
            <a:pPr>
              <a:lnSpc>
                <a:spcPct val="150000"/>
              </a:lnSpc>
            </a:pPr>
            <a:r>
              <a:rPr lang="en-US" sz="1563" dirty="0">
                <a:solidFill>
                  <a:srgbClr val="C00000"/>
                </a:solidFill>
                <a:latin typeface="Bookman Old Style" pitchFamily="18" charset="0"/>
              </a:rPr>
              <a:t>30	     C</a:t>
            </a:r>
          </a:p>
          <a:p>
            <a:pPr>
              <a:lnSpc>
                <a:spcPct val="150000"/>
              </a:lnSpc>
            </a:pPr>
            <a:r>
              <a:rPr lang="en-US" sz="1563" dirty="0">
                <a:solidFill>
                  <a:srgbClr val="C00000"/>
                </a:solidFill>
                <a:latin typeface="Bookman Old Style" pitchFamily="18" charset="0"/>
              </a:rPr>
              <a:t>40	     D    </a:t>
            </a:r>
          </a:p>
          <a:p>
            <a:pPr>
              <a:lnSpc>
                <a:spcPct val="150000"/>
              </a:lnSpc>
            </a:pPr>
            <a:r>
              <a:rPr lang="en-US" sz="1563" dirty="0">
                <a:solidFill>
                  <a:srgbClr val="C00000"/>
                </a:solidFill>
                <a:latin typeface="Bookman Old Style" pitchFamily="18" charset="0"/>
              </a:rPr>
              <a:t>50	     E</a:t>
            </a:r>
          </a:p>
          <a:p>
            <a:pPr marL="346633" indent="-346633" defTabSz="924353">
              <a:spcBef>
                <a:spcPct val="20000"/>
              </a:spcBef>
              <a:defRPr/>
            </a:pPr>
            <a:endParaRPr lang="en-US" sz="1563" dirty="0">
              <a:solidFill>
                <a:srgbClr val="C00000"/>
              </a:solidFill>
              <a:latin typeface="Bookman Old Style" pitchFamily="18" charset="0"/>
            </a:endParaRPr>
          </a:p>
        </p:txBody>
      </p:sp>
      <p:sp>
        <p:nvSpPr>
          <p:cNvPr id="2" name="Slide Number Placeholder 1">
            <a:extLst>
              <a:ext uri="{FF2B5EF4-FFF2-40B4-BE49-F238E27FC236}">
                <a16:creationId xmlns:a16="http://schemas.microsoft.com/office/drawing/2014/main" id="{22AC68EB-957A-26FE-AC83-C0C61CF8FB90}"/>
              </a:ext>
            </a:extLst>
          </p:cNvPr>
          <p:cNvSpPr>
            <a:spLocks noGrp="1"/>
          </p:cNvSpPr>
          <p:nvPr>
            <p:ph type="sldNum" sz="quarter" idx="12"/>
          </p:nvPr>
        </p:nvSpPr>
        <p:spPr/>
        <p:txBody>
          <a:bodyPr/>
          <a:lstStyle/>
          <a:p>
            <a:fld id="{30BB16E2-1063-4ECC-B0F4-DD6A8CC0C30D}" type="slidenum">
              <a:rPr lang="en-US" smtClean="0"/>
              <a:pPr/>
              <a:t>36</a:t>
            </a:fld>
            <a:endParaRPr lang="en-US"/>
          </a:p>
        </p:txBody>
      </p:sp>
      <p:sp>
        <p:nvSpPr>
          <p:cNvPr id="6" name="Title 1">
            <a:extLst>
              <a:ext uri="{FF2B5EF4-FFF2-40B4-BE49-F238E27FC236}">
                <a16:creationId xmlns:a16="http://schemas.microsoft.com/office/drawing/2014/main" id="{F5F42357-0CCB-1629-F52A-59D75857E515}"/>
              </a:ext>
            </a:extLst>
          </p:cNvPr>
          <p:cNvSpPr txBox="1">
            <a:spLocks/>
          </p:cNvSpPr>
          <p:nvPr/>
        </p:nvSpPr>
        <p:spPr>
          <a:xfrm>
            <a:off x="187701" y="0"/>
            <a:ext cx="11880252" cy="7775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735">
                <a:solidFill>
                  <a:srgbClr val="FF0000"/>
                </a:solidFill>
                <a:latin typeface="Copperplate Gothic Light" pitchFamily="34" charset="0"/>
              </a:rPr>
              <a:t>Relational Algebra – Fundamental  Operators and syntax</a:t>
            </a:r>
            <a:endParaRPr lang="en-US" sz="3125" dirty="0">
              <a:solidFill>
                <a:srgbClr val="FF0000"/>
              </a:solidFill>
              <a:latin typeface="Copperplate Gothic Light" pitchFamily="34"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8248D-622D-794A-D028-A01587C93E8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ECE9550-2925-BA1C-E034-41A4BD08EC6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ECB88AD2-7EE5-A71A-AB96-C3D3DA658497}"/>
              </a:ext>
            </a:extLst>
          </p:cNvPr>
          <p:cNvSpPr>
            <a:spLocks noGrp="1"/>
          </p:cNvSpPr>
          <p:nvPr>
            <p:ph type="sldNum" sz="quarter" idx="12"/>
          </p:nvPr>
        </p:nvSpPr>
        <p:spPr/>
        <p:txBody>
          <a:bodyPr/>
          <a:lstStyle/>
          <a:p>
            <a:fld id="{30BB16E2-1063-4ECC-B0F4-DD6A8CC0C30D}" type="slidenum">
              <a:rPr lang="en-US" smtClean="0"/>
              <a:pPr/>
              <a:t>37</a:t>
            </a:fld>
            <a:endParaRPr lang="en-US"/>
          </a:p>
        </p:txBody>
      </p:sp>
      <p:pic>
        <p:nvPicPr>
          <p:cNvPr id="6" name="Picture 5">
            <a:extLst>
              <a:ext uri="{FF2B5EF4-FFF2-40B4-BE49-F238E27FC236}">
                <a16:creationId xmlns:a16="http://schemas.microsoft.com/office/drawing/2014/main" id="{70201F3C-492B-2772-69C7-A4BEB5068D5B}"/>
              </a:ext>
            </a:extLst>
          </p:cNvPr>
          <p:cNvPicPr>
            <a:picLocks noChangeAspect="1"/>
          </p:cNvPicPr>
          <p:nvPr/>
        </p:nvPicPr>
        <p:blipFill>
          <a:blip r:embed="rId2"/>
          <a:stretch>
            <a:fillRect/>
          </a:stretch>
        </p:blipFill>
        <p:spPr>
          <a:xfrm>
            <a:off x="346860" y="185285"/>
            <a:ext cx="11498280" cy="6487430"/>
          </a:xfrm>
          <a:prstGeom prst="rect">
            <a:avLst/>
          </a:prstGeom>
        </p:spPr>
      </p:pic>
    </p:spTree>
    <p:extLst>
      <p:ext uri="{BB962C8B-B14F-4D97-AF65-F5344CB8AC3E}">
        <p14:creationId xmlns:p14="http://schemas.microsoft.com/office/powerpoint/2010/main" val="33233912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C16A2-6797-3F2A-5AEB-FFC52E3E0D78}"/>
              </a:ext>
            </a:extLst>
          </p:cNvPr>
          <p:cNvSpPr>
            <a:spLocks noGrp="1"/>
          </p:cNvSpPr>
          <p:nvPr>
            <p:ph type="title"/>
          </p:nvPr>
        </p:nvSpPr>
        <p:spPr/>
        <p:txBody>
          <a:bodyPr/>
          <a:lstStyle/>
          <a:p>
            <a:r>
              <a:rPr lang="en-IN" dirty="0"/>
              <a:t>Union Examples</a:t>
            </a:r>
          </a:p>
        </p:txBody>
      </p:sp>
      <p:sp>
        <p:nvSpPr>
          <p:cNvPr id="3" name="Content Placeholder 2">
            <a:extLst>
              <a:ext uri="{FF2B5EF4-FFF2-40B4-BE49-F238E27FC236}">
                <a16:creationId xmlns:a16="http://schemas.microsoft.com/office/drawing/2014/main" id="{79644F12-50E4-6AEC-0542-A480722D00D7}"/>
              </a:ext>
            </a:extLst>
          </p:cNvPr>
          <p:cNvSpPr>
            <a:spLocks noGrp="1"/>
          </p:cNvSpPr>
          <p:nvPr>
            <p:ph idx="1"/>
          </p:nvPr>
        </p:nvSpPr>
        <p:spPr/>
        <p:txBody>
          <a:bodyPr/>
          <a:lstStyle/>
          <a:p>
            <a:r>
              <a:rPr lang="en-IN" dirty="0"/>
              <a:t>Find the set of all courses taught in the Fall 2017 semester</a:t>
            </a:r>
          </a:p>
          <a:p>
            <a:endParaRPr lang="en-IN" dirty="0"/>
          </a:p>
          <a:p>
            <a:endParaRPr lang="en-IN" dirty="0"/>
          </a:p>
          <a:p>
            <a:r>
              <a:rPr lang="en-IN" dirty="0"/>
              <a:t>Find the set of all courses taught in the Spring 2018 semester</a:t>
            </a:r>
          </a:p>
          <a:p>
            <a:endParaRPr lang="en-IN" dirty="0"/>
          </a:p>
          <a:p>
            <a:endParaRPr lang="en-IN" dirty="0"/>
          </a:p>
          <a:p>
            <a:r>
              <a:rPr lang="en-IN" dirty="0"/>
              <a:t>Find the set of all </a:t>
            </a:r>
            <a:r>
              <a:rPr lang="en-US" dirty="0"/>
              <a:t>Courses offered in either Fall 2017, Spring 2018, or both semesters. </a:t>
            </a:r>
            <a:endParaRPr lang="en-IN" dirty="0"/>
          </a:p>
          <a:p>
            <a:endParaRPr lang="en-IN" dirty="0"/>
          </a:p>
        </p:txBody>
      </p:sp>
      <p:sp>
        <p:nvSpPr>
          <p:cNvPr id="4" name="Slide Number Placeholder 3">
            <a:extLst>
              <a:ext uri="{FF2B5EF4-FFF2-40B4-BE49-F238E27FC236}">
                <a16:creationId xmlns:a16="http://schemas.microsoft.com/office/drawing/2014/main" id="{0D526F37-7FC2-D71A-4E14-F2E016BCA033}"/>
              </a:ext>
            </a:extLst>
          </p:cNvPr>
          <p:cNvSpPr>
            <a:spLocks noGrp="1"/>
          </p:cNvSpPr>
          <p:nvPr>
            <p:ph type="sldNum" sz="quarter" idx="12"/>
          </p:nvPr>
        </p:nvSpPr>
        <p:spPr/>
        <p:txBody>
          <a:bodyPr/>
          <a:lstStyle/>
          <a:p>
            <a:fld id="{30BB16E2-1063-4ECC-B0F4-DD6A8CC0C30D}" type="slidenum">
              <a:rPr lang="en-US" smtClean="0"/>
              <a:pPr/>
              <a:t>38</a:t>
            </a:fld>
            <a:endParaRPr lang="en-US"/>
          </a:p>
        </p:txBody>
      </p:sp>
      <p:pic>
        <p:nvPicPr>
          <p:cNvPr id="6" name="Picture 5">
            <a:extLst>
              <a:ext uri="{FF2B5EF4-FFF2-40B4-BE49-F238E27FC236}">
                <a16:creationId xmlns:a16="http://schemas.microsoft.com/office/drawing/2014/main" id="{251C5163-77DC-97CE-A566-33189D7ECAAC}"/>
              </a:ext>
            </a:extLst>
          </p:cNvPr>
          <p:cNvPicPr>
            <a:picLocks noChangeAspect="1"/>
          </p:cNvPicPr>
          <p:nvPr/>
        </p:nvPicPr>
        <p:blipFill>
          <a:blip r:embed="rId2"/>
          <a:stretch>
            <a:fillRect/>
          </a:stretch>
        </p:blipFill>
        <p:spPr>
          <a:xfrm>
            <a:off x="1980275" y="2182190"/>
            <a:ext cx="6592220" cy="924054"/>
          </a:xfrm>
          <a:prstGeom prst="rect">
            <a:avLst/>
          </a:prstGeom>
        </p:spPr>
      </p:pic>
      <p:pic>
        <p:nvPicPr>
          <p:cNvPr id="8" name="Picture 7">
            <a:extLst>
              <a:ext uri="{FF2B5EF4-FFF2-40B4-BE49-F238E27FC236}">
                <a16:creationId xmlns:a16="http://schemas.microsoft.com/office/drawing/2014/main" id="{531E8D4A-19C0-B817-0AFB-1F079A2A65F7}"/>
              </a:ext>
            </a:extLst>
          </p:cNvPr>
          <p:cNvPicPr>
            <a:picLocks noChangeAspect="1"/>
          </p:cNvPicPr>
          <p:nvPr/>
        </p:nvPicPr>
        <p:blipFill>
          <a:blip r:embed="rId3"/>
          <a:stretch>
            <a:fillRect/>
          </a:stretch>
        </p:blipFill>
        <p:spPr>
          <a:xfrm>
            <a:off x="1961222" y="3743405"/>
            <a:ext cx="6630325" cy="924054"/>
          </a:xfrm>
          <a:prstGeom prst="rect">
            <a:avLst/>
          </a:prstGeom>
        </p:spPr>
      </p:pic>
      <p:pic>
        <p:nvPicPr>
          <p:cNvPr id="10" name="Picture 9">
            <a:extLst>
              <a:ext uri="{FF2B5EF4-FFF2-40B4-BE49-F238E27FC236}">
                <a16:creationId xmlns:a16="http://schemas.microsoft.com/office/drawing/2014/main" id="{29FEDA43-840B-5A8D-6D2C-D008B8C64BF0}"/>
              </a:ext>
            </a:extLst>
          </p:cNvPr>
          <p:cNvPicPr>
            <a:picLocks noChangeAspect="1"/>
          </p:cNvPicPr>
          <p:nvPr/>
        </p:nvPicPr>
        <p:blipFill>
          <a:blip r:embed="rId4"/>
          <a:stretch>
            <a:fillRect/>
          </a:stretch>
        </p:blipFill>
        <p:spPr>
          <a:xfrm>
            <a:off x="3458346" y="5477125"/>
            <a:ext cx="6935168" cy="1124107"/>
          </a:xfrm>
          <a:prstGeom prst="rect">
            <a:avLst/>
          </a:prstGeom>
        </p:spPr>
      </p:pic>
      <p:pic>
        <p:nvPicPr>
          <p:cNvPr id="12" name="Picture 11">
            <a:extLst>
              <a:ext uri="{FF2B5EF4-FFF2-40B4-BE49-F238E27FC236}">
                <a16:creationId xmlns:a16="http://schemas.microsoft.com/office/drawing/2014/main" id="{80D7A5CB-2EED-DB6D-48EC-8EB70184FE82}"/>
              </a:ext>
            </a:extLst>
          </p:cNvPr>
          <p:cNvPicPr>
            <a:picLocks noChangeAspect="1"/>
          </p:cNvPicPr>
          <p:nvPr/>
        </p:nvPicPr>
        <p:blipFill>
          <a:blip r:embed="rId5"/>
          <a:stretch>
            <a:fillRect/>
          </a:stretch>
        </p:blipFill>
        <p:spPr>
          <a:xfrm>
            <a:off x="9982200" y="256768"/>
            <a:ext cx="2295845" cy="4410691"/>
          </a:xfrm>
          <a:prstGeom prst="rect">
            <a:avLst/>
          </a:prstGeom>
        </p:spPr>
      </p:pic>
    </p:spTree>
    <p:extLst>
      <p:ext uri="{BB962C8B-B14F-4D97-AF65-F5344CB8AC3E}">
        <p14:creationId xmlns:p14="http://schemas.microsoft.com/office/powerpoint/2010/main" val="15848428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1BEF1-94E2-41D3-6709-2CB8BC876B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A718F8-FC14-B5AD-D5D8-9C9B9545A164}"/>
              </a:ext>
            </a:extLst>
          </p:cNvPr>
          <p:cNvSpPr>
            <a:spLocks noGrp="1"/>
          </p:cNvSpPr>
          <p:nvPr>
            <p:ph idx="1"/>
          </p:nvPr>
        </p:nvSpPr>
        <p:spPr>
          <a:xfrm>
            <a:off x="444274" y="707799"/>
            <a:ext cx="10969197" cy="5418368"/>
          </a:xfrm>
        </p:spPr>
        <p:txBody>
          <a:bodyPr/>
          <a:lstStyle/>
          <a:p>
            <a:pPr>
              <a:buNone/>
            </a:pPr>
            <a:r>
              <a:rPr lang="en-US" sz="2735" b="1" dirty="0" err="1">
                <a:solidFill>
                  <a:srgbClr val="C00000"/>
                </a:solidFill>
                <a:latin typeface="Copperplate Gothic Light" pitchFamily="34" charset="0"/>
              </a:rPr>
              <a:t>INtersection</a:t>
            </a:r>
            <a:r>
              <a:rPr lang="en-US" sz="2735" b="1" dirty="0">
                <a:solidFill>
                  <a:srgbClr val="C00000"/>
                </a:solidFill>
                <a:latin typeface="Copperplate Gothic Light" pitchFamily="34" charset="0"/>
              </a:rPr>
              <a:t> Operation (∩)</a:t>
            </a:r>
          </a:p>
          <a:p>
            <a:pPr>
              <a:buNone/>
            </a:pPr>
            <a:r>
              <a:rPr lang="en-US" sz="2344" dirty="0">
                <a:solidFill>
                  <a:srgbClr val="213AF1"/>
                </a:solidFill>
                <a:latin typeface="Bookman Old Style" pitchFamily="18" charset="0"/>
              </a:rPr>
              <a:t>Consider the following table</a:t>
            </a:r>
            <a:r>
              <a:rPr lang="en-US" sz="2735" dirty="0">
                <a:solidFill>
                  <a:srgbClr val="C00000"/>
                </a:solidFill>
                <a:latin typeface="Copperplate Gothic Light" pitchFamily="34" charset="0"/>
              </a:rPr>
              <a:t> 			</a:t>
            </a:r>
          </a:p>
          <a:p>
            <a:pPr>
              <a:buNone/>
            </a:pPr>
            <a:endParaRPr lang="en-US" sz="2735" dirty="0">
              <a:solidFill>
                <a:srgbClr val="C00000"/>
              </a:solidFill>
              <a:latin typeface="Copperplate Gothic Light" pitchFamily="34" charset="0"/>
            </a:endParaRPr>
          </a:p>
          <a:p>
            <a:pPr>
              <a:buNone/>
            </a:pPr>
            <a:r>
              <a:rPr lang="en-US" sz="2735" dirty="0">
                <a:solidFill>
                  <a:srgbClr val="C00000"/>
                </a:solidFill>
                <a:latin typeface="Copperplate Gothic Light" pitchFamily="34" charset="0"/>
              </a:rPr>
              <a:t>						    </a:t>
            </a:r>
            <a:r>
              <a:rPr lang="en-US" sz="2149" dirty="0">
                <a:solidFill>
                  <a:srgbClr val="213AF1"/>
                </a:solidFill>
                <a:latin typeface="Bookman Old Style" pitchFamily="18" charset="0"/>
              </a:rPr>
              <a:t>Example : A∩B</a:t>
            </a:r>
          </a:p>
          <a:p>
            <a:pPr>
              <a:buNone/>
            </a:pPr>
            <a:endParaRPr lang="en-US" sz="2735" dirty="0">
              <a:solidFill>
                <a:srgbClr val="C00000"/>
              </a:solidFill>
              <a:latin typeface="Copperplate Gothic Light" pitchFamily="34" charset="0"/>
            </a:endParaRPr>
          </a:p>
          <a:p>
            <a:pPr>
              <a:buNone/>
            </a:pPr>
            <a:endParaRPr lang="en-US" dirty="0"/>
          </a:p>
          <a:p>
            <a:pPr>
              <a:buNone/>
            </a:pPr>
            <a:r>
              <a:rPr lang="en-US" dirty="0"/>
              <a:t> 								 			                       					   </a:t>
            </a:r>
            <a:r>
              <a:rPr lang="en-US" sz="2149" dirty="0">
                <a:solidFill>
                  <a:srgbClr val="C00000"/>
                </a:solidFill>
                <a:latin typeface="Bookman Old Style" pitchFamily="18" charset="0"/>
              </a:rPr>
              <a:t>Example : B∩A</a:t>
            </a:r>
            <a:r>
              <a:rPr lang="en-US" dirty="0"/>
              <a:t>	</a:t>
            </a:r>
          </a:p>
        </p:txBody>
      </p:sp>
      <p:sp>
        <p:nvSpPr>
          <p:cNvPr id="8" name="Content Placeholder 1">
            <a:extLst>
              <a:ext uri="{FF2B5EF4-FFF2-40B4-BE49-F238E27FC236}">
                <a16:creationId xmlns:a16="http://schemas.microsoft.com/office/drawing/2014/main" id="{62DADA72-4163-CAEF-0CDA-56D3C309B134}"/>
              </a:ext>
            </a:extLst>
          </p:cNvPr>
          <p:cNvSpPr txBox="1">
            <a:spLocks/>
          </p:cNvSpPr>
          <p:nvPr/>
        </p:nvSpPr>
        <p:spPr>
          <a:xfrm>
            <a:off x="723372" y="2033512"/>
            <a:ext cx="2187816" cy="2023458"/>
          </a:xfrm>
          <a:prstGeom prst="rect">
            <a:avLst/>
          </a:prstGeom>
          <a:ln w="19050">
            <a:solidFill>
              <a:srgbClr val="0000FF"/>
            </a:solidFill>
          </a:ln>
        </p:spPr>
        <p:txBody>
          <a:bodyPr vert="horz" lIns="100805" tIns="50402" rIns="100805" bIns="50402" rtlCol="0">
            <a:normAutofit/>
          </a:bodyPr>
          <a:lstStyle/>
          <a:p>
            <a:pPr marL="378013" indent="-378013" defTabSz="1008035">
              <a:spcBef>
                <a:spcPct val="20000"/>
              </a:spcBef>
              <a:defRPr/>
            </a:pPr>
            <a:r>
              <a:rPr lang="en-US" sz="1563" dirty="0">
                <a:solidFill>
                  <a:srgbClr val="0000FF"/>
                </a:solidFill>
                <a:latin typeface="Copperplate Gothic Light" pitchFamily="34" charset="0"/>
              </a:rPr>
              <a:t>Records in table a</a:t>
            </a:r>
          </a:p>
          <a:p>
            <a:pPr marL="378013" indent="-378013" defTabSz="1008035">
              <a:spcBef>
                <a:spcPct val="20000"/>
              </a:spcBef>
              <a:defRPr/>
            </a:pPr>
            <a:r>
              <a:rPr lang="en-US" sz="1563" dirty="0" err="1">
                <a:solidFill>
                  <a:srgbClr val="0000FF"/>
                </a:solidFill>
                <a:latin typeface="Bookman Old Style" pitchFamily="18" charset="0"/>
              </a:rPr>
              <a:t>Sql</a:t>
            </a:r>
            <a:r>
              <a:rPr lang="en-US" sz="1563" dirty="0">
                <a:solidFill>
                  <a:srgbClr val="0000FF"/>
                </a:solidFill>
                <a:latin typeface="Bookman Old Style" pitchFamily="18" charset="0"/>
              </a:rPr>
              <a:t> &gt; Select * from a</a:t>
            </a:r>
          </a:p>
          <a:p>
            <a:pPr marL="378013" indent="-378013" defTabSz="1008035">
              <a:spcBef>
                <a:spcPct val="20000"/>
              </a:spcBef>
              <a:defRPr/>
            </a:pPr>
            <a:r>
              <a:rPr lang="en-US" sz="1563" dirty="0">
                <a:solidFill>
                  <a:srgbClr val="0000FF"/>
                </a:solidFill>
                <a:latin typeface="Bookman Old Style" pitchFamily="18" charset="0"/>
              </a:rPr>
              <a:t>F1	  	F2</a:t>
            </a:r>
          </a:p>
          <a:p>
            <a:pPr marL="378013" indent="-378013" defTabSz="1008035">
              <a:spcBef>
                <a:spcPct val="20000"/>
              </a:spcBef>
              <a:defRPr/>
            </a:pPr>
            <a:r>
              <a:rPr lang="en-US" sz="1563" dirty="0">
                <a:solidFill>
                  <a:srgbClr val="0000FF"/>
                </a:solidFill>
                <a:latin typeface="Bookman Old Style" pitchFamily="18" charset="0"/>
              </a:rPr>
              <a:t>30		C</a:t>
            </a:r>
          </a:p>
          <a:p>
            <a:pPr marL="378013" indent="-378013" defTabSz="1008035">
              <a:spcBef>
                <a:spcPct val="20000"/>
              </a:spcBef>
              <a:defRPr/>
            </a:pPr>
            <a:r>
              <a:rPr lang="en-US" sz="1563" dirty="0">
                <a:solidFill>
                  <a:srgbClr val="0000FF"/>
                </a:solidFill>
                <a:latin typeface="Bookman Old Style" pitchFamily="18" charset="0"/>
              </a:rPr>
              <a:t>10		A</a:t>
            </a:r>
          </a:p>
          <a:p>
            <a:pPr marL="378013" indent="-378013" defTabSz="1008035">
              <a:spcBef>
                <a:spcPct val="20000"/>
              </a:spcBef>
              <a:defRPr/>
            </a:pPr>
            <a:r>
              <a:rPr lang="en-US" sz="1563" dirty="0">
                <a:solidFill>
                  <a:srgbClr val="0000FF"/>
                </a:solidFill>
                <a:latin typeface="Bookman Old Style" pitchFamily="18" charset="0"/>
              </a:rPr>
              <a:t>20		B</a:t>
            </a:r>
          </a:p>
          <a:p>
            <a:pPr marL="378013" indent="-378013" defTabSz="1008035">
              <a:spcBef>
                <a:spcPct val="20000"/>
              </a:spcBef>
              <a:defRPr/>
            </a:pPr>
            <a:endParaRPr lang="en-US" sz="1563" dirty="0">
              <a:solidFill>
                <a:srgbClr val="0000FF"/>
              </a:solidFill>
            </a:endParaRPr>
          </a:p>
        </p:txBody>
      </p:sp>
      <p:sp>
        <p:nvSpPr>
          <p:cNvPr id="9" name="Content Placeholder 1">
            <a:extLst>
              <a:ext uri="{FF2B5EF4-FFF2-40B4-BE49-F238E27FC236}">
                <a16:creationId xmlns:a16="http://schemas.microsoft.com/office/drawing/2014/main" id="{34575A3E-EFAB-92D0-D6CA-7E69C4E84287}"/>
              </a:ext>
            </a:extLst>
          </p:cNvPr>
          <p:cNvSpPr txBox="1">
            <a:spLocks/>
          </p:cNvSpPr>
          <p:nvPr/>
        </p:nvSpPr>
        <p:spPr>
          <a:xfrm>
            <a:off x="3167761" y="2053645"/>
            <a:ext cx="2187816" cy="2023458"/>
          </a:xfrm>
          <a:prstGeom prst="rect">
            <a:avLst/>
          </a:prstGeom>
          <a:ln w="19050">
            <a:solidFill>
              <a:srgbClr val="C00000"/>
            </a:solidFill>
          </a:ln>
        </p:spPr>
        <p:txBody>
          <a:bodyPr vert="horz" lIns="92436" tIns="46218" rIns="92436" bIns="46218" rtlCol="0">
            <a:normAutofit fontScale="92500"/>
          </a:bodyPr>
          <a:lstStyle/>
          <a:p>
            <a:pPr marL="346633" indent="-346633" defTabSz="924353">
              <a:spcBef>
                <a:spcPct val="20000"/>
              </a:spcBef>
              <a:defRPr/>
            </a:pPr>
            <a:r>
              <a:rPr lang="en-US" sz="1563" dirty="0">
                <a:solidFill>
                  <a:srgbClr val="C00000"/>
                </a:solidFill>
                <a:latin typeface="Copperplate Gothic Light" pitchFamily="34" charset="0"/>
              </a:rPr>
              <a:t>Records in table b</a:t>
            </a:r>
          </a:p>
          <a:p>
            <a:pPr marL="346633" indent="-346633" defTabSz="924353">
              <a:spcBef>
                <a:spcPct val="20000"/>
              </a:spcBef>
              <a:defRPr/>
            </a:pPr>
            <a:r>
              <a:rPr lang="en-US" sz="1563" dirty="0" err="1">
                <a:solidFill>
                  <a:srgbClr val="C00000"/>
                </a:solidFill>
                <a:latin typeface="Bookman Old Style" pitchFamily="18" charset="0"/>
              </a:rPr>
              <a:t>Sql</a:t>
            </a:r>
            <a:r>
              <a:rPr lang="en-US" sz="1563" dirty="0">
                <a:solidFill>
                  <a:srgbClr val="C00000"/>
                </a:solidFill>
                <a:latin typeface="Bookman Old Style" pitchFamily="18" charset="0"/>
              </a:rPr>
              <a:t> &gt; Select * from b;</a:t>
            </a:r>
          </a:p>
          <a:p>
            <a:pPr>
              <a:lnSpc>
                <a:spcPct val="150000"/>
              </a:lnSpc>
            </a:pPr>
            <a:r>
              <a:rPr lang="en-US" sz="1563" dirty="0">
                <a:solidFill>
                  <a:srgbClr val="C00000"/>
                </a:solidFill>
                <a:latin typeface="Bookman Old Style" pitchFamily="18" charset="0"/>
              </a:rPr>
              <a:t>ID 	NAME</a:t>
            </a:r>
          </a:p>
          <a:p>
            <a:pPr>
              <a:lnSpc>
                <a:spcPct val="150000"/>
              </a:lnSpc>
            </a:pPr>
            <a:r>
              <a:rPr lang="en-US" sz="1563" dirty="0">
                <a:solidFill>
                  <a:srgbClr val="C00000"/>
                </a:solidFill>
                <a:latin typeface="Bookman Old Style" pitchFamily="18" charset="0"/>
              </a:rPr>
              <a:t>30	C</a:t>
            </a:r>
          </a:p>
          <a:p>
            <a:pPr>
              <a:lnSpc>
                <a:spcPct val="150000"/>
              </a:lnSpc>
            </a:pPr>
            <a:r>
              <a:rPr lang="en-US" sz="1563" dirty="0">
                <a:solidFill>
                  <a:srgbClr val="C00000"/>
                </a:solidFill>
                <a:latin typeface="Bookman Old Style" pitchFamily="18" charset="0"/>
              </a:rPr>
              <a:t>40	D</a:t>
            </a:r>
          </a:p>
          <a:p>
            <a:pPr>
              <a:lnSpc>
                <a:spcPct val="150000"/>
              </a:lnSpc>
            </a:pPr>
            <a:r>
              <a:rPr lang="en-US" sz="1563" dirty="0">
                <a:solidFill>
                  <a:srgbClr val="C00000"/>
                </a:solidFill>
                <a:latin typeface="Bookman Old Style" pitchFamily="18" charset="0"/>
              </a:rPr>
              <a:t>50	E</a:t>
            </a:r>
          </a:p>
          <a:p>
            <a:pPr marL="346633" indent="-346633" defTabSz="924353">
              <a:spcBef>
                <a:spcPct val="20000"/>
              </a:spcBef>
              <a:defRPr/>
            </a:pPr>
            <a:endParaRPr lang="en-US" sz="1563" dirty="0">
              <a:solidFill>
                <a:srgbClr val="C00000"/>
              </a:solidFill>
              <a:latin typeface="Bookman Old Style" pitchFamily="18" charset="0"/>
            </a:endParaRPr>
          </a:p>
        </p:txBody>
      </p:sp>
      <p:sp>
        <p:nvSpPr>
          <p:cNvPr id="10" name="Content Placeholder 1">
            <a:extLst>
              <a:ext uri="{FF2B5EF4-FFF2-40B4-BE49-F238E27FC236}">
                <a16:creationId xmlns:a16="http://schemas.microsoft.com/office/drawing/2014/main" id="{CF49F064-7A3E-4802-CA10-6409389EE0EC}"/>
              </a:ext>
            </a:extLst>
          </p:cNvPr>
          <p:cNvSpPr txBox="1">
            <a:spLocks/>
          </p:cNvSpPr>
          <p:nvPr/>
        </p:nvSpPr>
        <p:spPr>
          <a:xfrm>
            <a:off x="8328665" y="2047548"/>
            <a:ext cx="2187816" cy="997693"/>
          </a:xfrm>
          <a:prstGeom prst="rect">
            <a:avLst/>
          </a:prstGeom>
          <a:ln w="19050">
            <a:solidFill>
              <a:srgbClr val="0000FF"/>
            </a:solidFill>
          </a:ln>
        </p:spPr>
        <p:txBody>
          <a:bodyPr vert="horz" lIns="100805" tIns="50402" rIns="100805" bIns="50402" rtlCol="0">
            <a:normAutofit/>
          </a:bodyPr>
          <a:lstStyle/>
          <a:p>
            <a:pPr marL="378013" indent="-378013" defTabSz="1008035">
              <a:spcBef>
                <a:spcPct val="20000"/>
              </a:spcBef>
              <a:defRPr/>
            </a:pPr>
            <a:r>
              <a:rPr lang="en-US" sz="1563" dirty="0">
                <a:solidFill>
                  <a:srgbClr val="0000FF"/>
                </a:solidFill>
                <a:latin typeface="Bookman Old Style" pitchFamily="18" charset="0"/>
              </a:rPr>
              <a:t>F1	  	F2</a:t>
            </a:r>
          </a:p>
          <a:p>
            <a:pPr marL="378013" indent="-378013" defTabSz="1008035">
              <a:spcBef>
                <a:spcPct val="20000"/>
              </a:spcBef>
              <a:defRPr/>
            </a:pPr>
            <a:r>
              <a:rPr lang="en-US" sz="1563" dirty="0">
                <a:solidFill>
                  <a:srgbClr val="0000FF"/>
                </a:solidFill>
                <a:latin typeface="Bookman Old Style" pitchFamily="18" charset="0"/>
              </a:rPr>
              <a:t>30		C</a:t>
            </a:r>
          </a:p>
          <a:p>
            <a:pPr marL="378013" indent="-378013" defTabSz="1008035">
              <a:spcBef>
                <a:spcPct val="20000"/>
              </a:spcBef>
              <a:defRPr/>
            </a:pPr>
            <a:endParaRPr lang="en-US" sz="1563" dirty="0">
              <a:solidFill>
                <a:srgbClr val="0000FF"/>
              </a:solidFill>
              <a:latin typeface="Bookman Old Style" pitchFamily="18" charset="0"/>
            </a:endParaRPr>
          </a:p>
          <a:p>
            <a:pPr marL="378013" indent="-378013" defTabSz="1008035">
              <a:spcBef>
                <a:spcPct val="20000"/>
              </a:spcBef>
              <a:defRPr/>
            </a:pPr>
            <a:endParaRPr lang="en-US" sz="1563" dirty="0">
              <a:solidFill>
                <a:srgbClr val="0000FF"/>
              </a:solidFill>
            </a:endParaRPr>
          </a:p>
        </p:txBody>
      </p:sp>
      <p:sp>
        <p:nvSpPr>
          <p:cNvPr id="11" name="Content Placeholder 1">
            <a:extLst>
              <a:ext uri="{FF2B5EF4-FFF2-40B4-BE49-F238E27FC236}">
                <a16:creationId xmlns:a16="http://schemas.microsoft.com/office/drawing/2014/main" id="{57A33F6F-7F96-72B1-1E04-87907F48ABDD}"/>
              </a:ext>
            </a:extLst>
          </p:cNvPr>
          <p:cNvSpPr txBox="1">
            <a:spLocks/>
          </p:cNvSpPr>
          <p:nvPr/>
        </p:nvSpPr>
        <p:spPr>
          <a:xfrm>
            <a:off x="8224004" y="3836199"/>
            <a:ext cx="2257590" cy="997693"/>
          </a:xfrm>
          <a:prstGeom prst="rect">
            <a:avLst/>
          </a:prstGeom>
          <a:ln w="19050">
            <a:solidFill>
              <a:srgbClr val="C00000"/>
            </a:solidFill>
          </a:ln>
        </p:spPr>
        <p:txBody>
          <a:bodyPr vert="horz" lIns="92436" tIns="46218" rIns="92436" bIns="46218" rtlCol="0">
            <a:normAutofit/>
          </a:bodyPr>
          <a:lstStyle/>
          <a:p>
            <a:pPr>
              <a:lnSpc>
                <a:spcPct val="150000"/>
              </a:lnSpc>
            </a:pPr>
            <a:r>
              <a:rPr lang="en-US" sz="1563" dirty="0">
                <a:solidFill>
                  <a:srgbClr val="C00000"/>
                </a:solidFill>
                <a:latin typeface="Bookman Old Style" pitchFamily="18" charset="0"/>
              </a:rPr>
              <a:t>ID 	NAME</a:t>
            </a:r>
          </a:p>
          <a:p>
            <a:pPr>
              <a:lnSpc>
                <a:spcPct val="150000"/>
              </a:lnSpc>
            </a:pPr>
            <a:r>
              <a:rPr lang="en-US" sz="1563" dirty="0">
                <a:solidFill>
                  <a:srgbClr val="C00000"/>
                </a:solidFill>
                <a:latin typeface="Bookman Old Style" pitchFamily="18" charset="0"/>
              </a:rPr>
              <a:t>30	     C</a:t>
            </a:r>
          </a:p>
          <a:p>
            <a:pPr marL="346633" indent="-346633" defTabSz="924353">
              <a:spcBef>
                <a:spcPct val="20000"/>
              </a:spcBef>
              <a:defRPr/>
            </a:pPr>
            <a:endParaRPr lang="en-US" sz="1563" dirty="0">
              <a:solidFill>
                <a:srgbClr val="C00000"/>
              </a:solidFill>
              <a:latin typeface="Bookman Old Style" pitchFamily="18" charset="0"/>
            </a:endParaRPr>
          </a:p>
        </p:txBody>
      </p:sp>
      <p:sp>
        <p:nvSpPr>
          <p:cNvPr id="2" name="Slide Number Placeholder 1">
            <a:extLst>
              <a:ext uri="{FF2B5EF4-FFF2-40B4-BE49-F238E27FC236}">
                <a16:creationId xmlns:a16="http://schemas.microsoft.com/office/drawing/2014/main" id="{4D92F105-846D-3555-D9D2-88F5F8F53561}"/>
              </a:ext>
            </a:extLst>
          </p:cNvPr>
          <p:cNvSpPr>
            <a:spLocks noGrp="1"/>
          </p:cNvSpPr>
          <p:nvPr>
            <p:ph type="sldNum" sz="quarter" idx="12"/>
          </p:nvPr>
        </p:nvSpPr>
        <p:spPr/>
        <p:txBody>
          <a:bodyPr/>
          <a:lstStyle/>
          <a:p>
            <a:fld id="{30BB16E2-1063-4ECC-B0F4-DD6A8CC0C30D}" type="slidenum">
              <a:rPr lang="en-US" smtClean="0"/>
              <a:pPr/>
              <a:t>39</a:t>
            </a:fld>
            <a:endParaRPr lang="en-US"/>
          </a:p>
        </p:txBody>
      </p:sp>
      <p:sp>
        <p:nvSpPr>
          <p:cNvPr id="6" name="Title 1">
            <a:extLst>
              <a:ext uri="{FF2B5EF4-FFF2-40B4-BE49-F238E27FC236}">
                <a16:creationId xmlns:a16="http://schemas.microsoft.com/office/drawing/2014/main" id="{8D793532-DF0B-2AAF-A2D4-B719B7AF698D}"/>
              </a:ext>
            </a:extLst>
          </p:cNvPr>
          <p:cNvSpPr txBox="1">
            <a:spLocks/>
          </p:cNvSpPr>
          <p:nvPr/>
        </p:nvSpPr>
        <p:spPr>
          <a:xfrm>
            <a:off x="187701" y="0"/>
            <a:ext cx="11880252" cy="7775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735">
                <a:solidFill>
                  <a:srgbClr val="FF0000"/>
                </a:solidFill>
                <a:latin typeface="Copperplate Gothic Light" pitchFamily="34" charset="0"/>
              </a:rPr>
              <a:t>Relational Algebra – Fundamental  Operators and syntax</a:t>
            </a:r>
            <a:endParaRPr lang="en-US" sz="3125" dirty="0">
              <a:solidFill>
                <a:srgbClr val="FF0000"/>
              </a:solidFill>
              <a:latin typeface="Copperplate Gothic Light" pitchFamily="34" charset="0"/>
            </a:endParaRPr>
          </a:p>
        </p:txBody>
      </p:sp>
    </p:spTree>
    <p:extLst>
      <p:ext uri="{BB962C8B-B14F-4D97-AF65-F5344CB8AC3E}">
        <p14:creationId xmlns:p14="http://schemas.microsoft.com/office/powerpoint/2010/main" val="14089970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45C03-364C-D0D5-7C4E-89BB1193CF1F}"/>
              </a:ext>
            </a:extLst>
          </p:cNvPr>
          <p:cNvSpPr>
            <a:spLocks noGrp="1"/>
          </p:cNvSpPr>
          <p:nvPr>
            <p:ph type="title"/>
          </p:nvPr>
        </p:nvSpPr>
        <p:spPr/>
        <p:txBody>
          <a:bodyPr/>
          <a:lstStyle/>
          <a:p>
            <a:r>
              <a:rPr lang="en-IN" dirty="0"/>
              <a:t>Intersection Examples</a:t>
            </a:r>
          </a:p>
        </p:txBody>
      </p:sp>
      <p:sp>
        <p:nvSpPr>
          <p:cNvPr id="3" name="Content Placeholder 2">
            <a:extLst>
              <a:ext uri="{FF2B5EF4-FFF2-40B4-BE49-F238E27FC236}">
                <a16:creationId xmlns:a16="http://schemas.microsoft.com/office/drawing/2014/main" id="{5DB53F7C-91AB-772F-9AB4-1350374C724F}"/>
              </a:ext>
            </a:extLst>
          </p:cNvPr>
          <p:cNvSpPr>
            <a:spLocks noGrp="1"/>
          </p:cNvSpPr>
          <p:nvPr>
            <p:ph idx="1"/>
          </p:nvPr>
        </p:nvSpPr>
        <p:spPr/>
        <p:txBody>
          <a:bodyPr/>
          <a:lstStyle/>
          <a:p>
            <a:r>
              <a:rPr lang="en-IN" dirty="0"/>
              <a:t>Courses offered in both the Fall 2017 and Spring 2018 semesters.</a:t>
            </a:r>
          </a:p>
        </p:txBody>
      </p:sp>
      <p:sp>
        <p:nvSpPr>
          <p:cNvPr id="4" name="Slide Number Placeholder 3">
            <a:extLst>
              <a:ext uri="{FF2B5EF4-FFF2-40B4-BE49-F238E27FC236}">
                <a16:creationId xmlns:a16="http://schemas.microsoft.com/office/drawing/2014/main" id="{999218FB-B49F-189F-543A-1B4574BC8C76}"/>
              </a:ext>
            </a:extLst>
          </p:cNvPr>
          <p:cNvSpPr>
            <a:spLocks noGrp="1"/>
          </p:cNvSpPr>
          <p:nvPr>
            <p:ph type="sldNum" sz="quarter" idx="12"/>
          </p:nvPr>
        </p:nvSpPr>
        <p:spPr/>
        <p:txBody>
          <a:bodyPr/>
          <a:lstStyle/>
          <a:p>
            <a:fld id="{30BB16E2-1063-4ECC-B0F4-DD6A8CC0C30D}" type="slidenum">
              <a:rPr lang="en-US" smtClean="0"/>
              <a:pPr/>
              <a:t>40</a:t>
            </a:fld>
            <a:endParaRPr lang="en-US"/>
          </a:p>
        </p:txBody>
      </p:sp>
      <p:pic>
        <p:nvPicPr>
          <p:cNvPr id="6" name="Picture 5">
            <a:extLst>
              <a:ext uri="{FF2B5EF4-FFF2-40B4-BE49-F238E27FC236}">
                <a16:creationId xmlns:a16="http://schemas.microsoft.com/office/drawing/2014/main" id="{05BE8EFF-0A27-DD01-5928-5B5941044930}"/>
              </a:ext>
            </a:extLst>
          </p:cNvPr>
          <p:cNvPicPr>
            <a:picLocks noChangeAspect="1"/>
          </p:cNvPicPr>
          <p:nvPr/>
        </p:nvPicPr>
        <p:blipFill>
          <a:blip r:embed="rId2"/>
          <a:stretch>
            <a:fillRect/>
          </a:stretch>
        </p:blipFill>
        <p:spPr>
          <a:xfrm>
            <a:off x="4370539" y="4337744"/>
            <a:ext cx="2381582" cy="1571844"/>
          </a:xfrm>
          <a:prstGeom prst="rect">
            <a:avLst/>
          </a:prstGeom>
        </p:spPr>
      </p:pic>
      <p:pic>
        <p:nvPicPr>
          <p:cNvPr id="8" name="Picture 7">
            <a:extLst>
              <a:ext uri="{FF2B5EF4-FFF2-40B4-BE49-F238E27FC236}">
                <a16:creationId xmlns:a16="http://schemas.microsoft.com/office/drawing/2014/main" id="{3715F9A1-0541-8220-3FDF-FBC1DC98F65D}"/>
              </a:ext>
            </a:extLst>
          </p:cNvPr>
          <p:cNvPicPr>
            <a:picLocks noChangeAspect="1"/>
          </p:cNvPicPr>
          <p:nvPr/>
        </p:nvPicPr>
        <p:blipFill>
          <a:blip r:embed="rId3"/>
          <a:stretch>
            <a:fillRect/>
          </a:stretch>
        </p:blipFill>
        <p:spPr>
          <a:xfrm>
            <a:off x="1641090" y="2497728"/>
            <a:ext cx="8909819" cy="1755148"/>
          </a:xfrm>
          <a:prstGeom prst="rect">
            <a:avLst/>
          </a:prstGeom>
        </p:spPr>
      </p:pic>
    </p:spTree>
    <p:extLst>
      <p:ext uri="{BB962C8B-B14F-4D97-AF65-F5344CB8AC3E}">
        <p14:creationId xmlns:p14="http://schemas.microsoft.com/office/powerpoint/2010/main" val="21269546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500" y="707798"/>
            <a:ext cx="10759874" cy="5348594"/>
          </a:xfrm>
        </p:spPr>
        <p:txBody>
          <a:bodyPr/>
          <a:lstStyle/>
          <a:p>
            <a:pPr>
              <a:buNone/>
            </a:pPr>
            <a:r>
              <a:rPr lang="en-US" sz="2344" b="1" dirty="0">
                <a:solidFill>
                  <a:srgbClr val="C00000"/>
                </a:solidFill>
                <a:latin typeface="Copperplate Gothic Light" pitchFamily="34" charset="0"/>
              </a:rPr>
              <a:t>Set Difference  (−)</a:t>
            </a:r>
          </a:p>
          <a:p>
            <a:pPr>
              <a:buNone/>
            </a:pPr>
            <a:r>
              <a:rPr lang="en-US" sz="2344" dirty="0">
                <a:solidFill>
                  <a:srgbClr val="213AF1"/>
                </a:solidFill>
                <a:latin typeface="Bookman Old Style" pitchFamily="18" charset="0"/>
              </a:rPr>
              <a:t>	The result of set difference operation is tuples, which are present in one relation but are not in the second relation.</a:t>
            </a:r>
          </a:p>
          <a:p>
            <a:pPr>
              <a:buNone/>
            </a:pPr>
            <a:r>
              <a:rPr lang="en-US" sz="2344" dirty="0">
                <a:solidFill>
                  <a:srgbClr val="C00000"/>
                </a:solidFill>
                <a:latin typeface="Copperplate Gothic Light" pitchFamily="34" charset="0"/>
              </a:rPr>
              <a:t>Notation</a:t>
            </a:r>
            <a:r>
              <a:rPr lang="en-US" sz="2344" dirty="0">
                <a:solidFill>
                  <a:srgbClr val="C00000"/>
                </a:solidFill>
              </a:rPr>
              <a:t> : </a:t>
            </a:r>
            <a:r>
              <a:rPr lang="en-US" sz="2344" dirty="0">
                <a:solidFill>
                  <a:srgbClr val="213AF1"/>
                </a:solidFill>
                <a:latin typeface="Bookman Old Style" pitchFamily="18" charset="0"/>
              </a:rPr>
              <a:t>r − s</a:t>
            </a:r>
          </a:p>
          <a:p>
            <a:pPr>
              <a:buNone/>
            </a:pPr>
            <a:r>
              <a:rPr lang="en-US" sz="2344" dirty="0">
                <a:solidFill>
                  <a:srgbClr val="C00000"/>
                </a:solidFill>
                <a:latin typeface="Copperplate Gothic Light" pitchFamily="34" charset="0"/>
              </a:rPr>
              <a:t>Example : </a:t>
            </a:r>
            <a:r>
              <a:rPr lang="en-US" sz="2344" dirty="0">
                <a:solidFill>
                  <a:srgbClr val="213AF1"/>
                </a:solidFill>
                <a:latin typeface="Bookman Old Style" pitchFamily="18" charset="0"/>
              </a:rPr>
              <a:t>Consider the following tables</a:t>
            </a:r>
          </a:p>
          <a:p>
            <a:pPr>
              <a:buNone/>
            </a:pPr>
            <a:endParaRPr lang="en-US" dirty="0"/>
          </a:p>
        </p:txBody>
      </p:sp>
      <p:sp>
        <p:nvSpPr>
          <p:cNvPr id="8" name="Content Placeholder 1"/>
          <p:cNvSpPr txBox="1">
            <a:spLocks/>
          </p:cNvSpPr>
          <p:nvPr/>
        </p:nvSpPr>
        <p:spPr>
          <a:xfrm>
            <a:off x="583823" y="3010353"/>
            <a:ext cx="2187816" cy="2023458"/>
          </a:xfrm>
          <a:prstGeom prst="rect">
            <a:avLst/>
          </a:prstGeom>
          <a:ln w="19050">
            <a:solidFill>
              <a:srgbClr val="0000FF"/>
            </a:solidFill>
          </a:ln>
        </p:spPr>
        <p:txBody>
          <a:bodyPr vert="horz" lIns="100805" tIns="50402" rIns="100805" bIns="50402" rtlCol="0">
            <a:normAutofit/>
          </a:bodyPr>
          <a:lstStyle/>
          <a:p>
            <a:pPr marL="378013" indent="-378013" defTabSz="1008035">
              <a:spcBef>
                <a:spcPct val="20000"/>
              </a:spcBef>
              <a:defRPr/>
            </a:pPr>
            <a:r>
              <a:rPr lang="en-US" sz="1563" dirty="0">
                <a:solidFill>
                  <a:srgbClr val="0000FF"/>
                </a:solidFill>
                <a:latin typeface="Copperplate Gothic Light" pitchFamily="34" charset="0"/>
              </a:rPr>
              <a:t>Records in table a</a:t>
            </a:r>
          </a:p>
          <a:p>
            <a:pPr marL="378013" indent="-378013" defTabSz="1008035">
              <a:spcBef>
                <a:spcPct val="20000"/>
              </a:spcBef>
              <a:defRPr/>
            </a:pPr>
            <a:r>
              <a:rPr lang="en-US" sz="1563" dirty="0" err="1">
                <a:solidFill>
                  <a:srgbClr val="0000FF"/>
                </a:solidFill>
                <a:latin typeface="Bookman Old Style" pitchFamily="18" charset="0"/>
              </a:rPr>
              <a:t>Sql</a:t>
            </a:r>
            <a:r>
              <a:rPr lang="en-US" sz="1563" dirty="0">
                <a:solidFill>
                  <a:srgbClr val="0000FF"/>
                </a:solidFill>
                <a:latin typeface="Bookman Old Style" pitchFamily="18" charset="0"/>
              </a:rPr>
              <a:t> &gt; Select * from a</a:t>
            </a:r>
          </a:p>
          <a:p>
            <a:pPr marL="378013" indent="-378013" defTabSz="1008035">
              <a:spcBef>
                <a:spcPct val="20000"/>
              </a:spcBef>
              <a:defRPr/>
            </a:pPr>
            <a:r>
              <a:rPr lang="en-US" sz="1563" dirty="0">
                <a:solidFill>
                  <a:srgbClr val="0000FF"/>
                </a:solidFill>
                <a:latin typeface="Bookman Old Style" pitchFamily="18" charset="0"/>
              </a:rPr>
              <a:t>F1	  	F2</a:t>
            </a:r>
          </a:p>
          <a:p>
            <a:pPr marL="378013" indent="-378013" defTabSz="1008035">
              <a:spcBef>
                <a:spcPct val="20000"/>
              </a:spcBef>
              <a:defRPr/>
            </a:pPr>
            <a:r>
              <a:rPr lang="en-US" sz="1563" dirty="0">
                <a:solidFill>
                  <a:srgbClr val="0000FF"/>
                </a:solidFill>
                <a:latin typeface="Bookman Old Style" pitchFamily="18" charset="0"/>
              </a:rPr>
              <a:t>30		C</a:t>
            </a:r>
          </a:p>
          <a:p>
            <a:pPr marL="378013" indent="-378013" defTabSz="1008035">
              <a:spcBef>
                <a:spcPct val="20000"/>
              </a:spcBef>
              <a:defRPr/>
            </a:pPr>
            <a:r>
              <a:rPr lang="en-US" sz="1563" dirty="0">
                <a:solidFill>
                  <a:srgbClr val="0000FF"/>
                </a:solidFill>
                <a:latin typeface="Bookman Old Style" pitchFamily="18" charset="0"/>
              </a:rPr>
              <a:t>10		A</a:t>
            </a:r>
          </a:p>
          <a:p>
            <a:pPr marL="378013" indent="-378013" defTabSz="1008035">
              <a:spcBef>
                <a:spcPct val="20000"/>
              </a:spcBef>
              <a:defRPr/>
            </a:pPr>
            <a:r>
              <a:rPr lang="en-US" sz="1563" dirty="0">
                <a:solidFill>
                  <a:srgbClr val="0000FF"/>
                </a:solidFill>
                <a:latin typeface="Bookman Old Style" pitchFamily="18" charset="0"/>
              </a:rPr>
              <a:t>20		B</a:t>
            </a:r>
          </a:p>
          <a:p>
            <a:pPr marL="378013" indent="-378013" defTabSz="1008035">
              <a:spcBef>
                <a:spcPct val="20000"/>
              </a:spcBef>
              <a:defRPr/>
            </a:pPr>
            <a:endParaRPr lang="en-US" sz="1563" dirty="0">
              <a:solidFill>
                <a:srgbClr val="0000FF"/>
              </a:solidFill>
            </a:endParaRPr>
          </a:p>
        </p:txBody>
      </p:sp>
      <p:sp>
        <p:nvSpPr>
          <p:cNvPr id="9" name="Content Placeholder 1"/>
          <p:cNvSpPr txBox="1">
            <a:spLocks/>
          </p:cNvSpPr>
          <p:nvPr/>
        </p:nvSpPr>
        <p:spPr>
          <a:xfrm>
            <a:off x="3165476" y="3010353"/>
            <a:ext cx="2187816" cy="2023458"/>
          </a:xfrm>
          <a:prstGeom prst="rect">
            <a:avLst/>
          </a:prstGeom>
          <a:ln w="19050">
            <a:solidFill>
              <a:srgbClr val="C00000"/>
            </a:solidFill>
          </a:ln>
        </p:spPr>
        <p:txBody>
          <a:bodyPr vert="horz" lIns="92436" tIns="46218" rIns="92436" bIns="46218" rtlCol="0">
            <a:normAutofit fontScale="92500"/>
          </a:bodyPr>
          <a:lstStyle/>
          <a:p>
            <a:pPr marL="346633" indent="-346633" defTabSz="924353">
              <a:spcBef>
                <a:spcPct val="20000"/>
              </a:spcBef>
              <a:defRPr/>
            </a:pPr>
            <a:r>
              <a:rPr lang="en-US" sz="1563" dirty="0">
                <a:solidFill>
                  <a:srgbClr val="C00000"/>
                </a:solidFill>
                <a:latin typeface="Copperplate Gothic Light" pitchFamily="34" charset="0"/>
              </a:rPr>
              <a:t>Records in table b</a:t>
            </a:r>
          </a:p>
          <a:p>
            <a:pPr marL="346633" indent="-346633" defTabSz="924353">
              <a:spcBef>
                <a:spcPct val="20000"/>
              </a:spcBef>
              <a:defRPr/>
            </a:pPr>
            <a:r>
              <a:rPr lang="en-US" sz="1563" dirty="0" err="1">
                <a:solidFill>
                  <a:srgbClr val="C00000"/>
                </a:solidFill>
                <a:latin typeface="Bookman Old Style" pitchFamily="18" charset="0"/>
              </a:rPr>
              <a:t>Sql</a:t>
            </a:r>
            <a:r>
              <a:rPr lang="en-US" sz="1563" dirty="0">
                <a:solidFill>
                  <a:srgbClr val="C00000"/>
                </a:solidFill>
                <a:latin typeface="Bookman Old Style" pitchFamily="18" charset="0"/>
              </a:rPr>
              <a:t> &gt; Select * from b;</a:t>
            </a:r>
          </a:p>
          <a:p>
            <a:pPr>
              <a:lnSpc>
                <a:spcPct val="150000"/>
              </a:lnSpc>
            </a:pPr>
            <a:r>
              <a:rPr lang="en-US" sz="1563" dirty="0">
                <a:solidFill>
                  <a:srgbClr val="C00000"/>
                </a:solidFill>
                <a:latin typeface="Bookman Old Style" pitchFamily="18" charset="0"/>
              </a:rPr>
              <a:t>ID 	NAME</a:t>
            </a:r>
          </a:p>
          <a:p>
            <a:pPr>
              <a:lnSpc>
                <a:spcPct val="150000"/>
              </a:lnSpc>
            </a:pPr>
            <a:r>
              <a:rPr lang="en-US" sz="1563" dirty="0">
                <a:solidFill>
                  <a:srgbClr val="C00000"/>
                </a:solidFill>
                <a:latin typeface="Bookman Old Style" pitchFamily="18" charset="0"/>
              </a:rPr>
              <a:t>30	C</a:t>
            </a:r>
          </a:p>
          <a:p>
            <a:pPr>
              <a:lnSpc>
                <a:spcPct val="150000"/>
              </a:lnSpc>
            </a:pPr>
            <a:r>
              <a:rPr lang="en-US" sz="1563" dirty="0">
                <a:solidFill>
                  <a:srgbClr val="C00000"/>
                </a:solidFill>
                <a:latin typeface="Bookman Old Style" pitchFamily="18" charset="0"/>
              </a:rPr>
              <a:t>40	D</a:t>
            </a:r>
          </a:p>
          <a:p>
            <a:pPr>
              <a:lnSpc>
                <a:spcPct val="150000"/>
              </a:lnSpc>
            </a:pPr>
            <a:r>
              <a:rPr lang="en-US" sz="1563" dirty="0">
                <a:solidFill>
                  <a:srgbClr val="C00000"/>
                </a:solidFill>
                <a:latin typeface="Bookman Old Style" pitchFamily="18" charset="0"/>
              </a:rPr>
              <a:t>50	E</a:t>
            </a:r>
          </a:p>
          <a:p>
            <a:pPr marL="346633" indent="-346633" defTabSz="924353">
              <a:spcBef>
                <a:spcPct val="20000"/>
              </a:spcBef>
              <a:defRPr/>
            </a:pPr>
            <a:endParaRPr lang="en-US" sz="1563" dirty="0">
              <a:solidFill>
                <a:srgbClr val="C00000"/>
              </a:solidFill>
              <a:latin typeface="Bookman Old Style" pitchFamily="18" charset="0"/>
            </a:endParaRPr>
          </a:p>
        </p:txBody>
      </p:sp>
      <p:sp>
        <p:nvSpPr>
          <p:cNvPr id="10" name="Rectangle 9"/>
          <p:cNvSpPr/>
          <p:nvPr/>
        </p:nvSpPr>
        <p:spPr>
          <a:xfrm>
            <a:off x="6444872" y="2940579"/>
            <a:ext cx="1766830" cy="362856"/>
          </a:xfrm>
          <a:prstGeom prst="rect">
            <a:avLst/>
          </a:prstGeom>
        </p:spPr>
        <p:txBody>
          <a:bodyPr wrap="none">
            <a:spAutoFit/>
          </a:bodyPr>
          <a:lstStyle/>
          <a:p>
            <a:pPr>
              <a:buNone/>
            </a:pPr>
            <a:r>
              <a:rPr lang="en-US" sz="1758" dirty="0">
                <a:solidFill>
                  <a:srgbClr val="213AF1"/>
                </a:solidFill>
                <a:latin typeface="Bookman Old Style" pitchFamily="18" charset="0"/>
              </a:rPr>
              <a:t>Example : A-B</a:t>
            </a:r>
          </a:p>
        </p:txBody>
      </p:sp>
      <p:sp>
        <p:nvSpPr>
          <p:cNvPr id="11" name="Content Placeholder 1"/>
          <p:cNvSpPr txBox="1">
            <a:spLocks/>
          </p:cNvSpPr>
          <p:nvPr/>
        </p:nvSpPr>
        <p:spPr>
          <a:xfrm>
            <a:off x="8607879" y="2591707"/>
            <a:ext cx="2187816" cy="1255939"/>
          </a:xfrm>
          <a:prstGeom prst="rect">
            <a:avLst/>
          </a:prstGeom>
          <a:ln w="19050">
            <a:solidFill>
              <a:srgbClr val="0000FF"/>
            </a:solidFill>
          </a:ln>
        </p:spPr>
        <p:txBody>
          <a:bodyPr vert="horz" lIns="100805" tIns="50402" rIns="100805" bIns="50402" rtlCol="0">
            <a:normAutofit/>
          </a:bodyPr>
          <a:lstStyle/>
          <a:p>
            <a:pPr marL="378013" indent="-378013" defTabSz="1008035">
              <a:spcBef>
                <a:spcPct val="20000"/>
              </a:spcBef>
              <a:defRPr/>
            </a:pPr>
            <a:r>
              <a:rPr lang="en-US" sz="1563" dirty="0">
                <a:solidFill>
                  <a:srgbClr val="0000FF"/>
                </a:solidFill>
                <a:latin typeface="Bookman Old Style" pitchFamily="18" charset="0"/>
              </a:rPr>
              <a:t>F1	  	F2</a:t>
            </a:r>
          </a:p>
          <a:p>
            <a:pPr marL="378013" indent="-378013" defTabSz="1008035">
              <a:spcBef>
                <a:spcPct val="20000"/>
              </a:spcBef>
              <a:defRPr/>
            </a:pPr>
            <a:r>
              <a:rPr lang="en-US" sz="1563" dirty="0">
                <a:solidFill>
                  <a:srgbClr val="0000FF"/>
                </a:solidFill>
                <a:latin typeface="Bookman Old Style" pitchFamily="18" charset="0"/>
              </a:rPr>
              <a:t>10		 A</a:t>
            </a:r>
          </a:p>
          <a:p>
            <a:pPr marL="378013" indent="-378013" defTabSz="1008035">
              <a:spcBef>
                <a:spcPct val="20000"/>
              </a:spcBef>
              <a:buFont typeface="Arial" pitchFamily="34" charset="0"/>
              <a:buAutoNum type="arabicPlain" startAt="20"/>
              <a:defRPr/>
            </a:pPr>
            <a:r>
              <a:rPr lang="en-US" sz="1563" dirty="0">
                <a:solidFill>
                  <a:srgbClr val="0000FF"/>
                </a:solidFill>
                <a:latin typeface="Bookman Old Style" pitchFamily="18" charset="0"/>
              </a:rPr>
              <a:t>           B</a:t>
            </a:r>
          </a:p>
          <a:p>
            <a:pPr marL="378013" indent="-378013" defTabSz="1008035">
              <a:spcBef>
                <a:spcPct val="20000"/>
              </a:spcBef>
              <a:defRPr/>
            </a:pPr>
            <a:endParaRPr lang="en-US" sz="1563" dirty="0">
              <a:solidFill>
                <a:srgbClr val="0000FF"/>
              </a:solidFill>
            </a:endParaRPr>
          </a:p>
        </p:txBody>
      </p:sp>
      <p:sp>
        <p:nvSpPr>
          <p:cNvPr id="12" name="Rectangle 11"/>
          <p:cNvSpPr/>
          <p:nvPr/>
        </p:nvSpPr>
        <p:spPr>
          <a:xfrm>
            <a:off x="6444872" y="4754714"/>
            <a:ext cx="1766830" cy="362856"/>
          </a:xfrm>
          <a:prstGeom prst="rect">
            <a:avLst/>
          </a:prstGeom>
        </p:spPr>
        <p:txBody>
          <a:bodyPr wrap="none">
            <a:spAutoFit/>
          </a:bodyPr>
          <a:lstStyle/>
          <a:p>
            <a:r>
              <a:rPr lang="en-US" sz="1758" dirty="0">
                <a:solidFill>
                  <a:srgbClr val="C00000"/>
                </a:solidFill>
                <a:latin typeface="Bookman Old Style" pitchFamily="18" charset="0"/>
              </a:rPr>
              <a:t>Example : B-A</a:t>
            </a:r>
            <a:endParaRPr lang="en-US" sz="1758" dirty="0"/>
          </a:p>
        </p:txBody>
      </p:sp>
      <p:sp>
        <p:nvSpPr>
          <p:cNvPr id="13" name="Content Placeholder 1"/>
          <p:cNvSpPr txBox="1">
            <a:spLocks/>
          </p:cNvSpPr>
          <p:nvPr/>
        </p:nvSpPr>
        <p:spPr>
          <a:xfrm>
            <a:off x="8607879" y="4336067"/>
            <a:ext cx="2257590" cy="1255939"/>
          </a:xfrm>
          <a:prstGeom prst="rect">
            <a:avLst/>
          </a:prstGeom>
          <a:ln w="19050">
            <a:solidFill>
              <a:srgbClr val="C00000"/>
            </a:solidFill>
          </a:ln>
        </p:spPr>
        <p:txBody>
          <a:bodyPr vert="horz" lIns="92436" tIns="46218" rIns="92436" bIns="46218" rtlCol="0">
            <a:normAutofit/>
          </a:bodyPr>
          <a:lstStyle/>
          <a:p>
            <a:pPr>
              <a:lnSpc>
                <a:spcPct val="150000"/>
              </a:lnSpc>
            </a:pPr>
            <a:r>
              <a:rPr lang="en-US" sz="1563" dirty="0">
                <a:solidFill>
                  <a:srgbClr val="C00000"/>
                </a:solidFill>
                <a:latin typeface="Bookman Old Style" pitchFamily="18" charset="0"/>
              </a:rPr>
              <a:t>ID 	NAME</a:t>
            </a:r>
          </a:p>
          <a:p>
            <a:pPr>
              <a:lnSpc>
                <a:spcPct val="150000"/>
              </a:lnSpc>
            </a:pPr>
            <a:r>
              <a:rPr lang="en-US" sz="1563" dirty="0">
                <a:solidFill>
                  <a:srgbClr val="C00000"/>
                </a:solidFill>
                <a:latin typeface="Bookman Old Style" pitchFamily="18" charset="0"/>
              </a:rPr>
              <a:t>40	       D    </a:t>
            </a:r>
          </a:p>
          <a:p>
            <a:pPr>
              <a:lnSpc>
                <a:spcPct val="150000"/>
              </a:lnSpc>
            </a:pPr>
            <a:r>
              <a:rPr lang="en-US" sz="1563" dirty="0">
                <a:solidFill>
                  <a:srgbClr val="C00000"/>
                </a:solidFill>
                <a:latin typeface="Bookman Old Style" pitchFamily="18" charset="0"/>
              </a:rPr>
              <a:t>50	       E</a:t>
            </a:r>
          </a:p>
          <a:p>
            <a:pPr marL="346633" indent="-346633" defTabSz="924353">
              <a:spcBef>
                <a:spcPct val="20000"/>
              </a:spcBef>
              <a:defRPr/>
            </a:pPr>
            <a:endParaRPr lang="en-US" sz="1563" dirty="0">
              <a:solidFill>
                <a:srgbClr val="C00000"/>
              </a:solidFill>
              <a:latin typeface="Bookman Old Style" pitchFamily="18" charset="0"/>
            </a:endParaRPr>
          </a:p>
        </p:txBody>
      </p:sp>
      <p:sp>
        <p:nvSpPr>
          <p:cNvPr id="2" name="Slide Number Placeholder 1">
            <a:extLst>
              <a:ext uri="{FF2B5EF4-FFF2-40B4-BE49-F238E27FC236}">
                <a16:creationId xmlns:a16="http://schemas.microsoft.com/office/drawing/2014/main" id="{322A7C09-DB1A-8427-9C77-9005D446CD09}"/>
              </a:ext>
            </a:extLst>
          </p:cNvPr>
          <p:cNvSpPr>
            <a:spLocks noGrp="1"/>
          </p:cNvSpPr>
          <p:nvPr>
            <p:ph type="sldNum" sz="quarter" idx="12"/>
          </p:nvPr>
        </p:nvSpPr>
        <p:spPr/>
        <p:txBody>
          <a:bodyPr/>
          <a:lstStyle/>
          <a:p>
            <a:fld id="{30BB16E2-1063-4ECC-B0F4-DD6A8CC0C30D}" type="slidenum">
              <a:rPr lang="en-US" smtClean="0"/>
              <a:pPr/>
              <a:t>41</a:t>
            </a:fld>
            <a:endParaRPr lang="en-US"/>
          </a:p>
        </p:txBody>
      </p:sp>
      <p:sp>
        <p:nvSpPr>
          <p:cNvPr id="6" name="Title 1">
            <a:extLst>
              <a:ext uri="{FF2B5EF4-FFF2-40B4-BE49-F238E27FC236}">
                <a16:creationId xmlns:a16="http://schemas.microsoft.com/office/drawing/2014/main" id="{64D824AD-C26B-237A-A3EB-CDFC797A394E}"/>
              </a:ext>
            </a:extLst>
          </p:cNvPr>
          <p:cNvSpPr txBox="1">
            <a:spLocks/>
          </p:cNvSpPr>
          <p:nvPr/>
        </p:nvSpPr>
        <p:spPr>
          <a:xfrm>
            <a:off x="187701" y="0"/>
            <a:ext cx="11880252" cy="7775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735">
                <a:solidFill>
                  <a:srgbClr val="FF0000"/>
                </a:solidFill>
                <a:latin typeface="Copperplate Gothic Light" pitchFamily="34" charset="0"/>
              </a:rPr>
              <a:t>Relational Algebra – Fundamental  Operators and syntax</a:t>
            </a:r>
            <a:endParaRPr lang="en-US" sz="3125" dirty="0">
              <a:solidFill>
                <a:srgbClr val="FF0000"/>
              </a:solidFill>
              <a:latin typeface="Copperplate Gothic Light"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7D454-E5B8-EEF2-3859-009E81ED3757}"/>
              </a:ext>
            </a:extLst>
          </p:cNvPr>
          <p:cNvSpPr>
            <a:spLocks noGrp="1"/>
          </p:cNvSpPr>
          <p:nvPr>
            <p:ph type="title"/>
          </p:nvPr>
        </p:nvSpPr>
        <p:spPr/>
        <p:txBody>
          <a:bodyPr/>
          <a:lstStyle/>
          <a:p>
            <a:r>
              <a:rPr lang="en-IN" dirty="0"/>
              <a:t>Set Difference Example</a:t>
            </a:r>
          </a:p>
        </p:txBody>
      </p:sp>
      <p:sp>
        <p:nvSpPr>
          <p:cNvPr id="3" name="Content Placeholder 2">
            <a:extLst>
              <a:ext uri="{FF2B5EF4-FFF2-40B4-BE49-F238E27FC236}">
                <a16:creationId xmlns:a16="http://schemas.microsoft.com/office/drawing/2014/main" id="{14E51618-698D-32EB-5BE5-BBD3D8102AB8}"/>
              </a:ext>
            </a:extLst>
          </p:cNvPr>
          <p:cNvSpPr>
            <a:spLocks noGrp="1"/>
          </p:cNvSpPr>
          <p:nvPr>
            <p:ph idx="1"/>
          </p:nvPr>
        </p:nvSpPr>
        <p:spPr/>
        <p:txBody>
          <a:bodyPr/>
          <a:lstStyle/>
          <a:p>
            <a:r>
              <a:rPr lang="en-US" dirty="0"/>
              <a:t>Find all the courses taught in the Fall 2017 semester but not in Spring 2018 semester</a:t>
            </a:r>
            <a:endParaRPr lang="en-IN" dirty="0"/>
          </a:p>
        </p:txBody>
      </p:sp>
      <p:sp>
        <p:nvSpPr>
          <p:cNvPr id="4" name="Slide Number Placeholder 3">
            <a:extLst>
              <a:ext uri="{FF2B5EF4-FFF2-40B4-BE49-F238E27FC236}">
                <a16:creationId xmlns:a16="http://schemas.microsoft.com/office/drawing/2014/main" id="{6130FD6D-4228-2541-565C-A5BD5FE21C2C}"/>
              </a:ext>
            </a:extLst>
          </p:cNvPr>
          <p:cNvSpPr>
            <a:spLocks noGrp="1"/>
          </p:cNvSpPr>
          <p:nvPr>
            <p:ph type="sldNum" sz="quarter" idx="12"/>
          </p:nvPr>
        </p:nvSpPr>
        <p:spPr/>
        <p:txBody>
          <a:bodyPr/>
          <a:lstStyle/>
          <a:p>
            <a:fld id="{30BB16E2-1063-4ECC-B0F4-DD6A8CC0C30D}" type="slidenum">
              <a:rPr lang="en-US" smtClean="0"/>
              <a:pPr/>
              <a:t>42</a:t>
            </a:fld>
            <a:endParaRPr lang="en-US"/>
          </a:p>
        </p:txBody>
      </p:sp>
      <p:pic>
        <p:nvPicPr>
          <p:cNvPr id="6" name="Picture 5">
            <a:extLst>
              <a:ext uri="{FF2B5EF4-FFF2-40B4-BE49-F238E27FC236}">
                <a16:creationId xmlns:a16="http://schemas.microsoft.com/office/drawing/2014/main" id="{5C4C9D61-FAD3-703C-813A-A02D4F926721}"/>
              </a:ext>
            </a:extLst>
          </p:cNvPr>
          <p:cNvPicPr>
            <a:picLocks noChangeAspect="1"/>
          </p:cNvPicPr>
          <p:nvPr/>
        </p:nvPicPr>
        <p:blipFill>
          <a:blip r:embed="rId2"/>
          <a:stretch>
            <a:fillRect/>
          </a:stretch>
        </p:blipFill>
        <p:spPr>
          <a:xfrm>
            <a:off x="2647468" y="2809788"/>
            <a:ext cx="6897063" cy="1238423"/>
          </a:xfrm>
          <a:prstGeom prst="rect">
            <a:avLst/>
          </a:prstGeom>
        </p:spPr>
      </p:pic>
      <p:pic>
        <p:nvPicPr>
          <p:cNvPr id="8" name="Picture 7">
            <a:extLst>
              <a:ext uri="{FF2B5EF4-FFF2-40B4-BE49-F238E27FC236}">
                <a16:creationId xmlns:a16="http://schemas.microsoft.com/office/drawing/2014/main" id="{C25C2E2E-5947-8700-1D29-53AB7BD38971}"/>
              </a:ext>
            </a:extLst>
          </p:cNvPr>
          <p:cNvPicPr>
            <a:picLocks noChangeAspect="1"/>
          </p:cNvPicPr>
          <p:nvPr/>
        </p:nvPicPr>
        <p:blipFill>
          <a:blip r:embed="rId3"/>
          <a:stretch>
            <a:fillRect/>
          </a:stretch>
        </p:blipFill>
        <p:spPr>
          <a:xfrm>
            <a:off x="4295142" y="4349476"/>
            <a:ext cx="2524477" cy="1962424"/>
          </a:xfrm>
          <a:prstGeom prst="rect">
            <a:avLst/>
          </a:prstGeom>
        </p:spPr>
      </p:pic>
    </p:spTree>
    <p:extLst>
      <p:ext uri="{BB962C8B-B14F-4D97-AF65-F5344CB8AC3E}">
        <p14:creationId xmlns:p14="http://schemas.microsoft.com/office/powerpoint/2010/main" val="37938615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274" y="568250"/>
            <a:ext cx="10969197" cy="5791275"/>
          </a:xfrm>
        </p:spPr>
        <p:txBody>
          <a:bodyPr/>
          <a:lstStyle/>
          <a:p>
            <a:pPr>
              <a:buNone/>
            </a:pPr>
            <a:endParaRPr lang="en-US" sz="2344" dirty="0">
              <a:solidFill>
                <a:srgbClr val="C00000"/>
              </a:solidFill>
              <a:latin typeface="Copperplate Gothic Light" pitchFamily="34" charset="0"/>
            </a:endParaRPr>
          </a:p>
          <a:p>
            <a:pPr>
              <a:buNone/>
            </a:pPr>
            <a:r>
              <a:rPr lang="en-US" sz="2344" b="1" dirty="0">
                <a:solidFill>
                  <a:srgbClr val="C00000"/>
                </a:solidFill>
                <a:latin typeface="Copperplate Gothic Light" pitchFamily="34" charset="0"/>
              </a:rPr>
              <a:t>Cartesian Product (</a:t>
            </a:r>
            <a:r>
              <a:rPr lang="el-GR" sz="2344" b="1" dirty="0">
                <a:solidFill>
                  <a:srgbClr val="C00000"/>
                </a:solidFill>
              </a:rPr>
              <a:t>Χ)</a:t>
            </a:r>
          </a:p>
          <a:p>
            <a:pPr>
              <a:buClr>
                <a:srgbClr val="C00000"/>
              </a:buClr>
              <a:buFont typeface="Wingdings" pitchFamily="2" charset="2"/>
              <a:buChar char="ü"/>
            </a:pPr>
            <a:r>
              <a:rPr lang="en-US" sz="2246" dirty="0">
                <a:solidFill>
                  <a:srgbClr val="213AF1"/>
                </a:solidFill>
                <a:latin typeface="Bookman Old Style" pitchFamily="18" charset="0"/>
              </a:rPr>
              <a:t>Combines information of two different relations into one.</a:t>
            </a:r>
          </a:p>
          <a:p>
            <a:pPr>
              <a:buClr>
                <a:srgbClr val="C00000"/>
              </a:buClr>
              <a:buFont typeface="Wingdings" pitchFamily="2" charset="2"/>
              <a:buChar char="ü"/>
            </a:pPr>
            <a:r>
              <a:rPr lang="en-US" sz="2246" dirty="0">
                <a:solidFill>
                  <a:srgbClr val="213AF1"/>
                </a:solidFill>
                <a:latin typeface="Bookman Old Style" pitchFamily="18" charset="0"/>
              </a:rPr>
              <a:t>For each and every record in the first query , all the records will be executed in the second query</a:t>
            </a:r>
          </a:p>
          <a:p>
            <a:pPr>
              <a:buClr>
                <a:srgbClr val="C00000"/>
              </a:buClr>
              <a:buNone/>
            </a:pPr>
            <a:r>
              <a:rPr lang="en-US" sz="2246" dirty="0">
                <a:solidFill>
                  <a:srgbClr val="C00000"/>
                </a:solidFill>
                <a:latin typeface="Copperplate Gothic Light" pitchFamily="34" charset="0"/>
              </a:rPr>
              <a:t>Notation : </a:t>
            </a:r>
            <a:r>
              <a:rPr lang="en-US" sz="2246" dirty="0"/>
              <a:t> </a:t>
            </a:r>
            <a:r>
              <a:rPr lang="en-US" sz="2246" dirty="0">
                <a:solidFill>
                  <a:srgbClr val="213AF1"/>
                </a:solidFill>
                <a:latin typeface="Bookman Old Style" pitchFamily="18" charset="0"/>
              </a:rPr>
              <a:t>r </a:t>
            </a:r>
            <a:r>
              <a:rPr lang="el-GR" sz="2246" dirty="0">
                <a:solidFill>
                  <a:srgbClr val="213AF1"/>
                </a:solidFill>
                <a:latin typeface="Bookman Old Style" pitchFamily="18" charset="0"/>
              </a:rPr>
              <a:t>Χ </a:t>
            </a:r>
            <a:r>
              <a:rPr lang="en-US" sz="2246" dirty="0">
                <a:solidFill>
                  <a:srgbClr val="213AF1"/>
                </a:solidFill>
                <a:latin typeface="Bookman Old Style" pitchFamily="18" charset="0"/>
              </a:rPr>
              <a:t>s</a:t>
            </a:r>
          </a:p>
          <a:p>
            <a:pPr>
              <a:buClr>
                <a:srgbClr val="C00000"/>
              </a:buClr>
              <a:buFont typeface="Wingdings" pitchFamily="2" charset="2"/>
              <a:buChar char="ü"/>
            </a:pPr>
            <a:r>
              <a:rPr lang="en-US" sz="2246" dirty="0">
                <a:solidFill>
                  <a:srgbClr val="213AF1"/>
                </a:solidFill>
                <a:latin typeface="Bookman Old Style" pitchFamily="18" charset="0"/>
              </a:rPr>
              <a:t>Where r and s are relations and their output will be defined as : </a:t>
            </a:r>
          </a:p>
          <a:p>
            <a:pPr>
              <a:buClr>
                <a:srgbClr val="C00000"/>
              </a:buClr>
              <a:buNone/>
            </a:pPr>
            <a:r>
              <a:rPr lang="en-US" sz="2246" dirty="0">
                <a:solidFill>
                  <a:srgbClr val="213AF1"/>
                </a:solidFill>
                <a:latin typeface="Bookman Old Style" pitchFamily="18" charset="0"/>
              </a:rPr>
              <a:t>		r Χ s = { q t | q ∈ r and t ∈ s}</a:t>
            </a:r>
          </a:p>
          <a:p>
            <a:pPr>
              <a:buClr>
                <a:srgbClr val="C00000"/>
              </a:buClr>
              <a:buNone/>
            </a:pPr>
            <a:r>
              <a:rPr lang="en-US" sz="2246" dirty="0">
                <a:solidFill>
                  <a:srgbClr val="C00000"/>
                </a:solidFill>
                <a:latin typeface="Copperplate Gothic Light" pitchFamily="34" charset="0"/>
              </a:rPr>
              <a:t>Example : </a:t>
            </a:r>
            <a:r>
              <a:rPr lang="en-US" sz="2246" dirty="0">
                <a:solidFill>
                  <a:srgbClr val="213AF1"/>
                </a:solidFill>
                <a:latin typeface="Bookman Old Style" pitchFamily="18" charset="0"/>
              </a:rPr>
              <a:t>Consider the following tables</a:t>
            </a:r>
          </a:p>
          <a:p>
            <a:pPr>
              <a:buClr>
                <a:srgbClr val="C00000"/>
              </a:buClr>
              <a:buNone/>
            </a:pPr>
            <a:r>
              <a:rPr lang="en-US" sz="2344" dirty="0">
                <a:solidFill>
                  <a:srgbClr val="213AF1"/>
                </a:solidFill>
                <a:latin typeface="Bookman Old Style" pitchFamily="18" charset="0"/>
              </a:rPr>
              <a:t>							</a:t>
            </a:r>
          </a:p>
          <a:p>
            <a:pPr>
              <a:buClr>
                <a:srgbClr val="C00000"/>
              </a:buClr>
              <a:buNone/>
            </a:pPr>
            <a:r>
              <a:rPr lang="en-US" sz="2344" dirty="0">
                <a:solidFill>
                  <a:srgbClr val="213AF1"/>
                </a:solidFill>
                <a:latin typeface="Bookman Old Style" pitchFamily="18" charset="0"/>
              </a:rPr>
              <a:t>							A </a:t>
            </a:r>
            <a:r>
              <a:rPr lang="el-GR" sz="2344" dirty="0">
                <a:solidFill>
                  <a:srgbClr val="213AF1"/>
                </a:solidFill>
                <a:latin typeface="Bookman Old Style" pitchFamily="18" charset="0"/>
              </a:rPr>
              <a:t>Χ </a:t>
            </a:r>
            <a:r>
              <a:rPr lang="en-US" sz="2344" dirty="0">
                <a:solidFill>
                  <a:srgbClr val="213AF1"/>
                </a:solidFill>
                <a:latin typeface="Bookman Old Style" pitchFamily="18" charset="0"/>
              </a:rPr>
              <a:t>B</a:t>
            </a:r>
          </a:p>
        </p:txBody>
      </p:sp>
      <p:sp>
        <p:nvSpPr>
          <p:cNvPr id="8" name="Content Placeholder 1"/>
          <p:cNvSpPr txBox="1">
            <a:spLocks/>
          </p:cNvSpPr>
          <p:nvPr/>
        </p:nvSpPr>
        <p:spPr>
          <a:xfrm>
            <a:off x="583823" y="4266293"/>
            <a:ext cx="2187816" cy="2023458"/>
          </a:xfrm>
          <a:prstGeom prst="rect">
            <a:avLst/>
          </a:prstGeom>
          <a:ln w="19050">
            <a:solidFill>
              <a:srgbClr val="0000FF"/>
            </a:solidFill>
          </a:ln>
        </p:spPr>
        <p:txBody>
          <a:bodyPr vert="horz" lIns="100805" tIns="50402" rIns="100805" bIns="50402" rtlCol="0">
            <a:normAutofit/>
          </a:bodyPr>
          <a:lstStyle/>
          <a:p>
            <a:pPr marL="378013" indent="-378013" defTabSz="1008035">
              <a:spcBef>
                <a:spcPct val="20000"/>
              </a:spcBef>
              <a:defRPr/>
            </a:pPr>
            <a:r>
              <a:rPr lang="en-US" sz="1563" dirty="0">
                <a:solidFill>
                  <a:srgbClr val="0000FF"/>
                </a:solidFill>
                <a:latin typeface="Copperplate Gothic Light" pitchFamily="34" charset="0"/>
              </a:rPr>
              <a:t>Records in table a</a:t>
            </a:r>
          </a:p>
          <a:p>
            <a:pPr marL="378013" indent="-378013" defTabSz="1008035">
              <a:spcBef>
                <a:spcPct val="20000"/>
              </a:spcBef>
              <a:defRPr/>
            </a:pPr>
            <a:r>
              <a:rPr lang="en-US" sz="1563" dirty="0" err="1">
                <a:solidFill>
                  <a:srgbClr val="0000FF"/>
                </a:solidFill>
                <a:latin typeface="Bookman Old Style" pitchFamily="18" charset="0"/>
              </a:rPr>
              <a:t>Sql</a:t>
            </a:r>
            <a:r>
              <a:rPr lang="en-US" sz="1563" dirty="0">
                <a:solidFill>
                  <a:srgbClr val="0000FF"/>
                </a:solidFill>
                <a:latin typeface="Bookman Old Style" pitchFamily="18" charset="0"/>
              </a:rPr>
              <a:t> &gt; Select * from a</a:t>
            </a:r>
          </a:p>
          <a:p>
            <a:pPr marL="378013" indent="-378013" defTabSz="1008035">
              <a:spcBef>
                <a:spcPct val="20000"/>
              </a:spcBef>
              <a:defRPr/>
            </a:pPr>
            <a:r>
              <a:rPr lang="en-US" sz="1563" dirty="0">
                <a:solidFill>
                  <a:srgbClr val="0000FF"/>
                </a:solidFill>
                <a:latin typeface="Bookman Old Style" pitchFamily="18" charset="0"/>
              </a:rPr>
              <a:t>F1	  	F2</a:t>
            </a:r>
          </a:p>
          <a:p>
            <a:pPr marL="378013" indent="-378013" defTabSz="1008035">
              <a:spcBef>
                <a:spcPct val="20000"/>
              </a:spcBef>
              <a:defRPr/>
            </a:pPr>
            <a:r>
              <a:rPr lang="en-US" sz="1563" dirty="0">
                <a:solidFill>
                  <a:srgbClr val="0000FF"/>
                </a:solidFill>
                <a:latin typeface="Bookman Old Style" pitchFamily="18" charset="0"/>
              </a:rPr>
              <a:t>30		C</a:t>
            </a:r>
          </a:p>
          <a:p>
            <a:pPr marL="378013" indent="-378013" defTabSz="1008035">
              <a:spcBef>
                <a:spcPct val="20000"/>
              </a:spcBef>
              <a:defRPr/>
            </a:pPr>
            <a:r>
              <a:rPr lang="en-US" sz="1563" dirty="0">
                <a:solidFill>
                  <a:srgbClr val="0000FF"/>
                </a:solidFill>
                <a:latin typeface="Bookman Old Style" pitchFamily="18" charset="0"/>
              </a:rPr>
              <a:t>10		A</a:t>
            </a:r>
          </a:p>
          <a:p>
            <a:pPr marL="378013" indent="-378013" defTabSz="1008035">
              <a:spcBef>
                <a:spcPct val="20000"/>
              </a:spcBef>
              <a:defRPr/>
            </a:pPr>
            <a:r>
              <a:rPr lang="en-US" sz="1563" dirty="0">
                <a:solidFill>
                  <a:srgbClr val="0000FF"/>
                </a:solidFill>
                <a:latin typeface="Bookman Old Style" pitchFamily="18" charset="0"/>
              </a:rPr>
              <a:t>20		B</a:t>
            </a:r>
          </a:p>
          <a:p>
            <a:pPr marL="378013" indent="-378013" defTabSz="1008035">
              <a:spcBef>
                <a:spcPct val="20000"/>
              </a:spcBef>
              <a:defRPr/>
            </a:pPr>
            <a:endParaRPr lang="en-US" sz="1563" dirty="0">
              <a:solidFill>
                <a:srgbClr val="0000FF"/>
              </a:solidFill>
            </a:endParaRPr>
          </a:p>
        </p:txBody>
      </p:sp>
      <p:sp>
        <p:nvSpPr>
          <p:cNvPr id="9" name="Content Placeholder 1"/>
          <p:cNvSpPr txBox="1">
            <a:spLocks/>
          </p:cNvSpPr>
          <p:nvPr/>
        </p:nvSpPr>
        <p:spPr>
          <a:xfrm>
            <a:off x="3165476" y="4266293"/>
            <a:ext cx="2187816" cy="2023458"/>
          </a:xfrm>
          <a:prstGeom prst="rect">
            <a:avLst/>
          </a:prstGeom>
          <a:ln w="19050">
            <a:solidFill>
              <a:srgbClr val="C00000"/>
            </a:solidFill>
          </a:ln>
        </p:spPr>
        <p:txBody>
          <a:bodyPr vert="horz" lIns="92436" tIns="46218" rIns="92436" bIns="46218" rtlCol="0">
            <a:normAutofit fontScale="92500"/>
          </a:bodyPr>
          <a:lstStyle/>
          <a:p>
            <a:pPr marL="346633" indent="-346633" defTabSz="924353">
              <a:spcBef>
                <a:spcPct val="20000"/>
              </a:spcBef>
              <a:defRPr/>
            </a:pPr>
            <a:r>
              <a:rPr lang="en-US" sz="1563" dirty="0">
                <a:solidFill>
                  <a:srgbClr val="C00000"/>
                </a:solidFill>
                <a:latin typeface="Copperplate Gothic Light" pitchFamily="34" charset="0"/>
              </a:rPr>
              <a:t>Records in table b</a:t>
            </a:r>
          </a:p>
          <a:p>
            <a:pPr marL="346633" indent="-346633" defTabSz="924353">
              <a:spcBef>
                <a:spcPct val="20000"/>
              </a:spcBef>
              <a:defRPr/>
            </a:pPr>
            <a:r>
              <a:rPr lang="en-US" sz="1563" dirty="0" err="1">
                <a:solidFill>
                  <a:srgbClr val="C00000"/>
                </a:solidFill>
                <a:latin typeface="Bookman Old Style" pitchFamily="18" charset="0"/>
              </a:rPr>
              <a:t>Sql</a:t>
            </a:r>
            <a:r>
              <a:rPr lang="en-US" sz="1563" dirty="0">
                <a:solidFill>
                  <a:srgbClr val="C00000"/>
                </a:solidFill>
                <a:latin typeface="Bookman Old Style" pitchFamily="18" charset="0"/>
              </a:rPr>
              <a:t> &gt; Select * from b;</a:t>
            </a:r>
          </a:p>
          <a:p>
            <a:pPr>
              <a:lnSpc>
                <a:spcPct val="150000"/>
              </a:lnSpc>
            </a:pPr>
            <a:r>
              <a:rPr lang="en-US" sz="1563" dirty="0">
                <a:solidFill>
                  <a:srgbClr val="C00000"/>
                </a:solidFill>
                <a:latin typeface="Bookman Old Style" pitchFamily="18" charset="0"/>
              </a:rPr>
              <a:t>ID 	NAME</a:t>
            </a:r>
          </a:p>
          <a:p>
            <a:pPr>
              <a:lnSpc>
                <a:spcPct val="150000"/>
              </a:lnSpc>
            </a:pPr>
            <a:r>
              <a:rPr lang="en-US" sz="1563" dirty="0">
                <a:solidFill>
                  <a:srgbClr val="C00000"/>
                </a:solidFill>
                <a:latin typeface="Bookman Old Style" pitchFamily="18" charset="0"/>
              </a:rPr>
              <a:t>30	C</a:t>
            </a:r>
          </a:p>
          <a:p>
            <a:pPr>
              <a:lnSpc>
                <a:spcPct val="150000"/>
              </a:lnSpc>
            </a:pPr>
            <a:r>
              <a:rPr lang="en-US" sz="1563" dirty="0">
                <a:solidFill>
                  <a:srgbClr val="C00000"/>
                </a:solidFill>
                <a:latin typeface="Bookman Old Style" pitchFamily="18" charset="0"/>
              </a:rPr>
              <a:t>40	D</a:t>
            </a:r>
          </a:p>
          <a:p>
            <a:pPr>
              <a:lnSpc>
                <a:spcPct val="150000"/>
              </a:lnSpc>
            </a:pPr>
            <a:r>
              <a:rPr lang="en-US" sz="1563" dirty="0">
                <a:solidFill>
                  <a:srgbClr val="C00000"/>
                </a:solidFill>
                <a:latin typeface="Bookman Old Style" pitchFamily="18" charset="0"/>
              </a:rPr>
              <a:t>50	E</a:t>
            </a:r>
          </a:p>
          <a:p>
            <a:pPr marL="346633" indent="-346633" defTabSz="924353">
              <a:spcBef>
                <a:spcPct val="20000"/>
              </a:spcBef>
              <a:defRPr/>
            </a:pPr>
            <a:endParaRPr lang="en-US" sz="1563" dirty="0">
              <a:solidFill>
                <a:srgbClr val="C00000"/>
              </a:solidFill>
              <a:latin typeface="Bookman Old Style" pitchFamily="18" charset="0"/>
            </a:endParaRPr>
          </a:p>
        </p:txBody>
      </p:sp>
      <p:graphicFrame>
        <p:nvGraphicFramePr>
          <p:cNvPr id="10" name="Table 9"/>
          <p:cNvGraphicFramePr>
            <a:graphicFrameLocks noGrp="1"/>
          </p:cNvGraphicFramePr>
          <p:nvPr/>
        </p:nvGraphicFramePr>
        <p:xfrm>
          <a:off x="8468329" y="3568549"/>
          <a:ext cx="2721203" cy="2830721"/>
        </p:xfrm>
        <a:graphic>
          <a:graphicData uri="http://schemas.openxmlformats.org/drawingml/2006/table">
            <a:tbl>
              <a:tblPr/>
              <a:tblGrid>
                <a:gridCol w="366316">
                  <a:extLst>
                    <a:ext uri="{9D8B030D-6E8A-4147-A177-3AD203B41FA5}">
                      <a16:colId xmlns:a16="http://schemas.microsoft.com/office/drawing/2014/main" val="20000"/>
                    </a:ext>
                  </a:extLst>
                </a:gridCol>
                <a:gridCol w="366316">
                  <a:extLst>
                    <a:ext uri="{9D8B030D-6E8A-4147-A177-3AD203B41FA5}">
                      <a16:colId xmlns:a16="http://schemas.microsoft.com/office/drawing/2014/main" val="20001"/>
                    </a:ext>
                  </a:extLst>
                </a:gridCol>
                <a:gridCol w="366316">
                  <a:extLst>
                    <a:ext uri="{9D8B030D-6E8A-4147-A177-3AD203B41FA5}">
                      <a16:colId xmlns:a16="http://schemas.microsoft.com/office/drawing/2014/main" val="20002"/>
                    </a:ext>
                  </a:extLst>
                </a:gridCol>
                <a:gridCol w="1622255">
                  <a:extLst>
                    <a:ext uri="{9D8B030D-6E8A-4147-A177-3AD203B41FA5}">
                      <a16:colId xmlns:a16="http://schemas.microsoft.com/office/drawing/2014/main" val="20003"/>
                    </a:ext>
                  </a:extLst>
                </a:gridCol>
              </a:tblGrid>
              <a:tr h="348872">
                <a:tc>
                  <a:txBody>
                    <a:bodyPr/>
                    <a:lstStyle/>
                    <a:p>
                      <a:pPr fontAlgn="b"/>
                      <a:r>
                        <a:rPr lang="en-US" sz="1400" b="1" dirty="0">
                          <a:solidFill>
                            <a:srgbClr val="213AF1"/>
                          </a:solidFill>
                          <a:latin typeface="Bookman Old Style" pitchFamily="18" charset="0"/>
                        </a:rPr>
                        <a:t>F1</a:t>
                      </a:r>
                    </a:p>
                  </a:txBody>
                  <a:tcPr marL="59540" marR="59540" marT="59540" marB="59540" anchor="b">
                    <a:lnL>
                      <a:noFill/>
                    </a:lnL>
                    <a:lnR>
                      <a:noFill/>
                    </a:lnR>
                    <a:lnT>
                      <a:noFill/>
                    </a:lnT>
                    <a:lnB>
                      <a:noFill/>
                    </a:lnB>
                    <a:solidFill>
                      <a:schemeClr val="bg2"/>
                    </a:solidFill>
                  </a:tcPr>
                </a:tc>
                <a:tc>
                  <a:txBody>
                    <a:bodyPr/>
                    <a:lstStyle/>
                    <a:p>
                      <a:pPr fontAlgn="b"/>
                      <a:r>
                        <a:rPr lang="en-US" sz="1400" b="1">
                          <a:solidFill>
                            <a:srgbClr val="213AF1"/>
                          </a:solidFill>
                          <a:latin typeface="Bookman Old Style" pitchFamily="18" charset="0"/>
                        </a:rPr>
                        <a:t>F2</a:t>
                      </a:r>
                    </a:p>
                  </a:txBody>
                  <a:tcPr marL="59540" marR="59540" marT="59540" marB="59540" anchor="b">
                    <a:lnL>
                      <a:noFill/>
                    </a:lnL>
                    <a:lnR>
                      <a:noFill/>
                    </a:lnR>
                    <a:lnT>
                      <a:noFill/>
                    </a:lnT>
                    <a:lnB>
                      <a:noFill/>
                    </a:lnB>
                    <a:solidFill>
                      <a:schemeClr val="bg2"/>
                    </a:solidFill>
                  </a:tcPr>
                </a:tc>
                <a:tc>
                  <a:txBody>
                    <a:bodyPr/>
                    <a:lstStyle/>
                    <a:p>
                      <a:pPr fontAlgn="b"/>
                      <a:r>
                        <a:rPr lang="en-US" sz="1400" b="1">
                          <a:solidFill>
                            <a:srgbClr val="213AF1"/>
                          </a:solidFill>
                          <a:latin typeface="Bookman Old Style" pitchFamily="18" charset="0"/>
                        </a:rPr>
                        <a:t>ID</a:t>
                      </a:r>
                    </a:p>
                  </a:txBody>
                  <a:tcPr marL="59540" marR="59540" marT="59540" marB="59540" anchor="b">
                    <a:lnL>
                      <a:noFill/>
                    </a:lnL>
                    <a:lnR>
                      <a:noFill/>
                    </a:lnR>
                    <a:lnT>
                      <a:noFill/>
                    </a:lnT>
                    <a:lnB>
                      <a:noFill/>
                    </a:lnB>
                    <a:solidFill>
                      <a:schemeClr val="bg2"/>
                    </a:solidFill>
                  </a:tcPr>
                </a:tc>
                <a:tc>
                  <a:txBody>
                    <a:bodyPr/>
                    <a:lstStyle/>
                    <a:p>
                      <a:pPr fontAlgn="b"/>
                      <a:r>
                        <a:rPr lang="en-US" sz="1400" b="1" dirty="0">
                          <a:solidFill>
                            <a:srgbClr val="213AF1"/>
                          </a:solidFill>
                          <a:latin typeface="Bookman Old Style" pitchFamily="18" charset="0"/>
                        </a:rPr>
                        <a:t>NAME</a:t>
                      </a:r>
                    </a:p>
                  </a:txBody>
                  <a:tcPr marL="59540" marR="59540" marT="59540" marB="59540" anchor="b">
                    <a:lnL>
                      <a:noFill/>
                    </a:lnL>
                    <a:lnR>
                      <a:noFill/>
                    </a:lnR>
                    <a:lnT>
                      <a:noFill/>
                    </a:lnT>
                    <a:lnB>
                      <a:noFill/>
                    </a:lnB>
                    <a:solidFill>
                      <a:schemeClr val="bg2"/>
                    </a:solidFill>
                  </a:tcPr>
                </a:tc>
                <a:extLst>
                  <a:ext uri="{0D108BD9-81ED-4DB2-BD59-A6C34878D82A}">
                    <a16:rowId xmlns:a16="http://schemas.microsoft.com/office/drawing/2014/main" val="10000"/>
                  </a:ext>
                </a:extLst>
              </a:tr>
              <a:tr h="267932">
                <a:tc>
                  <a:txBody>
                    <a:bodyPr/>
                    <a:lstStyle/>
                    <a:p>
                      <a:r>
                        <a:rPr lang="en-US" sz="1400" dirty="0">
                          <a:solidFill>
                            <a:srgbClr val="213AF1"/>
                          </a:solidFill>
                          <a:latin typeface="Bookman Old Style" pitchFamily="18" charset="0"/>
                        </a:rPr>
                        <a:t>10</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213AF1"/>
                          </a:solidFill>
                          <a:latin typeface="Bookman Old Style" pitchFamily="18" charset="0"/>
                        </a:rPr>
                        <a:t>A</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213AF1"/>
                          </a:solidFill>
                          <a:latin typeface="Bookman Old Style" pitchFamily="18" charset="0"/>
                        </a:rPr>
                        <a:t>30</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213AF1"/>
                          </a:solidFill>
                          <a:latin typeface="Bookman Old Style" pitchFamily="18" charset="0"/>
                        </a:rPr>
                        <a:t>       C</a:t>
                      </a:r>
                    </a:p>
                  </a:txBody>
                  <a:tcPr marL="59540" marR="59540" marT="29770" marB="29770" anchor="ctr">
                    <a:lnL>
                      <a:noFill/>
                    </a:lnL>
                    <a:lnR>
                      <a:noFill/>
                    </a:lnR>
                    <a:lnT>
                      <a:noFill/>
                    </a:lnT>
                    <a:lnB>
                      <a:noFill/>
                    </a:lnB>
                    <a:solidFill>
                      <a:schemeClr val="bg2"/>
                    </a:solidFill>
                  </a:tcPr>
                </a:tc>
                <a:extLst>
                  <a:ext uri="{0D108BD9-81ED-4DB2-BD59-A6C34878D82A}">
                    <a16:rowId xmlns:a16="http://schemas.microsoft.com/office/drawing/2014/main" val="10001"/>
                  </a:ext>
                </a:extLst>
              </a:tr>
              <a:tr h="267932">
                <a:tc>
                  <a:txBody>
                    <a:bodyPr/>
                    <a:lstStyle/>
                    <a:p>
                      <a:r>
                        <a:rPr lang="en-US" sz="1400" dirty="0">
                          <a:solidFill>
                            <a:srgbClr val="213AF1"/>
                          </a:solidFill>
                          <a:latin typeface="Bookman Old Style" pitchFamily="18" charset="0"/>
                        </a:rPr>
                        <a:t>20</a:t>
                      </a:r>
                    </a:p>
                  </a:txBody>
                  <a:tcPr marL="59540" marR="59540" marT="29770" marB="29770" anchor="ctr">
                    <a:lnL>
                      <a:noFill/>
                    </a:lnL>
                    <a:lnR>
                      <a:noFill/>
                    </a:lnR>
                    <a:lnT>
                      <a:noFill/>
                    </a:lnT>
                    <a:lnB>
                      <a:noFill/>
                    </a:lnB>
                    <a:solidFill>
                      <a:schemeClr val="bg2"/>
                    </a:solidFill>
                  </a:tcPr>
                </a:tc>
                <a:tc>
                  <a:txBody>
                    <a:bodyPr/>
                    <a:lstStyle/>
                    <a:p>
                      <a:r>
                        <a:rPr lang="en-US" sz="1400">
                          <a:solidFill>
                            <a:srgbClr val="213AF1"/>
                          </a:solidFill>
                          <a:latin typeface="Bookman Old Style" pitchFamily="18" charset="0"/>
                        </a:rPr>
                        <a:t>B</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213AF1"/>
                          </a:solidFill>
                          <a:latin typeface="Bookman Old Style" pitchFamily="18" charset="0"/>
                        </a:rPr>
                        <a:t>30</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213AF1"/>
                          </a:solidFill>
                          <a:latin typeface="Bookman Old Style" pitchFamily="18" charset="0"/>
                        </a:rPr>
                        <a:t>       C</a:t>
                      </a:r>
                    </a:p>
                  </a:txBody>
                  <a:tcPr marL="59540" marR="59540" marT="29770" marB="29770" anchor="ctr">
                    <a:lnL>
                      <a:noFill/>
                    </a:lnL>
                    <a:lnR>
                      <a:noFill/>
                    </a:lnR>
                    <a:lnT>
                      <a:noFill/>
                    </a:lnT>
                    <a:lnB>
                      <a:noFill/>
                    </a:lnB>
                    <a:solidFill>
                      <a:schemeClr val="bg2"/>
                    </a:solidFill>
                  </a:tcPr>
                </a:tc>
                <a:extLst>
                  <a:ext uri="{0D108BD9-81ED-4DB2-BD59-A6C34878D82A}">
                    <a16:rowId xmlns:a16="http://schemas.microsoft.com/office/drawing/2014/main" val="10002"/>
                  </a:ext>
                </a:extLst>
              </a:tr>
              <a:tr h="267932">
                <a:tc>
                  <a:txBody>
                    <a:bodyPr/>
                    <a:lstStyle/>
                    <a:p>
                      <a:r>
                        <a:rPr lang="en-US" sz="1400">
                          <a:solidFill>
                            <a:srgbClr val="213AF1"/>
                          </a:solidFill>
                          <a:latin typeface="Bookman Old Style" pitchFamily="18" charset="0"/>
                        </a:rPr>
                        <a:t>30</a:t>
                      </a:r>
                    </a:p>
                  </a:txBody>
                  <a:tcPr marL="59540" marR="59540" marT="29770" marB="29770" anchor="ctr">
                    <a:lnL>
                      <a:noFill/>
                    </a:lnL>
                    <a:lnR>
                      <a:noFill/>
                    </a:lnR>
                    <a:lnT>
                      <a:noFill/>
                    </a:lnT>
                    <a:lnB>
                      <a:noFill/>
                    </a:lnB>
                    <a:solidFill>
                      <a:schemeClr val="bg2"/>
                    </a:solidFill>
                  </a:tcPr>
                </a:tc>
                <a:tc>
                  <a:txBody>
                    <a:bodyPr/>
                    <a:lstStyle/>
                    <a:p>
                      <a:r>
                        <a:rPr lang="en-US" sz="1400">
                          <a:solidFill>
                            <a:srgbClr val="213AF1"/>
                          </a:solidFill>
                          <a:latin typeface="Bookman Old Style" pitchFamily="18" charset="0"/>
                        </a:rPr>
                        <a:t>C</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213AF1"/>
                          </a:solidFill>
                          <a:latin typeface="Bookman Old Style" pitchFamily="18" charset="0"/>
                        </a:rPr>
                        <a:t>30</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213AF1"/>
                          </a:solidFill>
                          <a:latin typeface="Bookman Old Style" pitchFamily="18" charset="0"/>
                        </a:rPr>
                        <a:t>       C</a:t>
                      </a:r>
                    </a:p>
                  </a:txBody>
                  <a:tcPr marL="59540" marR="59540" marT="29770" marB="29770" anchor="ctr">
                    <a:lnL>
                      <a:noFill/>
                    </a:lnL>
                    <a:lnR>
                      <a:noFill/>
                    </a:lnR>
                    <a:lnT>
                      <a:noFill/>
                    </a:lnT>
                    <a:lnB>
                      <a:noFill/>
                    </a:lnB>
                    <a:solidFill>
                      <a:schemeClr val="bg2"/>
                    </a:solidFill>
                  </a:tcPr>
                </a:tc>
                <a:extLst>
                  <a:ext uri="{0D108BD9-81ED-4DB2-BD59-A6C34878D82A}">
                    <a16:rowId xmlns:a16="http://schemas.microsoft.com/office/drawing/2014/main" val="10003"/>
                  </a:ext>
                </a:extLst>
              </a:tr>
              <a:tr h="267932">
                <a:tc>
                  <a:txBody>
                    <a:bodyPr/>
                    <a:lstStyle/>
                    <a:p>
                      <a:r>
                        <a:rPr lang="en-US" sz="1400" dirty="0">
                          <a:solidFill>
                            <a:schemeClr val="accent6">
                              <a:lumMod val="50000"/>
                            </a:schemeClr>
                          </a:solidFill>
                          <a:latin typeface="Bookman Old Style" pitchFamily="18" charset="0"/>
                        </a:rPr>
                        <a:t>10</a:t>
                      </a:r>
                    </a:p>
                  </a:txBody>
                  <a:tcPr marL="59540" marR="59540" marT="29770" marB="29770" anchor="ctr">
                    <a:lnL>
                      <a:noFill/>
                    </a:lnL>
                    <a:lnR>
                      <a:noFill/>
                    </a:lnR>
                    <a:lnT>
                      <a:noFill/>
                    </a:lnT>
                    <a:lnB>
                      <a:noFill/>
                    </a:lnB>
                    <a:solidFill>
                      <a:schemeClr val="bg2"/>
                    </a:solidFill>
                  </a:tcPr>
                </a:tc>
                <a:tc>
                  <a:txBody>
                    <a:bodyPr/>
                    <a:lstStyle/>
                    <a:p>
                      <a:r>
                        <a:rPr lang="en-US" sz="1400" dirty="0">
                          <a:solidFill>
                            <a:schemeClr val="accent6">
                              <a:lumMod val="50000"/>
                            </a:schemeClr>
                          </a:solidFill>
                          <a:latin typeface="Bookman Old Style" pitchFamily="18" charset="0"/>
                        </a:rPr>
                        <a:t>A</a:t>
                      </a:r>
                    </a:p>
                  </a:txBody>
                  <a:tcPr marL="59540" marR="59540" marT="29770" marB="29770" anchor="ctr">
                    <a:lnL>
                      <a:noFill/>
                    </a:lnL>
                    <a:lnR>
                      <a:noFill/>
                    </a:lnR>
                    <a:lnT>
                      <a:noFill/>
                    </a:lnT>
                    <a:lnB>
                      <a:noFill/>
                    </a:lnB>
                    <a:solidFill>
                      <a:schemeClr val="bg2"/>
                    </a:solidFill>
                  </a:tcPr>
                </a:tc>
                <a:tc>
                  <a:txBody>
                    <a:bodyPr/>
                    <a:lstStyle/>
                    <a:p>
                      <a:r>
                        <a:rPr lang="en-US" sz="1400">
                          <a:solidFill>
                            <a:schemeClr val="accent6">
                              <a:lumMod val="50000"/>
                            </a:schemeClr>
                          </a:solidFill>
                          <a:latin typeface="Bookman Old Style" pitchFamily="18" charset="0"/>
                        </a:rPr>
                        <a:t>40</a:t>
                      </a:r>
                    </a:p>
                  </a:txBody>
                  <a:tcPr marL="59540" marR="59540" marT="29770" marB="29770" anchor="ctr">
                    <a:lnL>
                      <a:noFill/>
                    </a:lnL>
                    <a:lnR>
                      <a:noFill/>
                    </a:lnR>
                    <a:lnT>
                      <a:noFill/>
                    </a:lnT>
                    <a:lnB>
                      <a:noFill/>
                    </a:lnB>
                    <a:solidFill>
                      <a:schemeClr val="bg2"/>
                    </a:solidFill>
                  </a:tcPr>
                </a:tc>
                <a:tc>
                  <a:txBody>
                    <a:bodyPr/>
                    <a:lstStyle/>
                    <a:p>
                      <a:r>
                        <a:rPr lang="en-US" sz="1400" dirty="0">
                          <a:solidFill>
                            <a:schemeClr val="accent6">
                              <a:lumMod val="50000"/>
                            </a:schemeClr>
                          </a:solidFill>
                          <a:latin typeface="Bookman Old Style" pitchFamily="18" charset="0"/>
                        </a:rPr>
                        <a:t>       D</a:t>
                      </a:r>
                    </a:p>
                  </a:txBody>
                  <a:tcPr marL="59540" marR="59540" marT="29770" marB="29770" anchor="ctr">
                    <a:lnL>
                      <a:noFill/>
                    </a:lnL>
                    <a:lnR>
                      <a:noFill/>
                    </a:lnR>
                    <a:lnT>
                      <a:noFill/>
                    </a:lnT>
                    <a:lnB>
                      <a:noFill/>
                    </a:lnB>
                    <a:solidFill>
                      <a:schemeClr val="bg2"/>
                    </a:solidFill>
                  </a:tcPr>
                </a:tc>
                <a:extLst>
                  <a:ext uri="{0D108BD9-81ED-4DB2-BD59-A6C34878D82A}">
                    <a16:rowId xmlns:a16="http://schemas.microsoft.com/office/drawing/2014/main" val="10004"/>
                  </a:ext>
                </a:extLst>
              </a:tr>
              <a:tr h="267932">
                <a:tc>
                  <a:txBody>
                    <a:bodyPr/>
                    <a:lstStyle/>
                    <a:p>
                      <a:r>
                        <a:rPr lang="en-US" sz="1400">
                          <a:solidFill>
                            <a:schemeClr val="accent6">
                              <a:lumMod val="50000"/>
                            </a:schemeClr>
                          </a:solidFill>
                          <a:latin typeface="Bookman Old Style" pitchFamily="18" charset="0"/>
                        </a:rPr>
                        <a:t>20</a:t>
                      </a:r>
                    </a:p>
                  </a:txBody>
                  <a:tcPr marL="59540" marR="59540" marT="29770" marB="29770" anchor="ctr">
                    <a:lnL>
                      <a:noFill/>
                    </a:lnL>
                    <a:lnR>
                      <a:noFill/>
                    </a:lnR>
                    <a:lnT>
                      <a:noFill/>
                    </a:lnT>
                    <a:lnB>
                      <a:noFill/>
                    </a:lnB>
                    <a:solidFill>
                      <a:schemeClr val="bg2"/>
                    </a:solidFill>
                  </a:tcPr>
                </a:tc>
                <a:tc>
                  <a:txBody>
                    <a:bodyPr/>
                    <a:lstStyle/>
                    <a:p>
                      <a:r>
                        <a:rPr lang="en-US" sz="1400" dirty="0">
                          <a:solidFill>
                            <a:schemeClr val="accent6">
                              <a:lumMod val="50000"/>
                            </a:schemeClr>
                          </a:solidFill>
                          <a:latin typeface="Bookman Old Style" pitchFamily="18" charset="0"/>
                        </a:rPr>
                        <a:t>B</a:t>
                      </a:r>
                    </a:p>
                  </a:txBody>
                  <a:tcPr marL="59540" marR="59540" marT="29770" marB="29770" anchor="ctr">
                    <a:lnL>
                      <a:noFill/>
                    </a:lnL>
                    <a:lnR>
                      <a:noFill/>
                    </a:lnR>
                    <a:lnT>
                      <a:noFill/>
                    </a:lnT>
                    <a:lnB>
                      <a:noFill/>
                    </a:lnB>
                    <a:solidFill>
                      <a:schemeClr val="bg2"/>
                    </a:solidFill>
                  </a:tcPr>
                </a:tc>
                <a:tc>
                  <a:txBody>
                    <a:bodyPr/>
                    <a:lstStyle/>
                    <a:p>
                      <a:r>
                        <a:rPr lang="en-US" sz="1400" dirty="0">
                          <a:solidFill>
                            <a:schemeClr val="accent6">
                              <a:lumMod val="50000"/>
                            </a:schemeClr>
                          </a:solidFill>
                          <a:latin typeface="Bookman Old Style" pitchFamily="18" charset="0"/>
                        </a:rPr>
                        <a:t>40</a:t>
                      </a:r>
                    </a:p>
                  </a:txBody>
                  <a:tcPr marL="59540" marR="59540" marT="29770" marB="29770" anchor="ctr">
                    <a:lnL>
                      <a:noFill/>
                    </a:lnL>
                    <a:lnR>
                      <a:noFill/>
                    </a:lnR>
                    <a:lnT>
                      <a:noFill/>
                    </a:lnT>
                    <a:lnB>
                      <a:noFill/>
                    </a:lnB>
                    <a:solidFill>
                      <a:schemeClr val="bg2"/>
                    </a:solidFill>
                  </a:tcPr>
                </a:tc>
                <a:tc>
                  <a:txBody>
                    <a:bodyPr/>
                    <a:lstStyle/>
                    <a:p>
                      <a:r>
                        <a:rPr lang="en-US" sz="1400" dirty="0">
                          <a:solidFill>
                            <a:schemeClr val="accent6">
                              <a:lumMod val="50000"/>
                            </a:schemeClr>
                          </a:solidFill>
                          <a:latin typeface="Bookman Old Style" pitchFamily="18" charset="0"/>
                        </a:rPr>
                        <a:t>       D</a:t>
                      </a:r>
                    </a:p>
                  </a:txBody>
                  <a:tcPr marL="59540" marR="59540" marT="29770" marB="29770" anchor="ctr">
                    <a:lnL>
                      <a:noFill/>
                    </a:lnL>
                    <a:lnR>
                      <a:noFill/>
                    </a:lnR>
                    <a:lnT>
                      <a:noFill/>
                    </a:lnT>
                    <a:lnB>
                      <a:noFill/>
                    </a:lnB>
                    <a:solidFill>
                      <a:schemeClr val="bg2"/>
                    </a:solidFill>
                  </a:tcPr>
                </a:tc>
                <a:extLst>
                  <a:ext uri="{0D108BD9-81ED-4DB2-BD59-A6C34878D82A}">
                    <a16:rowId xmlns:a16="http://schemas.microsoft.com/office/drawing/2014/main" val="10005"/>
                  </a:ext>
                </a:extLst>
              </a:tr>
              <a:tr h="267932">
                <a:tc>
                  <a:txBody>
                    <a:bodyPr/>
                    <a:lstStyle/>
                    <a:p>
                      <a:r>
                        <a:rPr lang="en-US" sz="1400">
                          <a:solidFill>
                            <a:schemeClr val="accent6">
                              <a:lumMod val="50000"/>
                            </a:schemeClr>
                          </a:solidFill>
                          <a:latin typeface="Bookman Old Style" pitchFamily="18" charset="0"/>
                        </a:rPr>
                        <a:t>30</a:t>
                      </a:r>
                    </a:p>
                  </a:txBody>
                  <a:tcPr marL="59540" marR="59540" marT="29770" marB="29770" anchor="ctr">
                    <a:lnL>
                      <a:noFill/>
                    </a:lnL>
                    <a:lnR>
                      <a:noFill/>
                    </a:lnR>
                    <a:lnT>
                      <a:noFill/>
                    </a:lnT>
                    <a:lnB>
                      <a:noFill/>
                    </a:lnB>
                    <a:solidFill>
                      <a:schemeClr val="bg2"/>
                    </a:solidFill>
                  </a:tcPr>
                </a:tc>
                <a:tc>
                  <a:txBody>
                    <a:bodyPr/>
                    <a:lstStyle/>
                    <a:p>
                      <a:r>
                        <a:rPr lang="en-US" sz="1400">
                          <a:solidFill>
                            <a:schemeClr val="accent6">
                              <a:lumMod val="50000"/>
                            </a:schemeClr>
                          </a:solidFill>
                          <a:latin typeface="Bookman Old Style" pitchFamily="18" charset="0"/>
                        </a:rPr>
                        <a:t>C</a:t>
                      </a:r>
                    </a:p>
                  </a:txBody>
                  <a:tcPr marL="59540" marR="59540" marT="29770" marB="29770" anchor="ctr">
                    <a:lnL>
                      <a:noFill/>
                    </a:lnL>
                    <a:lnR>
                      <a:noFill/>
                    </a:lnR>
                    <a:lnT>
                      <a:noFill/>
                    </a:lnT>
                    <a:lnB>
                      <a:noFill/>
                    </a:lnB>
                    <a:solidFill>
                      <a:schemeClr val="bg2"/>
                    </a:solidFill>
                  </a:tcPr>
                </a:tc>
                <a:tc>
                  <a:txBody>
                    <a:bodyPr/>
                    <a:lstStyle/>
                    <a:p>
                      <a:r>
                        <a:rPr lang="en-US" sz="1400">
                          <a:solidFill>
                            <a:schemeClr val="accent6">
                              <a:lumMod val="50000"/>
                            </a:schemeClr>
                          </a:solidFill>
                          <a:latin typeface="Bookman Old Style" pitchFamily="18" charset="0"/>
                        </a:rPr>
                        <a:t>40</a:t>
                      </a:r>
                    </a:p>
                  </a:txBody>
                  <a:tcPr marL="59540" marR="59540" marT="29770" marB="29770" anchor="ctr">
                    <a:lnL>
                      <a:noFill/>
                    </a:lnL>
                    <a:lnR>
                      <a:noFill/>
                    </a:lnR>
                    <a:lnT>
                      <a:noFill/>
                    </a:lnT>
                    <a:lnB>
                      <a:noFill/>
                    </a:lnB>
                    <a:solidFill>
                      <a:schemeClr val="bg2"/>
                    </a:solidFill>
                  </a:tcPr>
                </a:tc>
                <a:tc>
                  <a:txBody>
                    <a:bodyPr/>
                    <a:lstStyle/>
                    <a:p>
                      <a:r>
                        <a:rPr lang="en-US" sz="1400" dirty="0">
                          <a:solidFill>
                            <a:schemeClr val="accent6">
                              <a:lumMod val="50000"/>
                            </a:schemeClr>
                          </a:solidFill>
                          <a:latin typeface="Bookman Old Style" pitchFamily="18" charset="0"/>
                        </a:rPr>
                        <a:t>       D</a:t>
                      </a:r>
                    </a:p>
                  </a:txBody>
                  <a:tcPr marL="59540" marR="59540" marT="29770" marB="29770" anchor="ctr">
                    <a:lnL>
                      <a:noFill/>
                    </a:lnL>
                    <a:lnR>
                      <a:noFill/>
                    </a:lnR>
                    <a:lnT>
                      <a:noFill/>
                    </a:lnT>
                    <a:lnB>
                      <a:noFill/>
                    </a:lnB>
                    <a:solidFill>
                      <a:schemeClr val="bg2"/>
                    </a:solidFill>
                  </a:tcPr>
                </a:tc>
                <a:extLst>
                  <a:ext uri="{0D108BD9-81ED-4DB2-BD59-A6C34878D82A}">
                    <a16:rowId xmlns:a16="http://schemas.microsoft.com/office/drawing/2014/main" val="10006"/>
                  </a:ext>
                </a:extLst>
              </a:tr>
              <a:tr h="267932">
                <a:tc>
                  <a:txBody>
                    <a:bodyPr/>
                    <a:lstStyle/>
                    <a:p>
                      <a:r>
                        <a:rPr lang="en-US" sz="1400" dirty="0">
                          <a:solidFill>
                            <a:srgbClr val="00B050"/>
                          </a:solidFill>
                          <a:latin typeface="Bookman Old Style" pitchFamily="18" charset="0"/>
                        </a:rPr>
                        <a:t>10</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00B050"/>
                          </a:solidFill>
                          <a:latin typeface="Bookman Old Style" pitchFamily="18" charset="0"/>
                        </a:rPr>
                        <a:t>A</a:t>
                      </a:r>
                    </a:p>
                  </a:txBody>
                  <a:tcPr marL="59540" marR="59540" marT="29770" marB="29770" anchor="ctr">
                    <a:lnL>
                      <a:noFill/>
                    </a:lnL>
                    <a:lnR>
                      <a:noFill/>
                    </a:lnR>
                    <a:lnT>
                      <a:noFill/>
                    </a:lnT>
                    <a:lnB>
                      <a:noFill/>
                    </a:lnB>
                    <a:solidFill>
                      <a:schemeClr val="bg2"/>
                    </a:solidFill>
                  </a:tcPr>
                </a:tc>
                <a:tc>
                  <a:txBody>
                    <a:bodyPr/>
                    <a:lstStyle/>
                    <a:p>
                      <a:r>
                        <a:rPr lang="en-US" sz="1400">
                          <a:solidFill>
                            <a:srgbClr val="00B050"/>
                          </a:solidFill>
                          <a:latin typeface="Bookman Old Style" pitchFamily="18" charset="0"/>
                        </a:rPr>
                        <a:t>50</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00B050"/>
                          </a:solidFill>
                          <a:latin typeface="Bookman Old Style" pitchFamily="18" charset="0"/>
                        </a:rPr>
                        <a:t>       E</a:t>
                      </a:r>
                    </a:p>
                  </a:txBody>
                  <a:tcPr marL="59540" marR="59540" marT="29770" marB="29770" anchor="ctr">
                    <a:lnL>
                      <a:noFill/>
                    </a:lnL>
                    <a:lnR>
                      <a:noFill/>
                    </a:lnR>
                    <a:lnT>
                      <a:noFill/>
                    </a:lnT>
                    <a:lnB>
                      <a:noFill/>
                    </a:lnB>
                    <a:solidFill>
                      <a:schemeClr val="bg2"/>
                    </a:solidFill>
                  </a:tcPr>
                </a:tc>
                <a:extLst>
                  <a:ext uri="{0D108BD9-81ED-4DB2-BD59-A6C34878D82A}">
                    <a16:rowId xmlns:a16="http://schemas.microsoft.com/office/drawing/2014/main" val="10007"/>
                  </a:ext>
                </a:extLst>
              </a:tr>
              <a:tr h="267932">
                <a:tc>
                  <a:txBody>
                    <a:bodyPr/>
                    <a:lstStyle/>
                    <a:p>
                      <a:r>
                        <a:rPr lang="en-US" sz="1400">
                          <a:solidFill>
                            <a:srgbClr val="00B050"/>
                          </a:solidFill>
                          <a:latin typeface="Bookman Old Style" pitchFamily="18" charset="0"/>
                        </a:rPr>
                        <a:t>20</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00B050"/>
                          </a:solidFill>
                          <a:latin typeface="Bookman Old Style" pitchFamily="18" charset="0"/>
                        </a:rPr>
                        <a:t>B</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00B050"/>
                          </a:solidFill>
                          <a:latin typeface="Bookman Old Style" pitchFamily="18" charset="0"/>
                        </a:rPr>
                        <a:t>50</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00B050"/>
                          </a:solidFill>
                          <a:latin typeface="Bookman Old Style" pitchFamily="18" charset="0"/>
                        </a:rPr>
                        <a:t>       E</a:t>
                      </a:r>
                    </a:p>
                  </a:txBody>
                  <a:tcPr marL="59540" marR="59540" marT="29770" marB="29770" anchor="ctr">
                    <a:lnL>
                      <a:noFill/>
                    </a:lnL>
                    <a:lnR>
                      <a:noFill/>
                    </a:lnR>
                    <a:lnT>
                      <a:noFill/>
                    </a:lnT>
                    <a:lnB>
                      <a:noFill/>
                    </a:lnB>
                    <a:solidFill>
                      <a:schemeClr val="bg2"/>
                    </a:solidFill>
                  </a:tcPr>
                </a:tc>
                <a:extLst>
                  <a:ext uri="{0D108BD9-81ED-4DB2-BD59-A6C34878D82A}">
                    <a16:rowId xmlns:a16="http://schemas.microsoft.com/office/drawing/2014/main" val="10008"/>
                  </a:ext>
                </a:extLst>
              </a:tr>
              <a:tr h="298649">
                <a:tc>
                  <a:txBody>
                    <a:bodyPr/>
                    <a:lstStyle/>
                    <a:p>
                      <a:r>
                        <a:rPr lang="en-US" sz="1400">
                          <a:solidFill>
                            <a:srgbClr val="00B050"/>
                          </a:solidFill>
                          <a:latin typeface="Bookman Old Style" pitchFamily="18" charset="0"/>
                        </a:rPr>
                        <a:t>30</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00B050"/>
                          </a:solidFill>
                          <a:latin typeface="Bookman Old Style" pitchFamily="18" charset="0"/>
                        </a:rPr>
                        <a:t>C</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00B050"/>
                          </a:solidFill>
                          <a:latin typeface="Bookman Old Style" pitchFamily="18" charset="0"/>
                        </a:rPr>
                        <a:t>50</a:t>
                      </a:r>
                    </a:p>
                  </a:txBody>
                  <a:tcPr marL="59540" marR="59540" marT="29770" marB="29770" anchor="ctr">
                    <a:lnL>
                      <a:noFill/>
                    </a:lnL>
                    <a:lnR>
                      <a:noFill/>
                    </a:lnR>
                    <a:lnT>
                      <a:noFill/>
                    </a:lnT>
                    <a:lnB>
                      <a:noFill/>
                    </a:lnB>
                    <a:solidFill>
                      <a:schemeClr val="bg2"/>
                    </a:solidFill>
                  </a:tcPr>
                </a:tc>
                <a:tc>
                  <a:txBody>
                    <a:bodyPr/>
                    <a:lstStyle/>
                    <a:p>
                      <a:r>
                        <a:rPr lang="en-US" sz="1400" dirty="0">
                          <a:solidFill>
                            <a:srgbClr val="00B050"/>
                          </a:solidFill>
                          <a:latin typeface="Bookman Old Style" pitchFamily="18" charset="0"/>
                        </a:rPr>
                        <a:t>       E</a:t>
                      </a:r>
                    </a:p>
                  </a:txBody>
                  <a:tcPr marL="59540" marR="59540" marT="29770" marB="29770" anchor="ctr">
                    <a:lnL>
                      <a:noFill/>
                    </a:lnL>
                    <a:lnR>
                      <a:noFill/>
                    </a:lnR>
                    <a:lnT>
                      <a:noFill/>
                    </a:lnT>
                    <a:lnB>
                      <a:noFill/>
                    </a:lnB>
                    <a:solidFill>
                      <a:schemeClr val="bg2"/>
                    </a:solidFill>
                  </a:tcPr>
                </a:tc>
                <a:extLst>
                  <a:ext uri="{0D108BD9-81ED-4DB2-BD59-A6C34878D82A}">
                    <a16:rowId xmlns:a16="http://schemas.microsoft.com/office/drawing/2014/main" val="10009"/>
                  </a:ext>
                </a:extLst>
              </a:tr>
            </a:tbl>
          </a:graphicData>
        </a:graphic>
      </p:graphicFrame>
      <p:sp>
        <p:nvSpPr>
          <p:cNvPr id="2" name="Slide Number Placeholder 1">
            <a:extLst>
              <a:ext uri="{FF2B5EF4-FFF2-40B4-BE49-F238E27FC236}">
                <a16:creationId xmlns:a16="http://schemas.microsoft.com/office/drawing/2014/main" id="{CFC6FF02-B238-5165-C395-C50CD33B4905}"/>
              </a:ext>
            </a:extLst>
          </p:cNvPr>
          <p:cNvSpPr>
            <a:spLocks noGrp="1"/>
          </p:cNvSpPr>
          <p:nvPr>
            <p:ph type="sldNum" sz="quarter" idx="12"/>
          </p:nvPr>
        </p:nvSpPr>
        <p:spPr/>
        <p:txBody>
          <a:bodyPr/>
          <a:lstStyle/>
          <a:p>
            <a:fld id="{30BB16E2-1063-4ECC-B0F4-DD6A8CC0C30D}" type="slidenum">
              <a:rPr lang="en-US" smtClean="0"/>
              <a:pPr/>
              <a:t>43</a:t>
            </a:fld>
            <a:endParaRPr lang="en-US"/>
          </a:p>
        </p:txBody>
      </p:sp>
      <p:sp>
        <p:nvSpPr>
          <p:cNvPr id="6" name="Title 1">
            <a:extLst>
              <a:ext uri="{FF2B5EF4-FFF2-40B4-BE49-F238E27FC236}">
                <a16:creationId xmlns:a16="http://schemas.microsoft.com/office/drawing/2014/main" id="{EEF8DC23-583F-5F8A-D283-96712DEE841D}"/>
              </a:ext>
            </a:extLst>
          </p:cNvPr>
          <p:cNvSpPr txBox="1">
            <a:spLocks/>
          </p:cNvSpPr>
          <p:nvPr/>
        </p:nvSpPr>
        <p:spPr>
          <a:xfrm>
            <a:off x="187701" y="0"/>
            <a:ext cx="11880252" cy="7775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735">
                <a:solidFill>
                  <a:srgbClr val="FF0000"/>
                </a:solidFill>
                <a:latin typeface="Copperplate Gothic Light" pitchFamily="34" charset="0"/>
              </a:rPr>
              <a:t>Relational Algebra – Fundamental  Operators and syntax</a:t>
            </a:r>
            <a:endParaRPr lang="en-US" sz="3125" dirty="0">
              <a:solidFill>
                <a:srgbClr val="FF0000"/>
              </a:solidFill>
              <a:latin typeface="Copperplate Gothic Light"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39B7E9-0BEF-6624-4556-A1AF1324245D}"/>
              </a:ext>
            </a:extLst>
          </p:cNvPr>
          <p:cNvSpPr>
            <a:spLocks noGrp="1"/>
          </p:cNvSpPr>
          <p:nvPr>
            <p:ph type="sldNum" sz="quarter" idx="12"/>
          </p:nvPr>
        </p:nvSpPr>
        <p:spPr/>
        <p:txBody>
          <a:bodyPr/>
          <a:lstStyle/>
          <a:p>
            <a:fld id="{30BB16E2-1063-4ECC-B0F4-DD6A8CC0C30D}" type="slidenum">
              <a:rPr lang="en-US" smtClean="0"/>
              <a:pPr/>
              <a:t>44</a:t>
            </a:fld>
            <a:endParaRPr lang="en-US"/>
          </a:p>
        </p:txBody>
      </p:sp>
      <p:pic>
        <p:nvPicPr>
          <p:cNvPr id="6" name="Picture 5">
            <a:extLst>
              <a:ext uri="{FF2B5EF4-FFF2-40B4-BE49-F238E27FC236}">
                <a16:creationId xmlns:a16="http://schemas.microsoft.com/office/drawing/2014/main" id="{6EC6192B-1429-CDE1-1A8C-D0E109F44E1A}"/>
              </a:ext>
            </a:extLst>
          </p:cNvPr>
          <p:cNvPicPr>
            <a:picLocks noChangeAspect="1"/>
          </p:cNvPicPr>
          <p:nvPr/>
        </p:nvPicPr>
        <p:blipFill>
          <a:blip r:embed="rId2"/>
          <a:stretch>
            <a:fillRect/>
          </a:stretch>
        </p:blipFill>
        <p:spPr>
          <a:xfrm>
            <a:off x="1266012" y="1138967"/>
            <a:ext cx="9659975" cy="5123340"/>
          </a:xfrm>
          <a:prstGeom prst="rect">
            <a:avLst/>
          </a:prstGeom>
        </p:spPr>
      </p:pic>
      <p:pic>
        <p:nvPicPr>
          <p:cNvPr id="8" name="Picture 7">
            <a:extLst>
              <a:ext uri="{FF2B5EF4-FFF2-40B4-BE49-F238E27FC236}">
                <a16:creationId xmlns:a16="http://schemas.microsoft.com/office/drawing/2014/main" id="{26C7F3E5-B57C-4A01-B63C-CA415F9118B6}"/>
              </a:ext>
            </a:extLst>
          </p:cNvPr>
          <p:cNvPicPr>
            <a:picLocks noChangeAspect="1"/>
          </p:cNvPicPr>
          <p:nvPr/>
        </p:nvPicPr>
        <p:blipFill>
          <a:blip r:embed="rId3"/>
          <a:stretch>
            <a:fillRect/>
          </a:stretch>
        </p:blipFill>
        <p:spPr>
          <a:xfrm>
            <a:off x="2521748" y="304660"/>
            <a:ext cx="7148501" cy="834307"/>
          </a:xfrm>
          <a:prstGeom prst="rect">
            <a:avLst/>
          </a:prstGeom>
        </p:spPr>
      </p:pic>
    </p:spTree>
    <p:extLst>
      <p:ext uri="{BB962C8B-B14F-4D97-AF65-F5344CB8AC3E}">
        <p14:creationId xmlns:p14="http://schemas.microsoft.com/office/powerpoint/2010/main" val="174867486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A6F1B7-45C2-E510-39D9-A4B86884E0D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93B0480-C1FC-5194-8D02-AEDCF1564B67}"/>
              </a:ext>
            </a:extLst>
          </p:cNvPr>
          <p:cNvSpPr>
            <a:spLocks noGrp="1"/>
          </p:cNvSpPr>
          <p:nvPr>
            <p:ph type="sldNum" sz="quarter" idx="12"/>
          </p:nvPr>
        </p:nvSpPr>
        <p:spPr/>
        <p:txBody>
          <a:bodyPr/>
          <a:lstStyle/>
          <a:p>
            <a:fld id="{30BB16E2-1063-4ECC-B0F4-DD6A8CC0C30D}" type="slidenum">
              <a:rPr lang="en-US" smtClean="0"/>
              <a:pPr/>
              <a:t>45</a:t>
            </a:fld>
            <a:endParaRPr lang="en-US"/>
          </a:p>
        </p:txBody>
      </p:sp>
      <p:pic>
        <p:nvPicPr>
          <p:cNvPr id="6" name="Picture 5">
            <a:extLst>
              <a:ext uri="{FF2B5EF4-FFF2-40B4-BE49-F238E27FC236}">
                <a16:creationId xmlns:a16="http://schemas.microsoft.com/office/drawing/2014/main" id="{2555A0B4-C8F2-C649-187B-37B7D87AEEB7}"/>
              </a:ext>
            </a:extLst>
          </p:cNvPr>
          <p:cNvPicPr>
            <a:picLocks noChangeAspect="1"/>
          </p:cNvPicPr>
          <p:nvPr/>
        </p:nvPicPr>
        <p:blipFill>
          <a:blip r:embed="rId2"/>
          <a:stretch>
            <a:fillRect/>
          </a:stretch>
        </p:blipFill>
        <p:spPr>
          <a:xfrm>
            <a:off x="542150" y="1957182"/>
            <a:ext cx="11107700" cy="2943636"/>
          </a:xfrm>
          <a:prstGeom prst="rect">
            <a:avLst/>
          </a:prstGeom>
        </p:spPr>
      </p:pic>
      <p:pic>
        <p:nvPicPr>
          <p:cNvPr id="7" name="Picture 6">
            <a:extLst>
              <a:ext uri="{FF2B5EF4-FFF2-40B4-BE49-F238E27FC236}">
                <a16:creationId xmlns:a16="http://schemas.microsoft.com/office/drawing/2014/main" id="{56CB9519-3BE4-F5C5-C86C-C1E6AEF820B0}"/>
              </a:ext>
            </a:extLst>
          </p:cNvPr>
          <p:cNvPicPr>
            <a:picLocks noChangeAspect="1"/>
          </p:cNvPicPr>
          <p:nvPr/>
        </p:nvPicPr>
        <p:blipFill>
          <a:blip r:embed="rId3"/>
          <a:stretch>
            <a:fillRect/>
          </a:stretch>
        </p:blipFill>
        <p:spPr>
          <a:xfrm>
            <a:off x="186771" y="309899"/>
            <a:ext cx="11818458" cy="966632"/>
          </a:xfrm>
          <a:prstGeom prst="rect">
            <a:avLst/>
          </a:prstGeom>
        </p:spPr>
      </p:pic>
    </p:spTree>
    <p:extLst>
      <p:ext uri="{BB962C8B-B14F-4D97-AF65-F5344CB8AC3E}">
        <p14:creationId xmlns:p14="http://schemas.microsoft.com/office/powerpoint/2010/main" val="153315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2B195-DB89-15B5-F144-72C863667431}"/>
              </a:ext>
            </a:extLst>
          </p:cNvPr>
          <p:cNvSpPr>
            <a:spLocks noGrp="1"/>
          </p:cNvSpPr>
          <p:nvPr>
            <p:ph type="title"/>
          </p:nvPr>
        </p:nvSpPr>
        <p:spPr/>
        <p:txBody>
          <a:bodyPr/>
          <a:lstStyle/>
          <a:p>
            <a:r>
              <a:rPr lang="en-IN" dirty="0"/>
              <a:t>Join Operation</a:t>
            </a:r>
          </a:p>
        </p:txBody>
      </p:sp>
      <p:sp>
        <p:nvSpPr>
          <p:cNvPr id="3" name="Content Placeholder 2">
            <a:extLst>
              <a:ext uri="{FF2B5EF4-FFF2-40B4-BE49-F238E27FC236}">
                <a16:creationId xmlns:a16="http://schemas.microsoft.com/office/drawing/2014/main" id="{9D359FC1-C9AF-A99D-593F-95512297EFFD}"/>
              </a:ext>
            </a:extLst>
          </p:cNvPr>
          <p:cNvSpPr>
            <a:spLocks noGrp="1"/>
          </p:cNvSpPr>
          <p:nvPr>
            <p:ph idx="1"/>
          </p:nvPr>
        </p:nvSpPr>
        <p:spPr/>
        <p:txBody>
          <a:bodyPr/>
          <a:lstStyle/>
          <a:p>
            <a:pPr algn="just">
              <a:lnSpc>
                <a:spcPct val="100000"/>
              </a:lnSpc>
            </a:pPr>
            <a:r>
              <a:rPr lang="en-IN" dirty="0"/>
              <a:t>The join operation allows us to combine a selection and a Cartesian product into a single operation.</a:t>
            </a:r>
          </a:p>
          <a:p>
            <a:pPr algn="just">
              <a:lnSpc>
                <a:spcPct val="100000"/>
              </a:lnSpc>
            </a:pPr>
            <a:endParaRPr lang="en-IN" dirty="0"/>
          </a:p>
        </p:txBody>
      </p:sp>
      <p:sp>
        <p:nvSpPr>
          <p:cNvPr id="4" name="Slide Number Placeholder 3">
            <a:extLst>
              <a:ext uri="{FF2B5EF4-FFF2-40B4-BE49-F238E27FC236}">
                <a16:creationId xmlns:a16="http://schemas.microsoft.com/office/drawing/2014/main" id="{5AE580E2-298C-414B-386D-F0452E1A8775}"/>
              </a:ext>
            </a:extLst>
          </p:cNvPr>
          <p:cNvSpPr>
            <a:spLocks noGrp="1"/>
          </p:cNvSpPr>
          <p:nvPr>
            <p:ph type="sldNum" sz="quarter" idx="12"/>
          </p:nvPr>
        </p:nvSpPr>
        <p:spPr/>
        <p:txBody>
          <a:bodyPr/>
          <a:lstStyle/>
          <a:p>
            <a:fld id="{30BB16E2-1063-4ECC-B0F4-DD6A8CC0C30D}" type="slidenum">
              <a:rPr lang="en-US" smtClean="0"/>
              <a:pPr/>
              <a:t>46</a:t>
            </a:fld>
            <a:endParaRPr lang="en-US"/>
          </a:p>
        </p:txBody>
      </p:sp>
      <p:pic>
        <p:nvPicPr>
          <p:cNvPr id="6" name="Picture 5">
            <a:extLst>
              <a:ext uri="{FF2B5EF4-FFF2-40B4-BE49-F238E27FC236}">
                <a16:creationId xmlns:a16="http://schemas.microsoft.com/office/drawing/2014/main" id="{55CFB73E-6F3B-CE66-8981-CCDFC8466D05}"/>
              </a:ext>
            </a:extLst>
          </p:cNvPr>
          <p:cNvPicPr>
            <a:picLocks noChangeAspect="1"/>
          </p:cNvPicPr>
          <p:nvPr/>
        </p:nvPicPr>
        <p:blipFill>
          <a:blip r:embed="rId2"/>
          <a:stretch>
            <a:fillRect/>
          </a:stretch>
        </p:blipFill>
        <p:spPr>
          <a:xfrm>
            <a:off x="297498" y="3174358"/>
            <a:ext cx="11597003" cy="1560479"/>
          </a:xfrm>
          <a:prstGeom prst="rect">
            <a:avLst/>
          </a:prstGeom>
        </p:spPr>
      </p:pic>
      <p:sp>
        <p:nvSpPr>
          <p:cNvPr id="18" name="TextBox 17">
            <a:extLst>
              <a:ext uri="{FF2B5EF4-FFF2-40B4-BE49-F238E27FC236}">
                <a16:creationId xmlns:a16="http://schemas.microsoft.com/office/drawing/2014/main" id="{BF1DA17E-1EE1-ADE4-416E-F239A3879201}"/>
              </a:ext>
            </a:extLst>
          </p:cNvPr>
          <p:cNvSpPr txBox="1"/>
          <p:nvPr/>
        </p:nvSpPr>
        <p:spPr>
          <a:xfrm>
            <a:off x="838200" y="4734837"/>
            <a:ext cx="2904460" cy="923330"/>
          </a:xfrm>
          <a:prstGeom prst="rect">
            <a:avLst/>
          </a:prstGeom>
          <a:solidFill>
            <a:schemeClr val="accent4">
              <a:lumMod val="20000"/>
              <a:lumOff val="80000"/>
            </a:schemeClr>
          </a:solidFill>
        </p:spPr>
        <p:txBody>
          <a:bodyPr wrap="square" rtlCol="0">
            <a:spAutoFit/>
          </a:bodyPr>
          <a:lstStyle/>
          <a:p>
            <a:r>
              <a:rPr lang="en-IN" dirty="0"/>
              <a:t>To select the course taught by the instructor using Join operation</a:t>
            </a:r>
          </a:p>
        </p:txBody>
      </p:sp>
      <p:pic>
        <p:nvPicPr>
          <p:cNvPr id="20" name="Picture 19">
            <a:extLst>
              <a:ext uri="{FF2B5EF4-FFF2-40B4-BE49-F238E27FC236}">
                <a16:creationId xmlns:a16="http://schemas.microsoft.com/office/drawing/2014/main" id="{C6A7CBC4-A33C-360F-9C3F-1C3762EB9056}"/>
              </a:ext>
            </a:extLst>
          </p:cNvPr>
          <p:cNvPicPr>
            <a:picLocks noChangeAspect="1"/>
          </p:cNvPicPr>
          <p:nvPr/>
        </p:nvPicPr>
        <p:blipFill>
          <a:blip r:embed="rId3"/>
          <a:stretch>
            <a:fillRect/>
          </a:stretch>
        </p:blipFill>
        <p:spPr>
          <a:xfrm>
            <a:off x="6662534" y="66529"/>
            <a:ext cx="1333686" cy="1590897"/>
          </a:xfrm>
          <a:prstGeom prst="rect">
            <a:avLst/>
          </a:prstGeom>
        </p:spPr>
      </p:pic>
      <p:pic>
        <p:nvPicPr>
          <p:cNvPr id="22" name="Picture 21">
            <a:extLst>
              <a:ext uri="{FF2B5EF4-FFF2-40B4-BE49-F238E27FC236}">
                <a16:creationId xmlns:a16="http://schemas.microsoft.com/office/drawing/2014/main" id="{A643C579-09CA-0217-683C-A0F017E219F0}"/>
              </a:ext>
            </a:extLst>
          </p:cNvPr>
          <p:cNvPicPr>
            <a:picLocks noChangeAspect="1"/>
          </p:cNvPicPr>
          <p:nvPr/>
        </p:nvPicPr>
        <p:blipFill>
          <a:blip r:embed="rId4"/>
          <a:stretch>
            <a:fillRect/>
          </a:stretch>
        </p:blipFill>
        <p:spPr>
          <a:xfrm>
            <a:off x="8316774" y="91049"/>
            <a:ext cx="1419423" cy="1667108"/>
          </a:xfrm>
          <a:prstGeom prst="rect">
            <a:avLst/>
          </a:prstGeom>
        </p:spPr>
      </p:pic>
      <p:pic>
        <p:nvPicPr>
          <p:cNvPr id="7" name="Picture 6">
            <a:extLst>
              <a:ext uri="{FF2B5EF4-FFF2-40B4-BE49-F238E27FC236}">
                <a16:creationId xmlns:a16="http://schemas.microsoft.com/office/drawing/2014/main" id="{A71C09C1-A620-AD57-3B88-5FED8E0F13BA}"/>
              </a:ext>
            </a:extLst>
          </p:cNvPr>
          <p:cNvPicPr>
            <a:picLocks noChangeAspect="1"/>
          </p:cNvPicPr>
          <p:nvPr/>
        </p:nvPicPr>
        <p:blipFill>
          <a:blip r:embed="rId5"/>
          <a:stretch>
            <a:fillRect/>
          </a:stretch>
        </p:blipFill>
        <p:spPr>
          <a:xfrm>
            <a:off x="4004612" y="5658167"/>
            <a:ext cx="5792008" cy="419158"/>
          </a:xfrm>
          <a:prstGeom prst="rect">
            <a:avLst/>
          </a:prstGeom>
        </p:spPr>
      </p:pic>
      <p:pic>
        <p:nvPicPr>
          <p:cNvPr id="11" name="Picture 10">
            <a:extLst>
              <a:ext uri="{FF2B5EF4-FFF2-40B4-BE49-F238E27FC236}">
                <a16:creationId xmlns:a16="http://schemas.microsoft.com/office/drawing/2014/main" id="{1AA4498E-EBDB-94DB-23A1-066FB5F20CDB}"/>
              </a:ext>
            </a:extLst>
          </p:cNvPr>
          <p:cNvPicPr>
            <a:picLocks noChangeAspect="1"/>
          </p:cNvPicPr>
          <p:nvPr/>
        </p:nvPicPr>
        <p:blipFill>
          <a:blip r:embed="rId6"/>
          <a:stretch>
            <a:fillRect/>
          </a:stretch>
        </p:blipFill>
        <p:spPr>
          <a:xfrm>
            <a:off x="4113043" y="4691305"/>
            <a:ext cx="6134956" cy="523948"/>
          </a:xfrm>
          <a:prstGeom prst="rect">
            <a:avLst/>
          </a:prstGeom>
        </p:spPr>
      </p:pic>
    </p:spTree>
    <p:extLst>
      <p:ext uri="{BB962C8B-B14F-4D97-AF65-F5344CB8AC3E}">
        <p14:creationId xmlns:p14="http://schemas.microsoft.com/office/powerpoint/2010/main" val="1011361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500" y="986896"/>
            <a:ext cx="11038971" cy="5348594"/>
          </a:xfrm>
        </p:spPr>
        <p:txBody>
          <a:bodyPr/>
          <a:lstStyle/>
          <a:p>
            <a:pPr>
              <a:buNone/>
            </a:pPr>
            <a:r>
              <a:rPr lang="en-US" sz="2735" b="1" dirty="0">
                <a:solidFill>
                  <a:srgbClr val="C00000"/>
                </a:solidFill>
                <a:latin typeface="Copperplate Gothic Light" pitchFamily="34" charset="0"/>
              </a:rPr>
              <a:t>Rename Operation (</a:t>
            </a:r>
            <a:r>
              <a:rPr lang="el-GR" sz="2735" b="1" dirty="0">
                <a:solidFill>
                  <a:srgbClr val="C00000"/>
                </a:solidFill>
              </a:rPr>
              <a:t>ρ)</a:t>
            </a:r>
            <a:endParaRPr lang="en-US" sz="2735" b="1" dirty="0">
              <a:solidFill>
                <a:srgbClr val="C00000"/>
              </a:solidFill>
            </a:endParaRPr>
          </a:p>
          <a:p>
            <a:pPr>
              <a:buNone/>
            </a:pPr>
            <a:r>
              <a:rPr lang="en-US" sz="2539" dirty="0">
                <a:solidFill>
                  <a:srgbClr val="213AF1"/>
                </a:solidFill>
                <a:latin typeface="Bookman Old Style" pitchFamily="18" charset="0"/>
              </a:rPr>
              <a:t>The rename operation allows us to rename the output relation.</a:t>
            </a:r>
            <a:endParaRPr lang="el-GR" sz="2539" dirty="0">
              <a:solidFill>
                <a:srgbClr val="213AF1"/>
              </a:solidFill>
              <a:latin typeface="Bookman Old Style" pitchFamily="18" charset="0"/>
            </a:endParaRPr>
          </a:p>
          <a:p>
            <a:pPr>
              <a:buNone/>
            </a:pPr>
            <a:r>
              <a:rPr lang="en-US" sz="2344" b="1" dirty="0">
                <a:solidFill>
                  <a:srgbClr val="C00000"/>
                </a:solidFill>
                <a:latin typeface="Copperplate Gothic Light" pitchFamily="34" charset="0"/>
              </a:rPr>
              <a:t>Notation</a:t>
            </a:r>
            <a:r>
              <a:rPr lang="en-US" sz="2344" dirty="0">
                <a:solidFill>
                  <a:srgbClr val="C00000"/>
                </a:solidFill>
                <a:latin typeface="Copperplate Gothic Light" pitchFamily="34" charset="0"/>
              </a:rPr>
              <a:t> : </a:t>
            </a:r>
            <a:r>
              <a:rPr lang="el-GR" sz="2735" i="1" dirty="0">
                <a:solidFill>
                  <a:srgbClr val="213AF1"/>
                </a:solidFill>
                <a:latin typeface="Bookman Old Style" pitchFamily="18" charset="0"/>
              </a:rPr>
              <a:t>ρ</a:t>
            </a:r>
            <a:r>
              <a:rPr lang="el-GR" sz="2735" dirty="0">
                <a:solidFill>
                  <a:srgbClr val="213AF1"/>
                </a:solidFill>
                <a:latin typeface="Bookman Old Style" pitchFamily="18" charset="0"/>
              </a:rPr>
              <a:t> </a:t>
            </a:r>
            <a:r>
              <a:rPr lang="en-US" sz="2735" baseline="-25000" dirty="0">
                <a:solidFill>
                  <a:srgbClr val="213AF1"/>
                </a:solidFill>
                <a:latin typeface="Bookman Old Style" pitchFamily="18" charset="0"/>
              </a:rPr>
              <a:t>x</a:t>
            </a:r>
            <a:r>
              <a:rPr lang="en-US" sz="2735" dirty="0">
                <a:solidFill>
                  <a:srgbClr val="213AF1"/>
                </a:solidFill>
                <a:latin typeface="Bookman Old Style" pitchFamily="18" charset="0"/>
              </a:rPr>
              <a:t> (E)</a:t>
            </a:r>
          </a:p>
          <a:p>
            <a:pPr>
              <a:buNone/>
            </a:pPr>
            <a:r>
              <a:rPr lang="en-US" sz="2539" dirty="0">
                <a:solidFill>
                  <a:srgbClr val="213AF1"/>
                </a:solidFill>
                <a:latin typeface="Bookman Old Style" pitchFamily="18" charset="0"/>
              </a:rPr>
              <a:t>Where the result of expression E is saved with name of x.</a:t>
            </a:r>
          </a:p>
          <a:p>
            <a:pPr>
              <a:buNone/>
            </a:pPr>
            <a:r>
              <a:rPr lang="en-US" sz="4000" dirty="0" err="1">
                <a:solidFill>
                  <a:srgbClr val="213AF1"/>
                </a:solidFill>
                <a:latin typeface="Bookman Old Style" pitchFamily="18" charset="0"/>
              </a:rPr>
              <a:t>ρ</a:t>
            </a:r>
            <a:r>
              <a:rPr lang="en-US" sz="2539" dirty="0" err="1">
                <a:solidFill>
                  <a:srgbClr val="213AF1"/>
                </a:solidFill>
                <a:latin typeface="Bookman Old Style" pitchFamily="18" charset="0"/>
              </a:rPr>
              <a:t>newname,newbranch</a:t>
            </a:r>
            <a:r>
              <a:rPr lang="en-US" sz="2539" dirty="0">
                <a:solidFill>
                  <a:srgbClr val="213AF1"/>
                </a:solidFill>
                <a:latin typeface="Bookman Old Style" pitchFamily="18" charset="0"/>
              </a:rPr>
              <a:t>(∏</a:t>
            </a:r>
            <a:r>
              <a:rPr lang="en-US" sz="2539" dirty="0" err="1">
                <a:solidFill>
                  <a:srgbClr val="213AF1"/>
                </a:solidFill>
                <a:latin typeface="Bookman Old Style" pitchFamily="18" charset="0"/>
              </a:rPr>
              <a:t>name,branch</a:t>
            </a:r>
            <a:r>
              <a:rPr lang="en-US" sz="2539" dirty="0">
                <a:solidFill>
                  <a:srgbClr val="213AF1"/>
                </a:solidFill>
                <a:latin typeface="Bookman Old Style" pitchFamily="18" charset="0"/>
              </a:rPr>
              <a:t>( student))</a:t>
            </a:r>
          </a:p>
        </p:txBody>
      </p:sp>
      <p:sp>
        <p:nvSpPr>
          <p:cNvPr id="2" name="Slide Number Placeholder 1">
            <a:extLst>
              <a:ext uri="{FF2B5EF4-FFF2-40B4-BE49-F238E27FC236}">
                <a16:creationId xmlns:a16="http://schemas.microsoft.com/office/drawing/2014/main" id="{73E903AA-7814-8014-592D-80B7543A41ED}"/>
              </a:ext>
            </a:extLst>
          </p:cNvPr>
          <p:cNvSpPr>
            <a:spLocks noGrp="1"/>
          </p:cNvSpPr>
          <p:nvPr>
            <p:ph type="sldNum" sz="quarter" idx="12"/>
          </p:nvPr>
        </p:nvSpPr>
        <p:spPr/>
        <p:txBody>
          <a:bodyPr/>
          <a:lstStyle/>
          <a:p>
            <a:fld id="{30BB16E2-1063-4ECC-B0F4-DD6A8CC0C30D}" type="slidenum">
              <a:rPr lang="en-US" smtClean="0"/>
              <a:pPr/>
              <a:t>47</a:t>
            </a:fld>
            <a:endParaRPr lang="en-US"/>
          </a:p>
        </p:txBody>
      </p:sp>
      <p:sp>
        <p:nvSpPr>
          <p:cNvPr id="6" name="Title 1">
            <a:extLst>
              <a:ext uri="{FF2B5EF4-FFF2-40B4-BE49-F238E27FC236}">
                <a16:creationId xmlns:a16="http://schemas.microsoft.com/office/drawing/2014/main" id="{3175234A-B2D1-D4FE-0BDE-AB2A41AB0581}"/>
              </a:ext>
            </a:extLst>
          </p:cNvPr>
          <p:cNvSpPr txBox="1">
            <a:spLocks/>
          </p:cNvSpPr>
          <p:nvPr/>
        </p:nvSpPr>
        <p:spPr>
          <a:xfrm>
            <a:off x="187701" y="0"/>
            <a:ext cx="11880252" cy="77757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735">
                <a:solidFill>
                  <a:srgbClr val="FF0000"/>
                </a:solidFill>
                <a:latin typeface="Copperplate Gothic Light" pitchFamily="34" charset="0"/>
              </a:rPr>
              <a:t>Relational Algebra – Fundamental  Operators and syntax</a:t>
            </a:r>
            <a:endParaRPr lang="en-US" sz="3125" dirty="0">
              <a:solidFill>
                <a:srgbClr val="FF0000"/>
              </a:solidFill>
              <a:latin typeface="Copperplate Gothic Light"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4DF34-9142-8764-3B72-058CB6AF85AD}"/>
              </a:ext>
            </a:extLst>
          </p:cNvPr>
          <p:cNvSpPr>
            <a:spLocks noGrp="1"/>
          </p:cNvSpPr>
          <p:nvPr>
            <p:ph type="title"/>
          </p:nvPr>
        </p:nvSpPr>
        <p:spPr/>
        <p:txBody>
          <a:bodyPr/>
          <a:lstStyle/>
          <a:p>
            <a:r>
              <a:rPr lang="en-IN" sz="4400" dirty="0">
                <a:solidFill>
                  <a:srgbClr val="213AF1"/>
                </a:solidFill>
                <a:latin typeface="Bookman Old Style" pitchFamily="18" charset="0"/>
              </a:rPr>
              <a:t>Assignment Operation (</a:t>
            </a:r>
            <a:r>
              <a:rPr lang="en-IN" sz="4400" dirty="0">
                <a:solidFill>
                  <a:srgbClr val="0000FF"/>
                </a:solidFill>
              </a:rPr>
              <a:t>←</a:t>
            </a:r>
            <a:r>
              <a:rPr lang="en-IN" sz="4400" dirty="0">
                <a:solidFill>
                  <a:srgbClr val="213AF1"/>
                </a:solidFill>
                <a:latin typeface="Bookman Old Style" pitchFamily="18" charset="0"/>
              </a:rPr>
              <a:t>)</a:t>
            </a:r>
            <a:endParaRPr lang="en-IN" dirty="0"/>
          </a:p>
        </p:txBody>
      </p:sp>
      <p:sp>
        <p:nvSpPr>
          <p:cNvPr id="3" name="Content Placeholder 2">
            <a:extLst>
              <a:ext uri="{FF2B5EF4-FFF2-40B4-BE49-F238E27FC236}">
                <a16:creationId xmlns:a16="http://schemas.microsoft.com/office/drawing/2014/main" id="{AAAD5E2A-7E2B-B6B6-8788-CB10071B6F64}"/>
              </a:ext>
            </a:extLst>
          </p:cNvPr>
          <p:cNvSpPr>
            <a:spLocks noGrp="1"/>
          </p:cNvSpPr>
          <p:nvPr>
            <p:ph idx="1"/>
          </p:nvPr>
        </p:nvSpPr>
        <p:spPr/>
        <p:txBody>
          <a:bodyPr/>
          <a:lstStyle/>
          <a:p>
            <a:r>
              <a:rPr lang="en-IN" dirty="0"/>
              <a:t>The assignment operation is used to </a:t>
            </a:r>
            <a:r>
              <a:rPr lang="en-US" dirty="0"/>
              <a:t>write a relational-algebra expression by assigning parts of it to temporary relation variables.</a:t>
            </a:r>
            <a:endParaRPr lang="en-IN" dirty="0"/>
          </a:p>
        </p:txBody>
      </p:sp>
      <p:sp>
        <p:nvSpPr>
          <p:cNvPr id="4" name="Slide Number Placeholder 3">
            <a:extLst>
              <a:ext uri="{FF2B5EF4-FFF2-40B4-BE49-F238E27FC236}">
                <a16:creationId xmlns:a16="http://schemas.microsoft.com/office/drawing/2014/main" id="{C91A18B0-4C38-8620-DA80-0F9587373C7E}"/>
              </a:ext>
            </a:extLst>
          </p:cNvPr>
          <p:cNvSpPr>
            <a:spLocks noGrp="1"/>
          </p:cNvSpPr>
          <p:nvPr>
            <p:ph type="sldNum" sz="quarter" idx="12"/>
          </p:nvPr>
        </p:nvSpPr>
        <p:spPr/>
        <p:txBody>
          <a:bodyPr/>
          <a:lstStyle/>
          <a:p>
            <a:fld id="{30BB16E2-1063-4ECC-B0F4-DD6A8CC0C30D}" type="slidenum">
              <a:rPr lang="en-US" smtClean="0"/>
              <a:pPr/>
              <a:t>48</a:t>
            </a:fld>
            <a:endParaRPr lang="en-US"/>
          </a:p>
        </p:txBody>
      </p:sp>
      <p:pic>
        <p:nvPicPr>
          <p:cNvPr id="6" name="Picture 5">
            <a:extLst>
              <a:ext uri="{FF2B5EF4-FFF2-40B4-BE49-F238E27FC236}">
                <a16:creationId xmlns:a16="http://schemas.microsoft.com/office/drawing/2014/main" id="{241D685E-1FE1-3B5B-FD8F-FECEF9CA3BFC}"/>
              </a:ext>
            </a:extLst>
          </p:cNvPr>
          <p:cNvPicPr>
            <a:picLocks noChangeAspect="1"/>
          </p:cNvPicPr>
          <p:nvPr/>
        </p:nvPicPr>
        <p:blipFill>
          <a:blip r:embed="rId2"/>
          <a:stretch>
            <a:fillRect/>
          </a:stretch>
        </p:blipFill>
        <p:spPr>
          <a:xfrm>
            <a:off x="1170154" y="3248714"/>
            <a:ext cx="10183646" cy="1505160"/>
          </a:xfrm>
          <a:prstGeom prst="rect">
            <a:avLst/>
          </a:prstGeom>
        </p:spPr>
      </p:pic>
    </p:spTree>
    <p:extLst>
      <p:ext uri="{BB962C8B-B14F-4D97-AF65-F5344CB8AC3E}">
        <p14:creationId xmlns:p14="http://schemas.microsoft.com/office/powerpoint/2010/main" val="254705396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348A48-4D84-E6C5-FCF4-D480019EAD9A}"/>
              </a:ext>
            </a:extLst>
          </p:cNvPr>
          <p:cNvSpPr>
            <a:spLocks noGrp="1"/>
          </p:cNvSpPr>
          <p:nvPr>
            <p:ph type="ctrTitle"/>
          </p:nvPr>
        </p:nvSpPr>
        <p:spPr/>
        <p:txBody>
          <a:bodyPr/>
          <a:lstStyle/>
          <a:p>
            <a:pPr algn="r"/>
            <a:r>
              <a:rPr lang="en-IN" dirty="0"/>
              <a:t>Tuple Relational Calculus</a:t>
            </a:r>
          </a:p>
        </p:txBody>
      </p:sp>
      <p:sp>
        <p:nvSpPr>
          <p:cNvPr id="6" name="Subtitle 5">
            <a:extLst>
              <a:ext uri="{FF2B5EF4-FFF2-40B4-BE49-F238E27FC236}">
                <a16:creationId xmlns:a16="http://schemas.microsoft.com/office/drawing/2014/main" id="{1A29F6E1-C308-0695-C7B4-3B5E2B1F48C3}"/>
              </a:ext>
            </a:extLst>
          </p:cNvPr>
          <p:cNvSpPr>
            <a:spLocks noGrp="1"/>
          </p:cNvSpPr>
          <p:nvPr>
            <p:ph type="subTitle" idx="1"/>
          </p:nvPr>
        </p:nvSpPr>
        <p:spPr/>
        <p:txBody>
          <a:bodyPr/>
          <a:lstStyle/>
          <a:p>
            <a:endParaRPr lang="en-IN"/>
          </a:p>
        </p:txBody>
      </p:sp>
      <p:sp>
        <p:nvSpPr>
          <p:cNvPr id="4" name="Slide Number Placeholder 3">
            <a:extLst>
              <a:ext uri="{FF2B5EF4-FFF2-40B4-BE49-F238E27FC236}">
                <a16:creationId xmlns:a16="http://schemas.microsoft.com/office/drawing/2014/main" id="{4FB61875-38A0-DD42-53A1-508AC0D3E210}"/>
              </a:ext>
            </a:extLst>
          </p:cNvPr>
          <p:cNvSpPr>
            <a:spLocks noGrp="1"/>
          </p:cNvSpPr>
          <p:nvPr>
            <p:ph type="sldNum" sz="quarter" idx="12"/>
          </p:nvPr>
        </p:nvSpPr>
        <p:spPr/>
        <p:txBody>
          <a:bodyPr/>
          <a:lstStyle/>
          <a:p>
            <a:fld id="{30BB16E2-1063-4ECC-B0F4-DD6A8CC0C30D}" type="slidenum">
              <a:rPr lang="en-US" smtClean="0"/>
              <a:pPr/>
              <a:t>49</a:t>
            </a:fld>
            <a:endParaRPr lang="en-US"/>
          </a:p>
        </p:txBody>
      </p:sp>
    </p:spTree>
    <p:extLst>
      <p:ext uri="{BB962C8B-B14F-4D97-AF65-F5344CB8AC3E}">
        <p14:creationId xmlns:p14="http://schemas.microsoft.com/office/powerpoint/2010/main" val="253287540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4274" y="917122"/>
            <a:ext cx="11443001" cy="5442403"/>
          </a:xfrm>
        </p:spPr>
        <p:txBody>
          <a:bodyPr>
            <a:normAutofit fontScale="92500" lnSpcReduction="20000"/>
          </a:bodyPr>
          <a:lstStyle/>
          <a:p>
            <a:pPr>
              <a:buNone/>
            </a:pPr>
            <a:r>
              <a:rPr lang="en-US" sz="2539" dirty="0">
                <a:solidFill>
                  <a:srgbClr val="C00000"/>
                </a:solidFill>
                <a:latin typeface="Copperplate Gothic Light" pitchFamily="34" charset="0"/>
              </a:rPr>
              <a:t>Relational algebra queries</a:t>
            </a:r>
          </a:p>
          <a:p>
            <a:pPr>
              <a:buNone/>
            </a:pPr>
            <a:r>
              <a:rPr lang="en-US" sz="2539" dirty="0">
                <a:solidFill>
                  <a:srgbClr val="C00000"/>
                </a:solidFill>
                <a:latin typeface="Copperplate Gothic Light" pitchFamily="34" charset="0"/>
              </a:rPr>
              <a:t>Example Queries 1: </a:t>
            </a:r>
          </a:p>
          <a:p>
            <a:pPr>
              <a:lnSpc>
                <a:spcPct val="110000"/>
              </a:lnSpc>
              <a:buClr>
                <a:srgbClr val="C00000"/>
              </a:buClr>
              <a:buFont typeface="Wingdings" pitchFamily="2" charset="2"/>
              <a:buChar char="ü"/>
            </a:pPr>
            <a:r>
              <a:rPr lang="en-US" sz="2344" dirty="0">
                <a:solidFill>
                  <a:srgbClr val="213AF1"/>
                </a:solidFill>
                <a:latin typeface="Bookman Old Style" pitchFamily="18" charset="0"/>
              </a:rPr>
              <a:t>Find the </a:t>
            </a:r>
            <a:r>
              <a:rPr lang="en-US" sz="2344" dirty="0" err="1">
                <a:solidFill>
                  <a:srgbClr val="213AF1"/>
                </a:solidFill>
                <a:latin typeface="Bookman Old Style" pitchFamily="18" charset="0"/>
              </a:rPr>
              <a:t>empno</a:t>
            </a:r>
            <a:r>
              <a:rPr lang="en-US" sz="2344" dirty="0">
                <a:solidFill>
                  <a:srgbClr val="213AF1"/>
                </a:solidFill>
                <a:latin typeface="Bookman Old Style" pitchFamily="18" charset="0"/>
              </a:rPr>
              <a:t>, </a:t>
            </a:r>
            <a:r>
              <a:rPr lang="en-US" sz="2344" dirty="0" err="1">
                <a:solidFill>
                  <a:srgbClr val="213AF1"/>
                </a:solidFill>
                <a:latin typeface="Bookman Old Style" pitchFamily="18" charset="0"/>
              </a:rPr>
              <a:t>ename</a:t>
            </a:r>
            <a:r>
              <a:rPr lang="en-US" sz="2344" dirty="0">
                <a:solidFill>
                  <a:srgbClr val="213AF1"/>
                </a:solidFill>
                <a:latin typeface="Bookman Old Style" pitchFamily="18" charset="0"/>
              </a:rPr>
              <a:t>, job, salary for </a:t>
            </a:r>
            <a:r>
              <a:rPr lang="en-US" sz="2344" dirty="0" err="1">
                <a:solidFill>
                  <a:srgbClr val="213AF1"/>
                </a:solidFill>
                <a:latin typeface="Bookman Old Style" pitchFamily="18" charset="0"/>
              </a:rPr>
              <a:t>employess</a:t>
            </a:r>
            <a:r>
              <a:rPr lang="en-US" sz="2344" dirty="0">
                <a:solidFill>
                  <a:srgbClr val="213AF1"/>
                </a:solidFill>
                <a:latin typeface="Bookman Old Style" pitchFamily="18" charset="0"/>
              </a:rPr>
              <a:t> whose salary is greater than Rs.2000</a:t>
            </a:r>
          </a:p>
          <a:p>
            <a:pPr>
              <a:lnSpc>
                <a:spcPct val="110000"/>
              </a:lnSpc>
              <a:buClr>
                <a:srgbClr val="C00000"/>
              </a:buClr>
              <a:buNone/>
            </a:pPr>
            <a:r>
              <a:rPr lang="fr-FR" sz="2344" dirty="0">
                <a:solidFill>
                  <a:srgbClr val="213AF1"/>
                </a:solidFill>
                <a:latin typeface="Bookman Old Style" pitchFamily="18" charset="0"/>
              </a:rPr>
              <a:t>			{t | t ∈ </a:t>
            </a:r>
            <a:r>
              <a:rPr lang="fr-FR" sz="2344" dirty="0" err="1">
                <a:solidFill>
                  <a:srgbClr val="213AF1"/>
                </a:solidFill>
                <a:latin typeface="Bookman Old Style" pitchFamily="18" charset="0"/>
              </a:rPr>
              <a:t>emp</a:t>
            </a:r>
            <a:r>
              <a:rPr lang="fr-FR" sz="2344" dirty="0">
                <a:solidFill>
                  <a:srgbClr val="213AF1"/>
                </a:solidFill>
                <a:latin typeface="Bookman Old Style" pitchFamily="18" charset="0"/>
              </a:rPr>
              <a:t> ∧ t[sal] &gt; 2000}</a:t>
            </a:r>
          </a:p>
          <a:p>
            <a:pPr>
              <a:lnSpc>
                <a:spcPct val="110000"/>
              </a:lnSpc>
              <a:buClr>
                <a:srgbClr val="C00000"/>
              </a:buClr>
              <a:buFont typeface="Wingdings" pitchFamily="2" charset="2"/>
              <a:buChar char="ü"/>
            </a:pPr>
            <a:r>
              <a:rPr lang="en-US" sz="2344" dirty="0">
                <a:solidFill>
                  <a:srgbClr val="213AF1"/>
                </a:solidFill>
                <a:latin typeface="Bookman Old Style" pitchFamily="18" charset="0"/>
              </a:rPr>
              <a:t>Suppose that we want only the </a:t>
            </a:r>
            <a:r>
              <a:rPr lang="en-US" sz="2344" dirty="0" err="1">
                <a:solidFill>
                  <a:srgbClr val="213AF1"/>
                </a:solidFill>
                <a:latin typeface="Bookman Old Style" pitchFamily="18" charset="0"/>
              </a:rPr>
              <a:t>empno</a:t>
            </a:r>
            <a:r>
              <a:rPr lang="en-US" sz="2344" dirty="0">
                <a:solidFill>
                  <a:srgbClr val="213AF1"/>
                </a:solidFill>
                <a:latin typeface="Bookman Old Style" pitchFamily="18" charset="0"/>
              </a:rPr>
              <a:t> attribute, rather than all attributes of the </a:t>
            </a:r>
            <a:r>
              <a:rPr lang="en-US" sz="2344" dirty="0" err="1">
                <a:solidFill>
                  <a:srgbClr val="213AF1"/>
                </a:solidFill>
                <a:latin typeface="Bookman Old Style" pitchFamily="18" charset="0"/>
              </a:rPr>
              <a:t>emp</a:t>
            </a:r>
            <a:r>
              <a:rPr lang="en-US" sz="2344" dirty="0">
                <a:solidFill>
                  <a:srgbClr val="213AF1"/>
                </a:solidFill>
                <a:latin typeface="Bookman Old Style" pitchFamily="18" charset="0"/>
              </a:rPr>
              <a:t> relation. </a:t>
            </a:r>
          </a:p>
          <a:p>
            <a:pPr>
              <a:lnSpc>
                <a:spcPct val="110000"/>
              </a:lnSpc>
              <a:buClr>
                <a:srgbClr val="C00000"/>
              </a:buClr>
              <a:buFont typeface="Wingdings" pitchFamily="2" charset="2"/>
              <a:buChar char="ü"/>
            </a:pPr>
            <a:r>
              <a:rPr lang="en-US" sz="2344" dirty="0">
                <a:solidFill>
                  <a:srgbClr val="213AF1"/>
                </a:solidFill>
                <a:latin typeface="Bookman Old Style" pitchFamily="18" charset="0"/>
              </a:rPr>
              <a:t>To write this query in the tuple relational calculus, we need to write an expression for a relation on the schema (</a:t>
            </a:r>
            <a:r>
              <a:rPr lang="en-US" sz="2344" dirty="0" err="1">
                <a:solidFill>
                  <a:srgbClr val="213AF1"/>
                </a:solidFill>
                <a:latin typeface="Bookman Old Style" pitchFamily="18" charset="0"/>
              </a:rPr>
              <a:t>empno</a:t>
            </a:r>
            <a:r>
              <a:rPr lang="en-US" sz="2344" dirty="0">
                <a:solidFill>
                  <a:srgbClr val="213AF1"/>
                </a:solidFill>
                <a:latin typeface="Bookman Old Style" pitchFamily="18" charset="0"/>
              </a:rPr>
              <a:t>). We need those tuples on (</a:t>
            </a:r>
            <a:r>
              <a:rPr lang="en-US" sz="2344" dirty="0" err="1">
                <a:solidFill>
                  <a:srgbClr val="213AF1"/>
                </a:solidFill>
                <a:latin typeface="Bookman Old Style" pitchFamily="18" charset="0"/>
              </a:rPr>
              <a:t>empno</a:t>
            </a:r>
            <a:r>
              <a:rPr lang="en-US" sz="2344" dirty="0">
                <a:solidFill>
                  <a:srgbClr val="213AF1"/>
                </a:solidFill>
                <a:latin typeface="Bookman Old Style" pitchFamily="18" charset="0"/>
              </a:rPr>
              <a:t>) , such that there is a tuple in </a:t>
            </a:r>
            <a:r>
              <a:rPr lang="en-US" sz="2344" dirty="0" err="1">
                <a:solidFill>
                  <a:srgbClr val="213AF1"/>
                </a:solidFill>
                <a:latin typeface="Bookman Old Style" pitchFamily="18" charset="0"/>
              </a:rPr>
              <a:t>emp</a:t>
            </a:r>
            <a:r>
              <a:rPr lang="en-US" sz="2344" dirty="0">
                <a:solidFill>
                  <a:srgbClr val="213AF1"/>
                </a:solidFill>
                <a:latin typeface="Bookman Old Style" pitchFamily="18" charset="0"/>
              </a:rPr>
              <a:t> with the </a:t>
            </a:r>
            <a:r>
              <a:rPr lang="en-US" sz="2344" dirty="0" err="1">
                <a:solidFill>
                  <a:srgbClr val="213AF1"/>
                </a:solidFill>
                <a:latin typeface="Bookman Old Style" pitchFamily="18" charset="0"/>
              </a:rPr>
              <a:t>sal</a:t>
            </a:r>
            <a:r>
              <a:rPr lang="en-US" sz="2344" dirty="0">
                <a:solidFill>
                  <a:srgbClr val="213AF1"/>
                </a:solidFill>
                <a:latin typeface="Bookman Old Style" pitchFamily="18" charset="0"/>
              </a:rPr>
              <a:t> attribute &gt; 2000. </a:t>
            </a:r>
          </a:p>
          <a:p>
            <a:pPr>
              <a:lnSpc>
                <a:spcPct val="110000"/>
              </a:lnSpc>
              <a:buClr>
                <a:srgbClr val="C00000"/>
              </a:buClr>
              <a:buFont typeface="Wingdings" pitchFamily="2" charset="2"/>
              <a:buChar char="ü"/>
            </a:pPr>
            <a:r>
              <a:rPr lang="en-US" sz="2344" dirty="0">
                <a:solidFill>
                  <a:srgbClr val="213AF1"/>
                </a:solidFill>
                <a:latin typeface="Bookman Old Style" pitchFamily="18" charset="0"/>
              </a:rPr>
              <a:t>To express this request, we need the construct “there exists” from mathematical logic. </a:t>
            </a:r>
          </a:p>
          <a:p>
            <a:pPr>
              <a:lnSpc>
                <a:spcPct val="110000"/>
              </a:lnSpc>
              <a:buClr>
                <a:srgbClr val="C00000"/>
              </a:buClr>
              <a:buFont typeface="Wingdings" pitchFamily="2" charset="2"/>
              <a:buChar char="ü"/>
            </a:pPr>
            <a:r>
              <a:rPr lang="en-US" sz="2344" dirty="0">
                <a:solidFill>
                  <a:srgbClr val="213AF1"/>
                </a:solidFill>
                <a:latin typeface="Bookman Old Style" pitchFamily="18" charset="0"/>
              </a:rPr>
              <a:t>The notation:	 ∃ t ∈ r (Q(t))</a:t>
            </a:r>
          </a:p>
          <a:p>
            <a:pPr>
              <a:lnSpc>
                <a:spcPct val="110000"/>
              </a:lnSpc>
              <a:buClr>
                <a:srgbClr val="C00000"/>
              </a:buClr>
              <a:buNone/>
            </a:pPr>
            <a:r>
              <a:rPr lang="en-US" sz="2344" dirty="0">
                <a:solidFill>
                  <a:srgbClr val="213AF1"/>
                </a:solidFill>
                <a:latin typeface="Bookman Old Style" pitchFamily="18" charset="0"/>
              </a:rPr>
              <a:t>	means “there exists a tuple t in relation r such that predicate Q(t) is true.”</a:t>
            </a:r>
          </a:p>
        </p:txBody>
      </p:sp>
      <p:sp>
        <p:nvSpPr>
          <p:cNvPr id="7" name="Title 1"/>
          <p:cNvSpPr>
            <a:spLocks noGrp="1"/>
          </p:cNvSpPr>
          <p:nvPr>
            <p:ph type="title"/>
          </p:nvPr>
        </p:nvSpPr>
        <p:spPr>
          <a:xfrm>
            <a:off x="187701" y="0"/>
            <a:ext cx="11699574" cy="777573"/>
          </a:xfrm>
        </p:spPr>
        <p:txBody>
          <a:bodyPr>
            <a:noAutofit/>
          </a:bodyPr>
          <a:lstStyle/>
          <a:p>
            <a:pPr algn="l"/>
            <a:r>
              <a:rPr lang="en-US" sz="2539" dirty="0">
                <a:solidFill>
                  <a:srgbClr val="FF0000"/>
                </a:solidFill>
                <a:latin typeface="Copperplate Gothic Light" pitchFamily="34" charset="0"/>
              </a:rPr>
              <a:t>Relational algebra queries, Tuple relational calculus </a:t>
            </a:r>
          </a:p>
        </p:txBody>
      </p:sp>
      <p:sp>
        <p:nvSpPr>
          <p:cNvPr id="2" name="Slide Number Placeholder 1">
            <a:extLst>
              <a:ext uri="{FF2B5EF4-FFF2-40B4-BE49-F238E27FC236}">
                <a16:creationId xmlns:a16="http://schemas.microsoft.com/office/drawing/2014/main" id="{6D2088BE-3653-679D-5507-12B48E1F0C5D}"/>
              </a:ext>
            </a:extLst>
          </p:cNvPr>
          <p:cNvSpPr>
            <a:spLocks noGrp="1"/>
          </p:cNvSpPr>
          <p:nvPr>
            <p:ph type="sldNum" sz="quarter" idx="12"/>
          </p:nvPr>
        </p:nvSpPr>
        <p:spPr/>
        <p:txBody>
          <a:bodyPr/>
          <a:lstStyle/>
          <a:p>
            <a:fld id="{30BB16E2-1063-4ECC-B0F4-DD6A8CC0C30D}" type="slidenum">
              <a:rPr lang="en-US" smtClean="0"/>
              <a:pPr/>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3823" y="1150480"/>
            <a:ext cx="11024355" cy="5348594"/>
          </a:xfrm>
        </p:spPr>
        <p:txBody>
          <a:bodyPr>
            <a:normAutofit lnSpcReduction="10000"/>
          </a:bodyPr>
          <a:lstStyle/>
          <a:p>
            <a:pPr>
              <a:buClr>
                <a:srgbClr val="C00000"/>
              </a:buClr>
              <a:buFont typeface="Wingdings" pitchFamily="2" charset="2"/>
              <a:buChar char="ü"/>
            </a:pPr>
            <a:r>
              <a:rPr lang="en-US" sz="2539" dirty="0">
                <a:solidFill>
                  <a:srgbClr val="213AF1"/>
                </a:solidFill>
                <a:latin typeface="Bookman Old Style" pitchFamily="18" charset="0"/>
              </a:rPr>
              <a:t>Using the above notation, we can write the query “Find the </a:t>
            </a:r>
            <a:r>
              <a:rPr lang="en-US" sz="2539" dirty="0" err="1">
                <a:solidFill>
                  <a:srgbClr val="213AF1"/>
                </a:solidFill>
                <a:latin typeface="Bookman Old Style" pitchFamily="18" charset="0"/>
              </a:rPr>
              <a:t>empno</a:t>
            </a:r>
            <a:r>
              <a:rPr lang="en-US" sz="2539" dirty="0">
                <a:solidFill>
                  <a:srgbClr val="213AF1"/>
                </a:solidFill>
                <a:latin typeface="Bookman Old Style" pitchFamily="18" charset="0"/>
              </a:rPr>
              <a:t> for each employee with a salary greater than Rs.2,000” as:</a:t>
            </a:r>
          </a:p>
          <a:p>
            <a:pPr>
              <a:buClr>
                <a:srgbClr val="C00000"/>
              </a:buClr>
              <a:buNone/>
            </a:pPr>
            <a:endParaRPr lang="en-US" sz="1172" dirty="0">
              <a:solidFill>
                <a:srgbClr val="213AF1"/>
              </a:solidFill>
              <a:latin typeface="Bookman Old Style" pitchFamily="18" charset="0"/>
            </a:endParaRPr>
          </a:p>
          <a:p>
            <a:pPr>
              <a:buClr>
                <a:srgbClr val="C00000"/>
              </a:buClr>
              <a:buNone/>
            </a:pPr>
            <a:r>
              <a:rPr lang="en-US" sz="2539" dirty="0">
                <a:solidFill>
                  <a:srgbClr val="213AF1"/>
                </a:solidFill>
                <a:latin typeface="Bookman Old Style" pitchFamily="18" charset="0"/>
              </a:rPr>
              <a:t>		{t | ∃ s ∈ </a:t>
            </a:r>
            <a:r>
              <a:rPr lang="en-US" sz="2539" dirty="0" err="1">
                <a:solidFill>
                  <a:srgbClr val="213AF1"/>
                </a:solidFill>
                <a:latin typeface="Bookman Old Style" pitchFamily="18" charset="0"/>
              </a:rPr>
              <a:t>emp</a:t>
            </a:r>
            <a:r>
              <a:rPr lang="en-US" sz="2539" dirty="0">
                <a:solidFill>
                  <a:srgbClr val="213AF1"/>
                </a:solidFill>
                <a:latin typeface="Bookman Old Style" pitchFamily="18" charset="0"/>
              </a:rPr>
              <a:t> (t[</a:t>
            </a:r>
            <a:r>
              <a:rPr lang="en-US" sz="2539" dirty="0" err="1">
                <a:solidFill>
                  <a:srgbClr val="213AF1"/>
                </a:solidFill>
                <a:latin typeface="Bookman Old Style" pitchFamily="18" charset="0"/>
              </a:rPr>
              <a:t>empno</a:t>
            </a:r>
            <a:r>
              <a:rPr lang="en-US" sz="2539" dirty="0">
                <a:solidFill>
                  <a:srgbClr val="213AF1"/>
                </a:solidFill>
                <a:latin typeface="Bookman Old Style" pitchFamily="18" charset="0"/>
              </a:rPr>
              <a:t>] = s[</a:t>
            </a:r>
            <a:r>
              <a:rPr lang="en-US" sz="2539" dirty="0" err="1">
                <a:solidFill>
                  <a:srgbClr val="213AF1"/>
                </a:solidFill>
                <a:latin typeface="Bookman Old Style" pitchFamily="18" charset="0"/>
              </a:rPr>
              <a:t>empno</a:t>
            </a:r>
            <a:r>
              <a:rPr lang="en-US" sz="2539" dirty="0">
                <a:solidFill>
                  <a:srgbClr val="213AF1"/>
                </a:solidFill>
                <a:latin typeface="Bookman Old Style" pitchFamily="18" charset="0"/>
              </a:rPr>
              <a:t>] ∧ s[</a:t>
            </a:r>
            <a:r>
              <a:rPr lang="en-US" sz="2539" dirty="0" err="1">
                <a:solidFill>
                  <a:srgbClr val="213AF1"/>
                </a:solidFill>
                <a:latin typeface="Bookman Old Style" pitchFamily="18" charset="0"/>
              </a:rPr>
              <a:t>sal</a:t>
            </a:r>
            <a:r>
              <a:rPr lang="en-US" sz="2539" dirty="0">
                <a:solidFill>
                  <a:srgbClr val="213AF1"/>
                </a:solidFill>
                <a:latin typeface="Bookman Old Style" pitchFamily="18" charset="0"/>
              </a:rPr>
              <a:t>] &gt; 2000)}</a:t>
            </a:r>
          </a:p>
          <a:p>
            <a:pPr>
              <a:buClr>
                <a:srgbClr val="C00000"/>
              </a:buClr>
              <a:buFont typeface="Wingdings" pitchFamily="2" charset="2"/>
              <a:buChar char="ü"/>
            </a:pPr>
            <a:endParaRPr lang="en-US" sz="1758" dirty="0">
              <a:solidFill>
                <a:srgbClr val="213AF1"/>
              </a:solidFill>
              <a:latin typeface="Bookman Old Style" pitchFamily="18" charset="0"/>
            </a:endParaRPr>
          </a:p>
          <a:p>
            <a:pPr>
              <a:buClr>
                <a:srgbClr val="C00000"/>
              </a:buClr>
              <a:buFont typeface="Wingdings" pitchFamily="2" charset="2"/>
              <a:buChar char="ü"/>
            </a:pPr>
            <a:r>
              <a:rPr lang="en-US" sz="2539" dirty="0">
                <a:solidFill>
                  <a:srgbClr val="213AF1"/>
                </a:solidFill>
                <a:latin typeface="Bookman Old Style" pitchFamily="18" charset="0"/>
              </a:rPr>
              <a:t>In English, the above expression is read as </a:t>
            </a:r>
          </a:p>
          <a:p>
            <a:pPr>
              <a:buNone/>
            </a:pPr>
            <a:r>
              <a:rPr lang="en-US" sz="2539" dirty="0">
                <a:solidFill>
                  <a:srgbClr val="213AF1"/>
                </a:solidFill>
                <a:latin typeface="Bookman Old Style" pitchFamily="18" charset="0"/>
              </a:rPr>
              <a:t>	“The set of all tuples t such that there exists a tuple s in relation </a:t>
            </a:r>
            <a:r>
              <a:rPr lang="en-US" sz="2539" dirty="0" err="1">
                <a:solidFill>
                  <a:srgbClr val="213AF1"/>
                </a:solidFill>
                <a:latin typeface="Bookman Old Style" pitchFamily="18" charset="0"/>
              </a:rPr>
              <a:t>emp</a:t>
            </a:r>
            <a:r>
              <a:rPr lang="en-US" sz="2539" dirty="0">
                <a:solidFill>
                  <a:srgbClr val="213AF1"/>
                </a:solidFill>
                <a:latin typeface="Bookman Old Style" pitchFamily="18" charset="0"/>
              </a:rPr>
              <a:t> for which the values of t and s for the </a:t>
            </a:r>
            <a:r>
              <a:rPr lang="en-US" sz="2539" dirty="0" err="1">
                <a:solidFill>
                  <a:srgbClr val="213AF1"/>
                </a:solidFill>
                <a:latin typeface="Bookman Old Style" pitchFamily="18" charset="0"/>
              </a:rPr>
              <a:t>empno</a:t>
            </a:r>
            <a:r>
              <a:rPr lang="en-US" sz="2539" dirty="0">
                <a:solidFill>
                  <a:srgbClr val="213AF1"/>
                </a:solidFill>
                <a:latin typeface="Bookman Old Style" pitchFamily="18" charset="0"/>
              </a:rPr>
              <a:t> attribute are equal, and the value of s for the </a:t>
            </a:r>
            <a:r>
              <a:rPr lang="en-US" sz="2539" dirty="0" err="1">
                <a:solidFill>
                  <a:srgbClr val="213AF1"/>
                </a:solidFill>
                <a:latin typeface="Bookman Old Style" pitchFamily="18" charset="0"/>
              </a:rPr>
              <a:t>sal</a:t>
            </a:r>
            <a:r>
              <a:rPr lang="en-US" sz="2539" dirty="0">
                <a:solidFill>
                  <a:srgbClr val="213AF1"/>
                </a:solidFill>
                <a:latin typeface="Bookman Old Style" pitchFamily="18" charset="0"/>
              </a:rPr>
              <a:t> attribute is greater than Rs.2,000.”</a:t>
            </a:r>
          </a:p>
          <a:p>
            <a:pPr>
              <a:buNone/>
            </a:pPr>
            <a:endParaRPr lang="en-US" sz="2539" dirty="0">
              <a:solidFill>
                <a:srgbClr val="213AF1"/>
              </a:solidFill>
              <a:latin typeface="Bookman Old Style" pitchFamily="18" charset="0"/>
            </a:endParaRPr>
          </a:p>
          <a:p>
            <a:pPr>
              <a:buClr>
                <a:srgbClr val="C00000"/>
              </a:buClr>
              <a:buFont typeface="Wingdings" pitchFamily="2" charset="2"/>
              <a:buChar char="ü"/>
            </a:pPr>
            <a:r>
              <a:rPr lang="en-US" sz="2539" dirty="0">
                <a:solidFill>
                  <a:srgbClr val="213AF1"/>
                </a:solidFill>
                <a:latin typeface="Bookman Old Style" pitchFamily="18" charset="0"/>
              </a:rPr>
              <a:t>Tuple variable t is defined on only the </a:t>
            </a:r>
            <a:r>
              <a:rPr lang="en-US" sz="2539" dirty="0" err="1">
                <a:solidFill>
                  <a:srgbClr val="213AF1"/>
                </a:solidFill>
                <a:latin typeface="Bookman Old Style" pitchFamily="18" charset="0"/>
              </a:rPr>
              <a:t>empno</a:t>
            </a:r>
            <a:r>
              <a:rPr lang="en-US" sz="2539" dirty="0">
                <a:solidFill>
                  <a:srgbClr val="213AF1"/>
                </a:solidFill>
                <a:latin typeface="Bookman Old Style" pitchFamily="18" charset="0"/>
              </a:rPr>
              <a:t> attribute, since that is the only attribute having a condition specified for t. Thus, the result is a relation on (</a:t>
            </a:r>
            <a:r>
              <a:rPr lang="en-US" sz="2539" dirty="0" err="1">
                <a:solidFill>
                  <a:srgbClr val="213AF1"/>
                </a:solidFill>
                <a:latin typeface="Bookman Old Style" pitchFamily="18" charset="0"/>
              </a:rPr>
              <a:t>empno</a:t>
            </a:r>
            <a:r>
              <a:rPr lang="en-US" sz="2539" dirty="0">
                <a:solidFill>
                  <a:srgbClr val="213AF1"/>
                </a:solidFill>
                <a:latin typeface="Bookman Old Style" pitchFamily="18" charset="0"/>
              </a:rPr>
              <a:t>).</a:t>
            </a:r>
          </a:p>
        </p:txBody>
      </p:sp>
      <p:sp>
        <p:nvSpPr>
          <p:cNvPr id="7" name="Title 1"/>
          <p:cNvSpPr>
            <a:spLocks noGrp="1"/>
          </p:cNvSpPr>
          <p:nvPr>
            <p:ph type="title"/>
          </p:nvPr>
        </p:nvSpPr>
        <p:spPr>
          <a:xfrm>
            <a:off x="187701" y="0"/>
            <a:ext cx="12004299" cy="777573"/>
          </a:xfrm>
        </p:spPr>
        <p:txBody>
          <a:bodyPr>
            <a:noAutofit/>
          </a:bodyPr>
          <a:lstStyle/>
          <a:p>
            <a:pPr algn="l"/>
            <a:r>
              <a:rPr lang="en-US" sz="2539" dirty="0">
                <a:solidFill>
                  <a:srgbClr val="FF0000"/>
                </a:solidFill>
                <a:latin typeface="Copperplate Gothic Light" pitchFamily="34" charset="0"/>
              </a:rPr>
              <a:t>Relational algebra queries, Tuple relational calculus </a:t>
            </a:r>
          </a:p>
        </p:txBody>
      </p:sp>
      <p:sp>
        <p:nvSpPr>
          <p:cNvPr id="2" name="Slide Number Placeholder 1">
            <a:extLst>
              <a:ext uri="{FF2B5EF4-FFF2-40B4-BE49-F238E27FC236}">
                <a16:creationId xmlns:a16="http://schemas.microsoft.com/office/drawing/2014/main" id="{AAA6C3EC-311C-0ECF-6B72-5352CD948154}"/>
              </a:ext>
            </a:extLst>
          </p:cNvPr>
          <p:cNvSpPr>
            <a:spLocks noGrp="1"/>
          </p:cNvSpPr>
          <p:nvPr>
            <p:ph type="sldNum" sz="quarter" idx="12"/>
          </p:nvPr>
        </p:nvSpPr>
        <p:spPr/>
        <p:txBody>
          <a:bodyPr/>
          <a:lstStyle/>
          <a:p>
            <a:fld id="{30BB16E2-1063-4ECC-B0F4-DD6A8CC0C30D}" type="slidenum">
              <a:rPr lang="en-US" smtClean="0"/>
              <a:pPr/>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14048" y="847347"/>
            <a:ext cx="11233678" cy="5581952"/>
          </a:xfrm>
        </p:spPr>
        <p:txBody>
          <a:bodyPr>
            <a:normAutofit fontScale="92500" lnSpcReduction="20000"/>
          </a:bodyPr>
          <a:lstStyle/>
          <a:p>
            <a:pPr>
              <a:buNone/>
            </a:pPr>
            <a:r>
              <a:rPr lang="en-US" sz="2344" dirty="0">
                <a:solidFill>
                  <a:srgbClr val="C00000"/>
                </a:solidFill>
                <a:latin typeface="Copperplate Gothic Light" pitchFamily="34" charset="0"/>
              </a:rPr>
              <a:t>Relational algebra queries</a:t>
            </a:r>
          </a:p>
          <a:p>
            <a:pPr>
              <a:buNone/>
            </a:pPr>
            <a:r>
              <a:rPr lang="en-US" sz="2344" dirty="0">
                <a:solidFill>
                  <a:srgbClr val="C00000"/>
                </a:solidFill>
                <a:latin typeface="Copperplate Gothic Light" pitchFamily="34" charset="0"/>
              </a:rPr>
              <a:t>Example Queries 2: </a:t>
            </a:r>
          </a:p>
          <a:p>
            <a:pPr>
              <a:buClr>
                <a:srgbClr val="C00000"/>
              </a:buClr>
              <a:buFont typeface="Wingdings" pitchFamily="2" charset="2"/>
              <a:buChar char="ü"/>
            </a:pPr>
            <a:r>
              <a:rPr lang="en-US" sz="2246" dirty="0">
                <a:solidFill>
                  <a:srgbClr val="213AF1"/>
                </a:solidFill>
                <a:latin typeface="Bookman Old Style" pitchFamily="18" charset="0"/>
              </a:rPr>
              <a:t>Consider the query “Find the names of all employees whose department is in the location “CHICAGO.” This query is slightly more complex than the previous queries, since it involves two relations: </a:t>
            </a:r>
            <a:r>
              <a:rPr lang="en-US" sz="2246" dirty="0" err="1">
                <a:solidFill>
                  <a:srgbClr val="213AF1"/>
                </a:solidFill>
                <a:latin typeface="Bookman Old Style" pitchFamily="18" charset="0"/>
              </a:rPr>
              <a:t>emp</a:t>
            </a:r>
            <a:r>
              <a:rPr lang="en-US" sz="2246" dirty="0">
                <a:solidFill>
                  <a:srgbClr val="213AF1"/>
                </a:solidFill>
                <a:latin typeface="Bookman Old Style" pitchFamily="18" charset="0"/>
              </a:rPr>
              <a:t> and dept.</a:t>
            </a:r>
          </a:p>
          <a:p>
            <a:pPr>
              <a:buClr>
                <a:srgbClr val="C00000"/>
              </a:buClr>
              <a:buFont typeface="Wingdings" pitchFamily="2" charset="2"/>
              <a:buChar char="ü"/>
            </a:pPr>
            <a:endParaRPr lang="en-US" sz="2246" dirty="0">
              <a:solidFill>
                <a:srgbClr val="213AF1"/>
              </a:solidFill>
              <a:latin typeface="Bookman Old Style" pitchFamily="18" charset="0"/>
            </a:endParaRPr>
          </a:p>
          <a:p>
            <a:pPr>
              <a:buClr>
                <a:srgbClr val="C00000"/>
              </a:buClr>
              <a:buFont typeface="Wingdings" pitchFamily="2" charset="2"/>
              <a:buChar char="ü"/>
            </a:pPr>
            <a:r>
              <a:rPr lang="en-US" sz="2246" dirty="0">
                <a:solidFill>
                  <a:srgbClr val="213AF1"/>
                </a:solidFill>
                <a:latin typeface="Bookman Old Style" pitchFamily="18" charset="0"/>
              </a:rPr>
              <a:t>It requires is that we have two “there exists” clauses in our tuple-relational-calculus expression, connected by and (∧).</a:t>
            </a:r>
          </a:p>
          <a:p>
            <a:pPr>
              <a:buClr>
                <a:srgbClr val="C00000"/>
              </a:buClr>
              <a:buFont typeface="Wingdings" pitchFamily="2" charset="2"/>
              <a:buChar char="ü"/>
            </a:pPr>
            <a:endParaRPr lang="en-US" sz="2246" dirty="0">
              <a:solidFill>
                <a:srgbClr val="213AF1"/>
              </a:solidFill>
              <a:latin typeface="Bookman Old Style" pitchFamily="18" charset="0"/>
            </a:endParaRPr>
          </a:p>
          <a:p>
            <a:pPr>
              <a:buClr>
                <a:srgbClr val="C00000"/>
              </a:buClr>
              <a:buFont typeface="Wingdings" pitchFamily="2" charset="2"/>
              <a:buChar char="ü"/>
            </a:pPr>
            <a:r>
              <a:rPr lang="en-US" sz="2246" dirty="0">
                <a:solidFill>
                  <a:srgbClr val="213AF1"/>
                </a:solidFill>
                <a:latin typeface="Bookman Old Style" pitchFamily="18" charset="0"/>
              </a:rPr>
              <a:t>We write the query as follows:</a:t>
            </a:r>
          </a:p>
          <a:p>
            <a:pPr>
              <a:buClr>
                <a:srgbClr val="C00000"/>
              </a:buClr>
              <a:buNone/>
            </a:pPr>
            <a:r>
              <a:rPr lang="en-US" sz="2246" dirty="0">
                <a:solidFill>
                  <a:srgbClr val="213AF1"/>
                </a:solidFill>
                <a:latin typeface="Bookman Old Style" pitchFamily="18" charset="0"/>
              </a:rPr>
              <a:t>				{t | ∃ s ∈ </a:t>
            </a:r>
            <a:r>
              <a:rPr lang="en-US" sz="2246" dirty="0" err="1">
                <a:solidFill>
                  <a:srgbClr val="213AF1"/>
                </a:solidFill>
                <a:latin typeface="Bookman Old Style" pitchFamily="18" charset="0"/>
              </a:rPr>
              <a:t>emp</a:t>
            </a:r>
            <a:r>
              <a:rPr lang="en-US" sz="2246" dirty="0">
                <a:solidFill>
                  <a:srgbClr val="213AF1"/>
                </a:solidFill>
                <a:latin typeface="Bookman Old Style" pitchFamily="18" charset="0"/>
              </a:rPr>
              <a:t> (t[</a:t>
            </a:r>
            <a:r>
              <a:rPr lang="en-US" sz="2246" dirty="0" err="1">
                <a:solidFill>
                  <a:srgbClr val="213AF1"/>
                </a:solidFill>
                <a:latin typeface="Bookman Old Style" pitchFamily="18" charset="0"/>
              </a:rPr>
              <a:t>ename</a:t>
            </a:r>
            <a:r>
              <a:rPr lang="en-US" sz="2246" dirty="0">
                <a:solidFill>
                  <a:srgbClr val="213AF1"/>
                </a:solidFill>
                <a:latin typeface="Bookman Old Style" pitchFamily="18" charset="0"/>
              </a:rPr>
              <a:t>] = s[</a:t>
            </a:r>
            <a:r>
              <a:rPr lang="en-US" sz="2246" dirty="0" err="1">
                <a:solidFill>
                  <a:srgbClr val="213AF1"/>
                </a:solidFill>
                <a:latin typeface="Bookman Old Style" pitchFamily="18" charset="0"/>
              </a:rPr>
              <a:t>ename</a:t>
            </a:r>
            <a:r>
              <a:rPr lang="en-US" sz="2246" dirty="0">
                <a:solidFill>
                  <a:srgbClr val="213AF1"/>
                </a:solidFill>
                <a:latin typeface="Bookman Old Style" pitchFamily="18" charset="0"/>
              </a:rPr>
              <a:t>]</a:t>
            </a:r>
          </a:p>
          <a:p>
            <a:pPr>
              <a:buClr>
                <a:srgbClr val="C00000"/>
              </a:buClr>
              <a:buNone/>
            </a:pPr>
            <a:r>
              <a:rPr lang="en-US" sz="2246" dirty="0">
                <a:solidFill>
                  <a:srgbClr val="213AF1"/>
                </a:solidFill>
                <a:latin typeface="Bookman Old Style" pitchFamily="18" charset="0"/>
              </a:rPr>
              <a:t>				∧ ∃ u ∈ dept (u[</a:t>
            </a:r>
            <a:r>
              <a:rPr lang="en-US" sz="2246" dirty="0" err="1">
                <a:solidFill>
                  <a:srgbClr val="213AF1"/>
                </a:solidFill>
                <a:latin typeface="Bookman Old Style" pitchFamily="18" charset="0"/>
              </a:rPr>
              <a:t>dname</a:t>
            </a:r>
            <a:r>
              <a:rPr lang="en-US" sz="2246" dirty="0">
                <a:solidFill>
                  <a:srgbClr val="213AF1"/>
                </a:solidFill>
                <a:latin typeface="Bookman Old Style" pitchFamily="18" charset="0"/>
              </a:rPr>
              <a:t>] = s[</a:t>
            </a:r>
            <a:r>
              <a:rPr lang="en-US" sz="2246" dirty="0" err="1">
                <a:solidFill>
                  <a:srgbClr val="213AF1"/>
                </a:solidFill>
                <a:latin typeface="Bookman Old Style" pitchFamily="18" charset="0"/>
              </a:rPr>
              <a:t>dname</a:t>
            </a:r>
            <a:r>
              <a:rPr lang="en-US" sz="2246" dirty="0">
                <a:solidFill>
                  <a:srgbClr val="213AF1"/>
                </a:solidFill>
                <a:latin typeface="Bookman Old Style" pitchFamily="18" charset="0"/>
              </a:rPr>
              <a:t>]</a:t>
            </a:r>
          </a:p>
          <a:p>
            <a:pPr>
              <a:buClr>
                <a:srgbClr val="C00000"/>
              </a:buClr>
              <a:buNone/>
            </a:pPr>
            <a:r>
              <a:rPr lang="en-US" sz="2246" dirty="0">
                <a:solidFill>
                  <a:srgbClr val="213AF1"/>
                </a:solidFill>
                <a:latin typeface="Bookman Old Style" pitchFamily="18" charset="0"/>
              </a:rPr>
              <a:t>				∧ u[building] = “CHICAGO”))}</a:t>
            </a:r>
          </a:p>
          <a:p>
            <a:pPr>
              <a:buClr>
                <a:srgbClr val="C00000"/>
              </a:buClr>
              <a:buFont typeface="Wingdings" pitchFamily="2" charset="2"/>
              <a:buChar char="ü"/>
            </a:pPr>
            <a:endParaRPr lang="en-US" sz="2246" dirty="0">
              <a:solidFill>
                <a:srgbClr val="213AF1"/>
              </a:solidFill>
              <a:latin typeface="Bookman Old Style" pitchFamily="18" charset="0"/>
            </a:endParaRPr>
          </a:p>
          <a:p>
            <a:pPr>
              <a:buClr>
                <a:srgbClr val="C00000"/>
              </a:buClr>
              <a:buFont typeface="Wingdings" pitchFamily="2" charset="2"/>
              <a:buChar char="ü"/>
            </a:pPr>
            <a:r>
              <a:rPr lang="en-US" sz="2246" dirty="0">
                <a:solidFill>
                  <a:srgbClr val="213AF1"/>
                </a:solidFill>
                <a:latin typeface="Bookman Old Style" pitchFamily="18" charset="0"/>
              </a:rPr>
              <a:t>Tuple variable u is restricted to departments that are located in the </a:t>
            </a:r>
            <a:r>
              <a:rPr lang="en-US" sz="2246" dirty="0" err="1">
                <a:solidFill>
                  <a:srgbClr val="213AF1"/>
                </a:solidFill>
                <a:latin typeface="Bookman Old Style" pitchFamily="18" charset="0"/>
              </a:rPr>
              <a:t>chicago</a:t>
            </a:r>
            <a:r>
              <a:rPr lang="en-US" sz="2246" dirty="0">
                <a:solidFill>
                  <a:srgbClr val="213AF1"/>
                </a:solidFill>
                <a:latin typeface="Bookman Old Style" pitchFamily="18" charset="0"/>
              </a:rPr>
              <a:t>, while tuple variable s is restricted to </a:t>
            </a:r>
            <a:r>
              <a:rPr lang="en-US" sz="2246" dirty="0" err="1">
                <a:solidFill>
                  <a:srgbClr val="213AF1"/>
                </a:solidFill>
                <a:latin typeface="Bookman Old Style" pitchFamily="18" charset="0"/>
              </a:rPr>
              <a:t>emp</a:t>
            </a:r>
            <a:r>
              <a:rPr lang="en-US" sz="2246" dirty="0">
                <a:solidFill>
                  <a:srgbClr val="213AF1"/>
                </a:solidFill>
                <a:latin typeface="Bookman Old Style" pitchFamily="18" charset="0"/>
              </a:rPr>
              <a:t> whose dept name matches that of tuple variable u.</a:t>
            </a:r>
          </a:p>
          <a:p>
            <a:pPr>
              <a:buClr>
                <a:srgbClr val="C00000"/>
              </a:buClr>
              <a:buFont typeface="Wingdings" pitchFamily="2" charset="2"/>
              <a:buChar char="ü"/>
            </a:pPr>
            <a:endParaRPr lang="en-US" sz="2344" dirty="0">
              <a:solidFill>
                <a:srgbClr val="213AF1"/>
              </a:solidFill>
              <a:latin typeface="Bookman Old Style" pitchFamily="18" charset="0"/>
            </a:endParaRPr>
          </a:p>
          <a:p>
            <a:pPr>
              <a:buNone/>
            </a:pPr>
            <a:endParaRPr lang="en-US" dirty="0"/>
          </a:p>
        </p:txBody>
      </p:sp>
      <p:sp>
        <p:nvSpPr>
          <p:cNvPr id="7" name="Title 1"/>
          <p:cNvSpPr>
            <a:spLocks noGrp="1"/>
          </p:cNvSpPr>
          <p:nvPr>
            <p:ph type="title"/>
          </p:nvPr>
        </p:nvSpPr>
        <p:spPr>
          <a:xfrm>
            <a:off x="187701" y="0"/>
            <a:ext cx="11720764" cy="777573"/>
          </a:xfrm>
        </p:spPr>
        <p:txBody>
          <a:bodyPr>
            <a:noAutofit/>
          </a:bodyPr>
          <a:lstStyle/>
          <a:p>
            <a:pPr algn="l"/>
            <a:r>
              <a:rPr lang="en-US" sz="2539" dirty="0">
                <a:solidFill>
                  <a:srgbClr val="FF0000"/>
                </a:solidFill>
                <a:latin typeface="Copperplate Gothic Light" pitchFamily="34" charset="0"/>
              </a:rPr>
              <a:t>Relational algebra queries, Tuple relational calculus </a:t>
            </a:r>
          </a:p>
        </p:txBody>
      </p:sp>
      <p:sp>
        <p:nvSpPr>
          <p:cNvPr id="2" name="Slide Number Placeholder 1">
            <a:extLst>
              <a:ext uri="{FF2B5EF4-FFF2-40B4-BE49-F238E27FC236}">
                <a16:creationId xmlns:a16="http://schemas.microsoft.com/office/drawing/2014/main" id="{B47ACB30-EB70-26D1-3844-88616DDF8849}"/>
              </a:ext>
            </a:extLst>
          </p:cNvPr>
          <p:cNvSpPr>
            <a:spLocks noGrp="1"/>
          </p:cNvSpPr>
          <p:nvPr>
            <p:ph type="sldNum" sz="quarter" idx="12"/>
          </p:nvPr>
        </p:nvSpPr>
        <p:spPr/>
        <p:txBody>
          <a:bodyPr/>
          <a:lstStyle/>
          <a:p>
            <a:fld id="{30BB16E2-1063-4ECC-B0F4-DD6A8CC0C30D}" type="slidenum">
              <a:rPr lang="en-US" smtClean="0"/>
              <a:pPr/>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3823" y="917122"/>
            <a:ext cx="11024355" cy="5512177"/>
          </a:xfrm>
        </p:spPr>
        <p:txBody>
          <a:bodyPr>
            <a:normAutofit fontScale="92500"/>
          </a:bodyPr>
          <a:lstStyle/>
          <a:p>
            <a:pPr>
              <a:buNone/>
            </a:pPr>
            <a:r>
              <a:rPr lang="en-US" sz="2344" dirty="0">
                <a:solidFill>
                  <a:srgbClr val="C00000"/>
                </a:solidFill>
                <a:latin typeface="Copperplate Gothic Light" pitchFamily="34" charset="0"/>
              </a:rPr>
              <a:t>Tuple Relational Calculus</a:t>
            </a:r>
          </a:p>
          <a:p>
            <a:pPr>
              <a:lnSpc>
                <a:spcPct val="150000"/>
              </a:lnSpc>
              <a:buClr>
                <a:srgbClr val="C00000"/>
              </a:buClr>
              <a:buFont typeface="Wingdings" pitchFamily="2" charset="2"/>
              <a:buChar char="ü"/>
            </a:pPr>
            <a:r>
              <a:rPr lang="en-US" sz="2637" dirty="0">
                <a:solidFill>
                  <a:srgbClr val="213AF1"/>
                </a:solidFill>
                <a:latin typeface="Bookman Old Style" pitchFamily="18" charset="0"/>
              </a:rPr>
              <a:t>The tuple relational calculus is a nonprocedural query language.</a:t>
            </a:r>
          </a:p>
          <a:p>
            <a:pPr>
              <a:lnSpc>
                <a:spcPct val="150000"/>
              </a:lnSpc>
              <a:buClr>
                <a:srgbClr val="C00000"/>
              </a:buClr>
              <a:buFont typeface="Wingdings" pitchFamily="2" charset="2"/>
              <a:buChar char="ü"/>
            </a:pPr>
            <a:r>
              <a:rPr lang="en-US" sz="2637" dirty="0">
                <a:solidFill>
                  <a:srgbClr val="213AF1"/>
                </a:solidFill>
                <a:latin typeface="Bookman Old Style" pitchFamily="18" charset="0"/>
              </a:rPr>
              <a:t>It describes the desired information without giving a specific procedure for obtaining that information.</a:t>
            </a:r>
          </a:p>
          <a:p>
            <a:pPr>
              <a:lnSpc>
                <a:spcPct val="150000"/>
              </a:lnSpc>
              <a:buClr>
                <a:srgbClr val="C00000"/>
              </a:buClr>
              <a:buFont typeface="Wingdings" pitchFamily="2" charset="2"/>
              <a:buChar char="ü"/>
            </a:pPr>
            <a:r>
              <a:rPr lang="en-US" sz="2637" dirty="0">
                <a:solidFill>
                  <a:srgbClr val="213AF1"/>
                </a:solidFill>
                <a:latin typeface="Bookman Old Style" pitchFamily="18" charset="0"/>
              </a:rPr>
              <a:t>A query in the tuple relational calculus is expressed as:</a:t>
            </a:r>
          </a:p>
          <a:p>
            <a:pPr>
              <a:lnSpc>
                <a:spcPct val="150000"/>
              </a:lnSpc>
              <a:buClr>
                <a:srgbClr val="C00000"/>
              </a:buClr>
              <a:buNone/>
            </a:pPr>
            <a:r>
              <a:rPr lang="en-US" sz="2637" dirty="0">
                <a:solidFill>
                  <a:srgbClr val="213AF1"/>
                </a:solidFill>
                <a:latin typeface="Bookman Old Style" pitchFamily="18" charset="0"/>
              </a:rPr>
              <a:t>				{t | P(t)}</a:t>
            </a:r>
          </a:p>
          <a:p>
            <a:pPr>
              <a:lnSpc>
                <a:spcPct val="150000"/>
              </a:lnSpc>
              <a:buClr>
                <a:srgbClr val="C00000"/>
              </a:buClr>
              <a:buFont typeface="Wingdings" pitchFamily="2" charset="2"/>
              <a:buChar char="ü"/>
            </a:pPr>
            <a:r>
              <a:rPr lang="en-US" sz="2637" dirty="0">
                <a:solidFill>
                  <a:srgbClr val="213AF1"/>
                </a:solidFill>
                <a:latin typeface="Bookman Old Style" pitchFamily="18" charset="0"/>
              </a:rPr>
              <a:t>That is, it is the set of all tuples t such that predicate P is true for t.</a:t>
            </a:r>
          </a:p>
          <a:p>
            <a:pPr>
              <a:lnSpc>
                <a:spcPct val="150000"/>
              </a:lnSpc>
              <a:buClr>
                <a:srgbClr val="C00000"/>
              </a:buClr>
              <a:buFont typeface="Wingdings" pitchFamily="2" charset="2"/>
              <a:buChar char="ü"/>
            </a:pPr>
            <a:r>
              <a:rPr lang="en-US" sz="2637" dirty="0">
                <a:solidFill>
                  <a:srgbClr val="213AF1"/>
                </a:solidFill>
                <a:latin typeface="Bookman Old Style" pitchFamily="18" charset="0"/>
              </a:rPr>
              <a:t>we use t[A] to denote the value of tuple t on attribute A, and we use    t ∈ r to denote that tuple t is in relation r.</a:t>
            </a:r>
          </a:p>
        </p:txBody>
      </p:sp>
      <p:sp>
        <p:nvSpPr>
          <p:cNvPr id="8" name="Title 1"/>
          <p:cNvSpPr>
            <a:spLocks noGrp="1"/>
          </p:cNvSpPr>
          <p:nvPr>
            <p:ph type="title"/>
          </p:nvPr>
        </p:nvSpPr>
        <p:spPr>
          <a:xfrm>
            <a:off x="187701" y="0"/>
            <a:ext cx="11848355" cy="777573"/>
          </a:xfrm>
        </p:spPr>
        <p:txBody>
          <a:bodyPr>
            <a:noAutofit/>
          </a:bodyPr>
          <a:lstStyle/>
          <a:p>
            <a:pPr algn="l"/>
            <a:r>
              <a:rPr lang="en-US" sz="2539" dirty="0">
                <a:solidFill>
                  <a:srgbClr val="FF0000"/>
                </a:solidFill>
                <a:latin typeface="Copperplate Gothic Light" pitchFamily="34" charset="0"/>
              </a:rPr>
              <a:t>Relational algebra queries, Tuple relational calculus </a:t>
            </a:r>
          </a:p>
        </p:txBody>
      </p:sp>
      <p:sp>
        <p:nvSpPr>
          <p:cNvPr id="2" name="Slide Number Placeholder 1">
            <a:extLst>
              <a:ext uri="{FF2B5EF4-FFF2-40B4-BE49-F238E27FC236}">
                <a16:creationId xmlns:a16="http://schemas.microsoft.com/office/drawing/2014/main" id="{6B10AA32-BB7C-4F9C-7E08-B06DABFEFD65}"/>
              </a:ext>
            </a:extLst>
          </p:cNvPr>
          <p:cNvSpPr>
            <a:spLocks noGrp="1"/>
          </p:cNvSpPr>
          <p:nvPr>
            <p:ph type="sldNum" sz="quarter" idx="12"/>
          </p:nvPr>
        </p:nvSpPr>
        <p:spPr/>
        <p:txBody>
          <a:bodyPr/>
          <a:lstStyle/>
          <a:p>
            <a:fld id="{30BB16E2-1063-4ECC-B0F4-DD6A8CC0C30D}" type="slidenum">
              <a:rPr lang="en-US" smtClean="0"/>
              <a:pPr/>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499" y="1056670"/>
            <a:ext cx="11233678" cy="5093531"/>
          </a:xfrm>
        </p:spPr>
        <p:txBody>
          <a:bodyPr>
            <a:normAutofit fontScale="70000" lnSpcReduction="20000"/>
          </a:bodyPr>
          <a:lstStyle/>
          <a:p>
            <a:pPr>
              <a:buNone/>
            </a:pPr>
            <a:r>
              <a:rPr lang="en-US" sz="3028" dirty="0" err="1">
                <a:solidFill>
                  <a:srgbClr val="C00000"/>
                </a:solidFill>
                <a:latin typeface="Copperplate Gothic Light" pitchFamily="34" charset="0"/>
              </a:rPr>
              <a:t>Tuple</a:t>
            </a:r>
            <a:r>
              <a:rPr lang="en-US" sz="3028" dirty="0">
                <a:solidFill>
                  <a:srgbClr val="C00000"/>
                </a:solidFill>
                <a:latin typeface="Copperplate Gothic Light" pitchFamily="34" charset="0"/>
              </a:rPr>
              <a:t> Relational Calculus</a:t>
            </a:r>
          </a:p>
          <a:p>
            <a:pPr>
              <a:buNone/>
            </a:pPr>
            <a:r>
              <a:rPr lang="en-US" sz="3028" dirty="0">
                <a:solidFill>
                  <a:srgbClr val="C00000"/>
                </a:solidFill>
                <a:latin typeface="Copperplate Gothic Light" pitchFamily="34" charset="0"/>
              </a:rPr>
              <a:t>Formal definition</a:t>
            </a:r>
          </a:p>
          <a:p>
            <a:pPr>
              <a:buNone/>
            </a:pPr>
            <a:r>
              <a:rPr lang="en-US" sz="3321" dirty="0">
                <a:solidFill>
                  <a:srgbClr val="213AF1"/>
                </a:solidFill>
                <a:latin typeface="Bookman Old Style" pitchFamily="18" charset="0"/>
              </a:rPr>
              <a:t>A </a:t>
            </a:r>
            <a:r>
              <a:rPr lang="en-US" sz="3321" dirty="0" err="1">
                <a:solidFill>
                  <a:srgbClr val="213AF1"/>
                </a:solidFill>
                <a:latin typeface="Bookman Old Style" pitchFamily="18" charset="0"/>
              </a:rPr>
              <a:t>tuple</a:t>
            </a:r>
            <a:r>
              <a:rPr lang="en-US" sz="3321" dirty="0">
                <a:solidFill>
                  <a:srgbClr val="213AF1"/>
                </a:solidFill>
                <a:latin typeface="Bookman Old Style" pitchFamily="18" charset="0"/>
              </a:rPr>
              <a:t>-relational-calculus expression is of the form:</a:t>
            </a:r>
          </a:p>
          <a:p>
            <a:pPr>
              <a:buNone/>
            </a:pPr>
            <a:r>
              <a:rPr lang="en-US" sz="3321" dirty="0">
                <a:solidFill>
                  <a:srgbClr val="213AF1"/>
                </a:solidFill>
                <a:latin typeface="Bookman Old Style" pitchFamily="18" charset="0"/>
              </a:rPr>
              <a:t>					{</a:t>
            </a:r>
            <a:r>
              <a:rPr lang="en-US" sz="3321" dirty="0" err="1">
                <a:solidFill>
                  <a:srgbClr val="213AF1"/>
                </a:solidFill>
                <a:latin typeface="Bookman Old Style" pitchFamily="18" charset="0"/>
              </a:rPr>
              <a:t>t|P</a:t>
            </a:r>
            <a:r>
              <a:rPr lang="en-US" sz="3321" dirty="0">
                <a:solidFill>
                  <a:srgbClr val="213AF1"/>
                </a:solidFill>
                <a:latin typeface="Bookman Old Style" pitchFamily="18" charset="0"/>
              </a:rPr>
              <a:t>(t)}</a:t>
            </a:r>
          </a:p>
          <a:p>
            <a:pPr>
              <a:buNone/>
            </a:pPr>
            <a:r>
              <a:rPr lang="en-US" sz="3321" dirty="0">
                <a:solidFill>
                  <a:srgbClr val="213AF1"/>
                </a:solidFill>
                <a:latin typeface="Bookman Old Style" pitchFamily="18" charset="0"/>
              </a:rPr>
              <a:t>where P is a formula.</a:t>
            </a:r>
          </a:p>
          <a:p>
            <a:pPr>
              <a:buNone/>
            </a:pPr>
            <a:endParaRPr lang="en-US" sz="3321" dirty="0">
              <a:solidFill>
                <a:srgbClr val="213AF1"/>
              </a:solidFill>
              <a:latin typeface="Bookman Old Style" pitchFamily="18" charset="0"/>
            </a:endParaRPr>
          </a:p>
          <a:p>
            <a:pPr>
              <a:buNone/>
            </a:pPr>
            <a:r>
              <a:rPr lang="en-US" sz="3321" dirty="0">
                <a:solidFill>
                  <a:srgbClr val="213AF1"/>
                </a:solidFill>
                <a:latin typeface="Bookman Old Style" pitchFamily="18" charset="0"/>
              </a:rPr>
              <a:t>Several </a:t>
            </a:r>
            <a:r>
              <a:rPr lang="en-US" sz="3321" dirty="0" err="1">
                <a:solidFill>
                  <a:srgbClr val="213AF1"/>
                </a:solidFill>
                <a:latin typeface="Bookman Old Style" pitchFamily="18" charset="0"/>
              </a:rPr>
              <a:t>tuple</a:t>
            </a:r>
            <a:r>
              <a:rPr lang="en-US" sz="3321" dirty="0">
                <a:solidFill>
                  <a:srgbClr val="213AF1"/>
                </a:solidFill>
                <a:latin typeface="Bookman Old Style" pitchFamily="18" charset="0"/>
              </a:rPr>
              <a:t> variables may appear in a formula. A </a:t>
            </a:r>
            <a:r>
              <a:rPr lang="en-US" sz="3321" dirty="0" err="1">
                <a:solidFill>
                  <a:srgbClr val="213AF1"/>
                </a:solidFill>
                <a:latin typeface="Bookman Old Style" pitchFamily="18" charset="0"/>
              </a:rPr>
              <a:t>tuple</a:t>
            </a:r>
            <a:endParaRPr lang="en-US" sz="3321" dirty="0">
              <a:solidFill>
                <a:srgbClr val="213AF1"/>
              </a:solidFill>
              <a:latin typeface="Bookman Old Style" pitchFamily="18" charset="0"/>
            </a:endParaRPr>
          </a:p>
          <a:p>
            <a:pPr>
              <a:buNone/>
            </a:pPr>
            <a:r>
              <a:rPr lang="en-US" sz="3321" dirty="0">
                <a:solidFill>
                  <a:srgbClr val="213AF1"/>
                </a:solidFill>
                <a:latin typeface="Bookman Old Style" pitchFamily="18" charset="0"/>
              </a:rPr>
              <a:t>variable is said to be a free variable unless it is quantified by a ∃ or ∀. </a:t>
            </a:r>
          </a:p>
          <a:p>
            <a:pPr>
              <a:buNone/>
            </a:pPr>
            <a:endParaRPr lang="en-US" sz="3321" dirty="0">
              <a:solidFill>
                <a:srgbClr val="213AF1"/>
              </a:solidFill>
              <a:latin typeface="Bookman Old Style" pitchFamily="18" charset="0"/>
            </a:endParaRPr>
          </a:p>
          <a:p>
            <a:pPr>
              <a:buNone/>
            </a:pPr>
            <a:r>
              <a:rPr lang="en-US" sz="3321" dirty="0">
                <a:solidFill>
                  <a:srgbClr val="213AF1"/>
                </a:solidFill>
                <a:latin typeface="Bookman Old Style" pitchFamily="18" charset="0"/>
              </a:rPr>
              <a:t>Thus, in:</a:t>
            </a:r>
          </a:p>
          <a:p>
            <a:pPr>
              <a:buNone/>
            </a:pPr>
            <a:r>
              <a:rPr lang="en-US" sz="3321" dirty="0">
                <a:solidFill>
                  <a:srgbClr val="213AF1"/>
                </a:solidFill>
                <a:latin typeface="Bookman Old Style" pitchFamily="18" charset="0"/>
              </a:rPr>
              <a:t>t ∈ </a:t>
            </a:r>
            <a:r>
              <a:rPr lang="en-US" sz="3321" dirty="0" err="1">
                <a:solidFill>
                  <a:srgbClr val="213AF1"/>
                </a:solidFill>
                <a:latin typeface="Bookman Old Style" pitchFamily="18" charset="0"/>
              </a:rPr>
              <a:t>emp</a:t>
            </a:r>
            <a:r>
              <a:rPr lang="en-US" sz="3321" dirty="0">
                <a:solidFill>
                  <a:srgbClr val="213AF1"/>
                </a:solidFill>
                <a:latin typeface="Bookman Old Style" pitchFamily="18" charset="0"/>
              </a:rPr>
              <a:t> ∧ ∃ s ∈ dept(t[</a:t>
            </a:r>
            <a:r>
              <a:rPr lang="en-US" sz="3321" dirty="0" err="1">
                <a:solidFill>
                  <a:srgbClr val="213AF1"/>
                </a:solidFill>
                <a:latin typeface="Bookman Old Style" pitchFamily="18" charset="0"/>
              </a:rPr>
              <a:t>dname</a:t>
            </a:r>
            <a:r>
              <a:rPr lang="en-US" sz="3321" dirty="0">
                <a:solidFill>
                  <a:srgbClr val="213AF1"/>
                </a:solidFill>
                <a:latin typeface="Bookman Old Style" pitchFamily="18" charset="0"/>
              </a:rPr>
              <a:t>] = s[</a:t>
            </a:r>
            <a:r>
              <a:rPr lang="en-US" sz="3321" dirty="0" err="1">
                <a:solidFill>
                  <a:srgbClr val="213AF1"/>
                </a:solidFill>
                <a:latin typeface="Bookman Old Style" pitchFamily="18" charset="0"/>
              </a:rPr>
              <a:t>dname</a:t>
            </a:r>
            <a:r>
              <a:rPr lang="en-US" sz="3321" dirty="0">
                <a:solidFill>
                  <a:srgbClr val="213AF1"/>
                </a:solidFill>
                <a:latin typeface="Bookman Old Style" pitchFamily="18" charset="0"/>
              </a:rPr>
              <a:t>])</a:t>
            </a:r>
          </a:p>
          <a:p>
            <a:pPr>
              <a:buNone/>
            </a:pPr>
            <a:r>
              <a:rPr lang="en-US" sz="3321" dirty="0">
                <a:solidFill>
                  <a:srgbClr val="213AF1"/>
                </a:solidFill>
                <a:latin typeface="Bookman Old Style" pitchFamily="18" charset="0"/>
              </a:rPr>
              <a:t>t is a free variable. </a:t>
            </a:r>
          </a:p>
          <a:p>
            <a:pPr>
              <a:buNone/>
            </a:pPr>
            <a:r>
              <a:rPr lang="en-US" sz="3321" dirty="0" err="1">
                <a:solidFill>
                  <a:srgbClr val="213AF1"/>
                </a:solidFill>
                <a:latin typeface="Bookman Old Style" pitchFamily="18" charset="0"/>
              </a:rPr>
              <a:t>Tuple</a:t>
            </a:r>
            <a:r>
              <a:rPr lang="en-US" sz="3321" dirty="0">
                <a:solidFill>
                  <a:srgbClr val="213AF1"/>
                </a:solidFill>
                <a:latin typeface="Bookman Old Style" pitchFamily="18" charset="0"/>
              </a:rPr>
              <a:t> variable s is said to be a bound variable.</a:t>
            </a:r>
          </a:p>
        </p:txBody>
      </p:sp>
      <p:sp>
        <p:nvSpPr>
          <p:cNvPr id="7" name="Title 1"/>
          <p:cNvSpPr>
            <a:spLocks noGrp="1"/>
          </p:cNvSpPr>
          <p:nvPr>
            <p:ph type="title"/>
          </p:nvPr>
        </p:nvSpPr>
        <p:spPr>
          <a:xfrm>
            <a:off x="187701" y="0"/>
            <a:ext cx="12004299" cy="777573"/>
          </a:xfrm>
        </p:spPr>
        <p:txBody>
          <a:bodyPr>
            <a:noAutofit/>
          </a:bodyPr>
          <a:lstStyle/>
          <a:p>
            <a:pPr algn="l"/>
            <a:r>
              <a:rPr lang="en-US" sz="2539" dirty="0">
                <a:solidFill>
                  <a:srgbClr val="FF0000"/>
                </a:solidFill>
                <a:latin typeface="Copperplate Gothic Light" pitchFamily="34" charset="0"/>
              </a:rPr>
              <a:t>Relational algebra queries, Tuple relational calculus </a:t>
            </a:r>
          </a:p>
        </p:txBody>
      </p:sp>
      <p:sp>
        <p:nvSpPr>
          <p:cNvPr id="2" name="Slide Number Placeholder 1">
            <a:extLst>
              <a:ext uri="{FF2B5EF4-FFF2-40B4-BE49-F238E27FC236}">
                <a16:creationId xmlns:a16="http://schemas.microsoft.com/office/drawing/2014/main" id="{638D0EE2-948E-4F30-A34E-29BE88333ED7}"/>
              </a:ext>
            </a:extLst>
          </p:cNvPr>
          <p:cNvSpPr>
            <a:spLocks noGrp="1"/>
          </p:cNvSpPr>
          <p:nvPr>
            <p:ph type="sldNum" sz="quarter" idx="12"/>
          </p:nvPr>
        </p:nvSpPr>
        <p:spPr/>
        <p:txBody>
          <a:bodyPr/>
          <a:lstStyle/>
          <a:p>
            <a:fld id="{30BB16E2-1063-4ECC-B0F4-DD6A8CC0C30D}" type="slidenum">
              <a:rPr lang="en-US" smtClean="0"/>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3822" y="847347"/>
            <a:ext cx="11163904" cy="5442403"/>
          </a:xfrm>
        </p:spPr>
        <p:txBody>
          <a:bodyPr>
            <a:noAutofit/>
          </a:bodyPr>
          <a:lstStyle/>
          <a:p>
            <a:pPr>
              <a:buClr>
                <a:srgbClr val="C00000"/>
              </a:buClr>
              <a:buFont typeface="Wingdings" pitchFamily="2" charset="2"/>
              <a:buChar char="ü"/>
            </a:pPr>
            <a:r>
              <a:rPr lang="en-US" sz="2539" dirty="0">
                <a:solidFill>
                  <a:srgbClr val="213AF1"/>
                </a:solidFill>
                <a:latin typeface="Bookman Old Style" pitchFamily="18" charset="0"/>
              </a:rPr>
              <a:t>A </a:t>
            </a:r>
            <a:r>
              <a:rPr lang="en-US" sz="2539" dirty="0" err="1">
                <a:solidFill>
                  <a:srgbClr val="213AF1"/>
                </a:solidFill>
                <a:latin typeface="Bookman Old Style" pitchFamily="18" charset="0"/>
              </a:rPr>
              <a:t>tuple</a:t>
            </a:r>
            <a:r>
              <a:rPr lang="en-US" sz="2539" dirty="0">
                <a:solidFill>
                  <a:srgbClr val="213AF1"/>
                </a:solidFill>
                <a:latin typeface="Bookman Old Style" pitchFamily="18" charset="0"/>
              </a:rPr>
              <a:t>-relational-calculus formula is built up out of atoms. An atom has one of the following forms:</a:t>
            </a:r>
          </a:p>
          <a:p>
            <a:pPr>
              <a:buClr>
                <a:srgbClr val="C00000"/>
              </a:buClr>
              <a:buFont typeface="Wingdings" pitchFamily="2" charset="2"/>
              <a:buChar char="ü"/>
            </a:pPr>
            <a:endParaRPr lang="en-US" sz="977" dirty="0">
              <a:solidFill>
                <a:srgbClr val="213AF1"/>
              </a:solidFill>
              <a:latin typeface="Bookman Old Style" pitchFamily="18" charset="0"/>
            </a:endParaRPr>
          </a:p>
          <a:p>
            <a:pPr>
              <a:buClr>
                <a:srgbClr val="C00000"/>
              </a:buClr>
              <a:buFont typeface="Wingdings" pitchFamily="2" charset="2"/>
              <a:buChar char="ü"/>
            </a:pPr>
            <a:r>
              <a:rPr lang="en-US" sz="2539" dirty="0">
                <a:solidFill>
                  <a:srgbClr val="213AF1"/>
                </a:solidFill>
                <a:latin typeface="Bookman Old Style" pitchFamily="18" charset="0"/>
              </a:rPr>
              <a:t>s ∈ r, where s is a </a:t>
            </a:r>
            <a:r>
              <a:rPr lang="en-US" sz="2539" dirty="0" err="1">
                <a:solidFill>
                  <a:srgbClr val="213AF1"/>
                </a:solidFill>
                <a:latin typeface="Bookman Old Style" pitchFamily="18" charset="0"/>
              </a:rPr>
              <a:t>tuple</a:t>
            </a:r>
            <a:r>
              <a:rPr lang="en-US" sz="2539" dirty="0">
                <a:solidFill>
                  <a:srgbClr val="213AF1"/>
                </a:solidFill>
                <a:latin typeface="Bookman Old Style" pitchFamily="18" charset="0"/>
              </a:rPr>
              <a:t> variable and r is a relation (we do not allow use of the ∈/ operator).</a:t>
            </a:r>
          </a:p>
          <a:p>
            <a:pPr>
              <a:buClr>
                <a:srgbClr val="C00000"/>
              </a:buClr>
              <a:buFont typeface="Wingdings" pitchFamily="2" charset="2"/>
              <a:buChar char="ü"/>
            </a:pPr>
            <a:endParaRPr lang="en-US" sz="1172" dirty="0">
              <a:solidFill>
                <a:srgbClr val="213AF1"/>
              </a:solidFill>
              <a:latin typeface="Bookman Old Style" pitchFamily="18" charset="0"/>
            </a:endParaRPr>
          </a:p>
          <a:p>
            <a:pPr>
              <a:buClr>
                <a:srgbClr val="C00000"/>
              </a:buClr>
              <a:buFont typeface="Wingdings" pitchFamily="2" charset="2"/>
              <a:buChar char="ü"/>
            </a:pPr>
            <a:r>
              <a:rPr lang="en-US" sz="2539" dirty="0">
                <a:solidFill>
                  <a:srgbClr val="213AF1"/>
                </a:solidFill>
                <a:latin typeface="Bookman Old Style" pitchFamily="18" charset="0"/>
              </a:rPr>
              <a:t>s[x]  u[y], where s and u are </a:t>
            </a:r>
            <a:r>
              <a:rPr lang="en-US" sz="2539" dirty="0" err="1">
                <a:solidFill>
                  <a:srgbClr val="213AF1"/>
                </a:solidFill>
                <a:latin typeface="Bookman Old Style" pitchFamily="18" charset="0"/>
              </a:rPr>
              <a:t>tuple</a:t>
            </a:r>
            <a:r>
              <a:rPr lang="en-US" sz="2539" dirty="0">
                <a:solidFill>
                  <a:srgbClr val="213AF1"/>
                </a:solidFill>
                <a:latin typeface="Bookman Old Style" pitchFamily="18" charset="0"/>
              </a:rPr>
              <a:t> variables, x is an attribute on which s is defined, y is an attribute on which u is defined, and  is a comparison operator (&lt;, ≤, =, =, &gt;, ≥); we require that attributes x and y have domains whose members can be compared by (-)  </a:t>
            </a:r>
          </a:p>
          <a:p>
            <a:pPr>
              <a:buClr>
                <a:srgbClr val="C00000"/>
              </a:buClr>
              <a:buFont typeface="Wingdings" pitchFamily="2" charset="2"/>
              <a:buChar char="ü"/>
            </a:pPr>
            <a:endParaRPr lang="en-US" sz="1172" dirty="0">
              <a:solidFill>
                <a:srgbClr val="213AF1"/>
              </a:solidFill>
              <a:latin typeface="Bookman Old Style" pitchFamily="18" charset="0"/>
            </a:endParaRPr>
          </a:p>
          <a:p>
            <a:pPr>
              <a:buClr>
                <a:srgbClr val="C00000"/>
              </a:buClr>
              <a:buFont typeface="Wingdings" pitchFamily="2" charset="2"/>
              <a:buChar char="ü"/>
            </a:pPr>
            <a:r>
              <a:rPr lang="en-US" sz="2539" dirty="0">
                <a:solidFill>
                  <a:srgbClr val="213AF1"/>
                </a:solidFill>
                <a:latin typeface="Bookman Old Style" pitchFamily="18" charset="0"/>
              </a:rPr>
              <a:t>s[x]  c, where s is a </a:t>
            </a:r>
            <a:r>
              <a:rPr lang="en-US" sz="2539" dirty="0" err="1">
                <a:solidFill>
                  <a:srgbClr val="213AF1"/>
                </a:solidFill>
                <a:latin typeface="Bookman Old Style" pitchFamily="18" charset="0"/>
              </a:rPr>
              <a:t>tuple</a:t>
            </a:r>
            <a:r>
              <a:rPr lang="en-US" sz="2539" dirty="0">
                <a:solidFill>
                  <a:srgbClr val="213AF1"/>
                </a:solidFill>
                <a:latin typeface="Bookman Old Style" pitchFamily="18" charset="0"/>
              </a:rPr>
              <a:t> variable, x is an attribute on which s is defined, is a comparison operator, and c is a constant in the domain of attribute x.</a:t>
            </a:r>
          </a:p>
        </p:txBody>
      </p:sp>
      <p:sp>
        <p:nvSpPr>
          <p:cNvPr id="7" name="Title 1"/>
          <p:cNvSpPr>
            <a:spLocks noGrp="1"/>
          </p:cNvSpPr>
          <p:nvPr>
            <p:ph type="title"/>
          </p:nvPr>
        </p:nvSpPr>
        <p:spPr>
          <a:xfrm>
            <a:off x="187701" y="0"/>
            <a:ext cx="11890885" cy="777573"/>
          </a:xfrm>
        </p:spPr>
        <p:txBody>
          <a:bodyPr>
            <a:noAutofit/>
          </a:bodyPr>
          <a:lstStyle/>
          <a:p>
            <a:pPr algn="l"/>
            <a:r>
              <a:rPr lang="en-US" sz="2539" dirty="0">
                <a:solidFill>
                  <a:srgbClr val="FF0000"/>
                </a:solidFill>
                <a:latin typeface="Copperplate Gothic Light" pitchFamily="34" charset="0"/>
              </a:rPr>
              <a:t>Relational algebra queries, Tuple relational calculus </a:t>
            </a:r>
          </a:p>
        </p:txBody>
      </p:sp>
      <p:sp>
        <p:nvSpPr>
          <p:cNvPr id="2" name="Slide Number Placeholder 1">
            <a:extLst>
              <a:ext uri="{FF2B5EF4-FFF2-40B4-BE49-F238E27FC236}">
                <a16:creationId xmlns:a16="http://schemas.microsoft.com/office/drawing/2014/main" id="{25250408-3620-0F40-D0DE-16AF8D9D9AE8}"/>
              </a:ext>
            </a:extLst>
          </p:cNvPr>
          <p:cNvSpPr>
            <a:spLocks noGrp="1"/>
          </p:cNvSpPr>
          <p:nvPr>
            <p:ph type="sldNum" sz="quarter" idx="12"/>
          </p:nvPr>
        </p:nvSpPr>
        <p:spPr/>
        <p:txBody>
          <a:bodyPr/>
          <a:lstStyle/>
          <a:p>
            <a:fld id="{30BB16E2-1063-4ECC-B0F4-DD6A8CC0C30D}"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725" y="1056671"/>
            <a:ext cx="11512776" cy="5069496"/>
          </a:xfrm>
        </p:spPr>
        <p:txBody>
          <a:bodyPr>
            <a:normAutofit/>
          </a:bodyPr>
          <a:lstStyle/>
          <a:p>
            <a:pPr>
              <a:buNone/>
            </a:pPr>
            <a:r>
              <a:rPr lang="en-US" sz="2442" dirty="0">
                <a:solidFill>
                  <a:srgbClr val="213AF1"/>
                </a:solidFill>
                <a:latin typeface="Bookman Old Style" pitchFamily="18" charset="0"/>
              </a:rPr>
              <a:t>We build up formulae from atoms by using the following rules:</a:t>
            </a:r>
          </a:p>
          <a:p>
            <a:pPr>
              <a:lnSpc>
                <a:spcPct val="150000"/>
              </a:lnSpc>
              <a:buClr>
                <a:srgbClr val="C00000"/>
              </a:buClr>
              <a:buFont typeface="Wingdings" pitchFamily="2" charset="2"/>
              <a:buChar char="ü"/>
            </a:pPr>
            <a:r>
              <a:rPr lang="en-US" sz="2442" dirty="0">
                <a:solidFill>
                  <a:srgbClr val="213AF1"/>
                </a:solidFill>
                <a:latin typeface="Bookman Old Style" pitchFamily="18" charset="0"/>
              </a:rPr>
              <a:t>An atom is a formula.</a:t>
            </a:r>
          </a:p>
          <a:p>
            <a:pPr>
              <a:lnSpc>
                <a:spcPct val="150000"/>
              </a:lnSpc>
              <a:buClr>
                <a:srgbClr val="C00000"/>
              </a:buClr>
              <a:buFont typeface="Wingdings" pitchFamily="2" charset="2"/>
              <a:buChar char="ü"/>
            </a:pPr>
            <a:r>
              <a:rPr lang="en-US" sz="2442" dirty="0">
                <a:solidFill>
                  <a:srgbClr val="213AF1"/>
                </a:solidFill>
                <a:latin typeface="Bookman Old Style" pitchFamily="18" charset="0"/>
              </a:rPr>
              <a:t>If P1 is a formula, then so are ¬P1 and (P1).</a:t>
            </a:r>
          </a:p>
          <a:p>
            <a:pPr>
              <a:lnSpc>
                <a:spcPct val="150000"/>
              </a:lnSpc>
              <a:buClr>
                <a:srgbClr val="C00000"/>
              </a:buClr>
              <a:buFont typeface="Wingdings" pitchFamily="2" charset="2"/>
              <a:buChar char="ü"/>
            </a:pPr>
            <a:r>
              <a:rPr lang="en-US" sz="2442" dirty="0">
                <a:solidFill>
                  <a:srgbClr val="213AF1"/>
                </a:solidFill>
                <a:latin typeface="Bookman Old Style" pitchFamily="18" charset="0"/>
              </a:rPr>
              <a:t>If P1 and P2 are formulae, then so are P1 ∨ P2, P1 ∧ P2, and P1 ⇒ P2.</a:t>
            </a:r>
          </a:p>
          <a:p>
            <a:pPr>
              <a:lnSpc>
                <a:spcPct val="150000"/>
              </a:lnSpc>
              <a:buClr>
                <a:srgbClr val="C00000"/>
              </a:buClr>
              <a:buFont typeface="Wingdings" pitchFamily="2" charset="2"/>
              <a:buChar char="ü"/>
            </a:pPr>
            <a:r>
              <a:rPr lang="en-US" sz="2442" dirty="0">
                <a:solidFill>
                  <a:srgbClr val="213AF1"/>
                </a:solidFill>
                <a:latin typeface="Bookman Old Style" pitchFamily="18" charset="0"/>
              </a:rPr>
              <a:t>If P1(s) is a formula containing a free </a:t>
            </a:r>
            <a:r>
              <a:rPr lang="en-US" sz="2442" dirty="0" err="1">
                <a:solidFill>
                  <a:srgbClr val="213AF1"/>
                </a:solidFill>
                <a:latin typeface="Bookman Old Style" pitchFamily="18" charset="0"/>
              </a:rPr>
              <a:t>tuple</a:t>
            </a:r>
            <a:r>
              <a:rPr lang="en-US" sz="2442" dirty="0">
                <a:solidFill>
                  <a:srgbClr val="213AF1"/>
                </a:solidFill>
                <a:latin typeface="Bookman Old Style" pitchFamily="18" charset="0"/>
              </a:rPr>
              <a:t> variable s, and r is a relation, then</a:t>
            </a:r>
          </a:p>
          <a:p>
            <a:pPr>
              <a:buNone/>
            </a:pPr>
            <a:r>
              <a:rPr lang="en-US" sz="2442" dirty="0">
                <a:solidFill>
                  <a:srgbClr val="213AF1"/>
                </a:solidFill>
                <a:latin typeface="Bookman Old Style" pitchFamily="18" charset="0"/>
              </a:rPr>
              <a:t>				∃ s ∈ r (P1(s)) and ∀ s ∈ r (P1(s))</a:t>
            </a:r>
          </a:p>
          <a:p>
            <a:pPr>
              <a:buNone/>
            </a:pPr>
            <a:r>
              <a:rPr lang="en-US" sz="2442" dirty="0">
                <a:solidFill>
                  <a:srgbClr val="213AF1"/>
                </a:solidFill>
                <a:latin typeface="Bookman Old Style" pitchFamily="18" charset="0"/>
              </a:rPr>
              <a:t>    are also formulae.</a:t>
            </a:r>
          </a:p>
          <a:p>
            <a:pPr>
              <a:buNone/>
            </a:pPr>
            <a:endParaRPr lang="en-US" sz="2442" dirty="0"/>
          </a:p>
        </p:txBody>
      </p:sp>
      <p:sp>
        <p:nvSpPr>
          <p:cNvPr id="7" name="Title 1"/>
          <p:cNvSpPr>
            <a:spLocks noGrp="1"/>
          </p:cNvSpPr>
          <p:nvPr>
            <p:ph type="title"/>
          </p:nvPr>
        </p:nvSpPr>
        <p:spPr>
          <a:xfrm>
            <a:off x="187701" y="0"/>
            <a:ext cx="11922783" cy="777573"/>
          </a:xfrm>
        </p:spPr>
        <p:txBody>
          <a:bodyPr>
            <a:noAutofit/>
          </a:bodyPr>
          <a:lstStyle/>
          <a:p>
            <a:pPr algn="l"/>
            <a:r>
              <a:rPr lang="en-US" sz="2539" dirty="0">
                <a:solidFill>
                  <a:srgbClr val="FF0000"/>
                </a:solidFill>
                <a:latin typeface="Copperplate Gothic Light" pitchFamily="34" charset="0"/>
              </a:rPr>
              <a:t>Relational algebra queries, Tuple relational calculus </a:t>
            </a:r>
          </a:p>
        </p:txBody>
      </p:sp>
      <p:sp>
        <p:nvSpPr>
          <p:cNvPr id="2" name="Slide Number Placeholder 1">
            <a:extLst>
              <a:ext uri="{FF2B5EF4-FFF2-40B4-BE49-F238E27FC236}">
                <a16:creationId xmlns:a16="http://schemas.microsoft.com/office/drawing/2014/main" id="{299278D1-9D11-4906-6284-A2D3DE57DC80}"/>
              </a:ext>
            </a:extLst>
          </p:cNvPr>
          <p:cNvSpPr>
            <a:spLocks noGrp="1"/>
          </p:cNvSpPr>
          <p:nvPr>
            <p:ph type="sldNum" sz="quarter" idx="12"/>
          </p:nvPr>
        </p:nvSpPr>
        <p:spPr/>
        <p:txBody>
          <a:bodyPr/>
          <a:lstStyle/>
          <a:p>
            <a:fld id="{30BB16E2-1063-4ECC-B0F4-DD6A8CC0C30D}" type="slidenum">
              <a:rPr lang="en-US" smtClean="0"/>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612" y="1032213"/>
            <a:ext cx="11512776" cy="5069496"/>
          </a:xfrm>
        </p:spPr>
        <p:txBody>
          <a:bodyPr>
            <a:normAutofit/>
          </a:bodyPr>
          <a:lstStyle/>
          <a:p>
            <a:r>
              <a:rPr lang="en-US" altLang="en-US" sz="1600" i="1" dirty="0"/>
              <a:t>branch </a:t>
            </a:r>
            <a:r>
              <a:rPr lang="en-US" altLang="en-US" sz="1600" dirty="0"/>
              <a:t>(</a:t>
            </a:r>
            <a:r>
              <a:rPr lang="en-US" altLang="en-US" sz="1600" i="1" dirty="0" err="1"/>
              <a:t>branch_name</a:t>
            </a:r>
            <a:r>
              <a:rPr lang="en-US" altLang="en-US" sz="1600" i="1" dirty="0"/>
              <a:t>, </a:t>
            </a:r>
            <a:r>
              <a:rPr lang="en-US" altLang="en-US" sz="1600" i="1" dirty="0" err="1"/>
              <a:t>branch_city</a:t>
            </a:r>
            <a:r>
              <a:rPr lang="en-US" altLang="en-US" sz="1600" i="1" dirty="0"/>
              <a:t>, assets </a:t>
            </a:r>
            <a:r>
              <a:rPr lang="en-US" altLang="en-US" sz="1600" dirty="0"/>
              <a:t>)</a:t>
            </a:r>
            <a:r>
              <a:rPr lang="en-US" altLang="en-US" sz="1600" i="1" dirty="0"/>
              <a:t> </a:t>
            </a:r>
          </a:p>
          <a:p>
            <a:r>
              <a:rPr lang="en-US" altLang="en-US" sz="1600" i="1" dirty="0"/>
              <a:t>customer </a:t>
            </a:r>
            <a:r>
              <a:rPr lang="en-US" altLang="en-US" sz="1600" dirty="0"/>
              <a:t>(</a:t>
            </a:r>
            <a:r>
              <a:rPr lang="en-US" altLang="en-US" sz="1600" i="1" dirty="0" err="1"/>
              <a:t>customer_name</a:t>
            </a:r>
            <a:r>
              <a:rPr lang="en-US" altLang="en-US" sz="1600" i="1" dirty="0"/>
              <a:t>, </a:t>
            </a:r>
            <a:r>
              <a:rPr lang="en-US" altLang="en-US" sz="1600" i="1" dirty="0" err="1"/>
              <a:t>customer_street</a:t>
            </a:r>
            <a:r>
              <a:rPr lang="en-US" altLang="en-US" sz="1600" i="1" dirty="0"/>
              <a:t>, </a:t>
            </a:r>
            <a:r>
              <a:rPr lang="en-US" altLang="en-US" sz="1600" i="1" dirty="0" err="1"/>
              <a:t>customer_city</a:t>
            </a:r>
            <a:r>
              <a:rPr lang="en-US" altLang="en-US" sz="1600" i="1" dirty="0"/>
              <a:t> </a:t>
            </a:r>
            <a:r>
              <a:rPr lang="en-US" altLang="en-US" sz="1600" dirty="0"/>
              <a:t>)</a:t>
            </a:r>
            <a:r>
              <a:rPr lang="en-US" altLang="en-US" sz="1600" i="1" dirty="0"/>
              <a:t> </a:t>
            </a:r>
          </a:p>
          <a:p>
            <a:r>
              <a:rPr lang="en-US" altLang="en-US" sz="1600" i="1" dirty="0"/>
              <a:t>account </a:t>
            </a:r>
            <a:r>
              <a:rPr lang="en-US" altLang="en-US" sz="1600" dirty="0"/>
              <a:t>(</a:t>
            </a:r>
            <a:r>
              <a:rPr lang="en-US" altLang="en-US" sz="1600" i="1" dirty="0" err="1"/>
              <a:t>account_number</a:t>
            </a:r>
            <a:r>
              <a:rPr lang="en-US" altLang="en-US" sz="1600" i="1" dirty="0"/>
              <a:t>, </a:t>
            </a:r>
            <a:r>
              <a:rPr lang="en-US" altLang="en-US" sz="1600" i="1" dirty="0" err="1"/>
              <a:t>branch_name</a:t>
            </a:r>
            <a:r>
              <a:rPr lang="en-US" altLang="en-US" sz="1600" i="1" dirty="0"/>
              <a:t>, balance </a:t>
            </a:r>
            <a:r>
              <a:rPr lang="en-US" altLang="en-US" sz="1600" dirty="0"/>
              <a:t>)</a:t>
            </a:r>
            <a:r>
              <a:rPr lang="en-US" altLang="en-US" sz="1600" i="1" dirty="0"/>
              <a:t> </a:t>
            </a:r>
          </a:p>
          <a:p>
            <a:r>
              <a:rPr lang="en-US" altLang="en-US" sz="1600" i="1" dirty="0"/>
              <a:t>loan </a:t>
            </a:r>
            <a:r>
              <a:rPr lang="en-US" altLang="en-US" sz="1600" dirty="0"/>
              <a:t>(</a:t>
            </a:r>
            <a:r>
              <a:rPr lang="en-US" altLang="en-US" sz="1600" i="1" dirty="0" err="1"/>
              <a:t>loan_number</a:t>
            </a:r>
            <a:r>
              <a:rPr lang="en-US" altLang="en-US" sz="1600" i="1" dirty="0"/>
              <a:t>, </a:t>
            </a:r>
            <a:r>
              <a:rPr lang="en-US" altLang="en-US" sz="1600" i="1" dirty="0" err="1"/>
              <a:t>branch_name</a:t>
            </a:r>
            <a:r>
              <a:rPr lang="en-US" altLang="en-US" sz="1600" i="1" dirty="0"/>
              <a:t>, amount </a:t>
            </a:r>
            <a:r>
              <a:rPr lang="en-US" altLang="en-US" sz="1600" dirty="0"/>
              <a:t>)</a:t>
            </a:r>
            <a:endParaRPr lang="en-US" altLang="en-US" sz="1600" i="1" dirty="0"/>
          </a:p>
          <a:p>
            <a:r>
              <a:rPr lang="en-US" altLang="en-US" sz="1600" i="1" dirty="0"/>
              <a:t>depositor </a:t>
            </a:r>
            <a:r>
              <a:rPr lang="en-US" altLang="en-US" sz="1600" dirty="0"/>
              <a:t>(</a:t>
            </a:r>
            <a:r>
              <a:rPr lang="en-US" altLang="en-US" sz="1600" i="1" dirty="0" err="1"/>
              <a:t>customer_name</a:t>
            </a:r>
            <a:r>
              <a:rPr lang="en-US" altLang="en-US" sz="1600" i="1" dirty="0"/>
              <a:t>, </a:t>
            </a:r>
            <a:r>
              <a:rPr lang="en-US" altLang="en-US" sz="1600" i="1" dirty="0" err="1"/>
              <a:t>account_number</a:t>
            </a:r>
            <a:r>
              <a:rPr lang="en-US" altLang="en-US" sz="1600" i="1" dirty="0"/>
              <a:t> </a:t>
            </a:r>
            <a:r>
              <a:rPr lang="en-US" altLang="en-US" sz="1600" dirty="0"/>
              <a:t>)</a:t>
            </a:r>
            <a:endParaRPr lang="en-US" altLang="en-US" sz="1600" i="1" dirty="0"/>
          </a:p>
          <a:p>
            <a:r>
              <a:rPr lang="en-US" altLang="en-US" sz="1600" i="1" dirty="0"/>
              <a:t>borrower</a:t>
            </a:r>
            <a:r>
              <a:rPr lang="en-US" altLang="en-US" sz="1600" b="1" i="1" dirty="0">
                <a:solidFill>
                  <a:schemeClr val="tx2"/>
                </a:solidFill>
              </a:rPr>
              <a:t> </a:t>
            </a:r>
            <a:r>
              <a:rPr lang="en-US" altLang="en-US" sz="1600" dirty="0"/>
              <a:t>(</a:t>
            </a:r>
            <a:r>
              <a:rPr lang="en-US" altLang="en-US" sz="1600" i="1" dirty="0" err="1"/>
              <a:t>customer_name</a:t>
            </a:r>
            <a:r>
              <a:rPr lang="en-US" altLang="en-US" sz="1600" i="1" dirty="0"/>
              <a:t>, </a:t>
            </a:r>
            <a:r>
              <a:rPr lang="en-US" altLang="en-US" sz="1600" i="1" dirty="0" err="1"/>
              <a:t>loan_number</a:t>
            </a:r>
            <a:r>
              <a:rPr lang="en-US" altLang="en-US" sz="1600" i="1" dirty="0"/>
              <a:t> </a:t>
            </a:r>
            <a:r>
              <a:rPr lang="en-US" altLang="en-US" sz="1600" dirty="0"/>
              <a:t>)</a:t>
            </a:r>
            <a:endParaRPr lang="en-US" altLang="en-US" sz="1600" i="1" dirty="0"/>
          </a:p>
          <a:p>
            <a:pPr>
              <a:buNone/>
            </a:pPr>
            <a:endParaRPr lang="en-US" sz="2442" dirty="0"/>
          </a:p>
        </p:txBody>
      </p:sp>
      <p:sp>
        <p:nvSpPr>
          <p:cNvPr id="7" name="Title 1"/>
          <p:cNvSpPr>
            <a:spLocks noGrp="1"/>
          </p:cNvSpPr>
          <p:nvPr>
            <p:ph type="title"/>
          </p:nvPr>
        </p:nvSpPr>
        <p:spPr>
          <a:xfrm>
            <a:off x="187701" y="0"/>
            <a:ext cx="11922783" cy="777573"/>
          </a:xfrm>
        </p:spPr>
        <p:txBody>
          <a:bodyPr>
            <a:noAutofit/>
          </a:bodyPr>
          <a:lstStyle/>
          <a:p>
            <a:pPr algn="l"/>
            <a:r>
              <a:rPr lang="en-US" sz="2539" dirty="0">
                <a:solidFill>
                  <a:srgbClr val="FF0000"/>
                </a:solidFill>
                <a:latin typeface="Copperplate Gothic Light" pitchFamily="34" charset="0"/>
              </a:rPr>
              <a:t>Relational algebra queries, Tuple relational calculus </a:t>
            </a:r>
          </a:p>
        </p:txBody>
      </p:sp>
      <p:sp>
        <p:nvSpPr>
          <p:cNvPr id="2" name="Slide Number Placeholder 1">
            <a:extLst>
              <a:ext uri="{FF2B5EF4-FFF2-40B4-BE49-F238E27FC236}">
                <a16:creationId xmlns:a16="http://schemas.microsoft.com/office/drawing/2014/main" id="{299278D1-9D11-4906-6284-A2D3DE57DC80}"/>
              </a:ext>
            </a:extLst>
          </p:cNvPr>
          <p:cNvSpPr>
            <a:spLocks noGrp="1"/>
          </p:cNvSpPr>
          <p:nvPr>
            <p:ph type="sldNum" sz="quarter" idx="12"/>
          </p:nvPr>
        </p:nvSpPr>
        <p:spPr/>
        <p:txBody>
          <a:bodyPr/>
          <a:lstStyle/>
          <a:p>
            <a:fld id="{30BB16E2-1063-4ECC-B0F4-DD6A8CC0C30D}" type="slidenum">
              <a:rPr lang="en-US" smtClean="0"/>
              <a:pPr/>
              <a:t>57</a:t>
            </a:fld>
            <a:endParaRPr lang="en-US"/>
          </a:p>
        </p:txBody>
      </p:sp>
    </p:spTree>
    <p:extLst>
      <p:ext uri="{BB962C8B-B14F-4D97-AF65-F5344CB8AC3E}">
        <p14:creationId xmlns:p14="http://schemas.microsoft.com/office/powerpoint/2010/main" val="21095766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612" y="1032213"/>
            <a:ext cx="11512776" cy="5069496"/>
          </a:xfrm>
        </p:spPr>
        <p:txBody>
          <a:bodyPr>
            <a:normAutofit/>
          </a:bodyPr>
          <a:lstStyle/>
          <a:p>
            <a:pPr>
              <a:buNone/>
            </a:pPr>
            <a:endParaRPr lang="en-US" altLang="en-US" sz="2000" dirty="0">
              <a:latin typeface="Times New Roman" panose="02020603050405020304" pitchFamily="18" charset="0"/>
              <a:cs typeface="Times New Roman" panose="02020603050405020304" pitchFamily="18" charset="0"/>
            </a:endParaRPr>
          </a:p>
          <a:p>
            <a:pPr>
              <a:buNone/>
            </a:pPr>
            <a:r>
              <a:rPr lang="en-US" altLang="en-US" sz="2000" dirty="0">
                <a:solidFill>
                  <a:srgbClr val="FF0000"/>
                </a:solidFill>
                <a:latin typeface="Times New Roman" panose="02020603050405020304" pitchFamily="18" charset="0"/>
                <a:cs typeface="Times New Roman" panose="02020603050405020304" pitchFamily="18" charset="0"/>
              </a:rPr>
              <a:t>Banking Examples</a:t>
            </a:r>
          </a:p>
          <a:p>
            <a:pPr>
              <a:buNone/>
            </a:pPr>
            <a:r>
              <a:rPr lang="en-US" altLang="en-US" sz="2000" dirty="0">
                <a:latin typeface="Times New Roman" panose="02020603050405020304" pitchFamily="18" charset="0"/>
                <a:cs typeface="Times New Roman" panose="02020603050405020304" pitchFamily="18" charset="0"/>
              </a:rPr>
              <a:t>Find the </a:t>
            </a:r>
            <a:r>
              <a:rPr lang="en-US" altLang="en-US" sz="2000" i="1" dirty="0" err="1">
                <a:latin typeface="Times New Roman" panose="02020603050405020304" pitchFamily="18" charset="0"/>
                <a:cs typeface="Times New Roman" panose="02020603050405020304" pitchFamily="18" charset="0"/>
              </a:rPr>
              <a:t>loan_number</a:t>
            </a:r>
            <a:r>
              <a:rPr lang="en-US" altLang="en-US" sz="2000" i="1" dirty="0">
                <a:latin typeface="Times New Roman" panose="02020603050405020304" pitchFamily="18" charset="0"/>
                <a:cs typeface="Times New Roman" panose="02020603050405020304" pitchFamily="18" charset="0"/>
              </a:rPr>
              <a:t>, </a:t>
            </a:r>
            <a:r>
              <a:rPr lang="en-US" altLang="en-US" sz="2000" i="1" dirty="0" err="1">
                <a:latin typeface="Times New Roman" panose="02020603050405020304" pitchFamily="18" charset="0"/>
                <a:cs typeface="Times New Roman" panose="02020603050405020304" pitchFamily="18" charset="0"/>
              </a:rPr>
              <a:t>branch_name</a:t>
            </a:r>
            <a:r>
              <a:rPr lang="en-US" altLang="en-US" sz="2000" i="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and</a:t>
            </a:r>
            <a:r>
              <a:rPr lang="en-US" altLang="en-US" sz="2000" i="1" dirty="0">
                <a:latin typeface="Times New Roman" panose="02020603050405020304" pitchFamily="18" charset="0"/>
                <a:cs typeface="Times New Roman" panose="02020603050405020304" pitchFamily="18" charset="0"/>
              </a:rPr>
              <a:t> amount </a:t>
            </a:r>
            <a:r>
              <a:rPr lang="en-US" altLang="en-US" sz="2000" dirty="0">
                <a:latin typeface="Times New Roman" panose="02020603050405020304" pitchFamily="18" charset="0"/>
                <a:cs typeface="Times New Roman" panose="02020603050405020304" pitchFamily="18" charset="0"/>
              </a:rPr>
              <a:t>for loans of over $1200</a:t>
            </a:r>
            <a:endParaRPr lang="en-US" altLang="en-US" sz="2000" dirty="0">
              <a:latin typeface="Times New Roman" panose="02020603050405020304" pitchFamily="18" charset="0"/>
              <a:cs typeface="Times New Roman" panose="02020603050405020304" pitchFamily="18" charset="0"/>
              <a:sym typeface="Symbol" panose="05050102010706020507" pitchFamily="18" charset="2"/>
            </a:endParaRPr>
          </a:p>
          <a:p>
            <a:pPr>
              <a:buNone/>
            </a:pPr>
            <a:endParaRPr lang="en-US" sz="2442" dirty="0"/>
          </a:p>
        </p:txBody>
      </p:sp>
      <p:sp>
        <p:nvSpPr>
          <p:cNvPr id="7" name="Title 1"/>
          <p:cNvSpPr>
            <a:spLocks noGrp="1"/>
          </p:cNvSpPr>
          <p:nvPr>
            <p:ph type="title"/>
          </p:nvPr>
        </p:nvSpPr>
        <p:spPr>
          <a:xfrm>
            <a:off x="187701" y="0"/>
            <a:ext cx="11827090" cy="777573"/>
          </a:xfrm>
        </p:spPr>
        <p:txBody>
          <a:bodyPr>
            <a:noAutofit/>
          </a:bodyPr>
          <a:lstStyle/>
          <a:p>
            <a:pPr algn="l"/>
            <a:r>
              <a:rPr lang="en-US" sz="2539" dirty="0">
                <a:solidFill>
                  <a:srgbClr val="FF0000"/>
                </a:solidFill>
                <a:latin typeface="Copperplate Gothic Light" pitchFamily="34" charset="0"/>
              </a:rPr>
              <a:t>Relational algebra queries, Tuple relational calculus </a:t>
            </a:r>
          </a:p>
        </p:txBody>
      </p:sp>
      <p:sp>
        <p:nvSpPr>
          <p:cNvPr id="2" name="Slide Number Placeholder 1">
            <a:extLst>
              <a:ext uri="{FF2B5EF4-FFF2-40B4-BE49-F238E27FC236}">
                <a16:creationId xmlns:a16="http://schemas.microsoft.com/office/drawing/2014/main" id="{299278D1-9D11-4906-6284-A2D3DE57DC80}"/>
              </a:ext>
            </a:extLst>
          </p:cNvPr>
          <p:cNvSpPr>
            <a:spLocks noGrp="1"/>
          </p:cNvSpPr>
          <p:nvPr>
            <p:ph type="sldNum" sz="quarter" idx="12"/>
          </p:nvPr>
        </p:nvSpPr>
        <p:spPr/>
        <p:txBody>
          <a:bodyPr/>
          <a:lstStyle/>
          <a:p>
            <a:fld id="{30BB16E2-1063-4ECC-B0F4-DD6A8CC0C30D}" type="slidenum">
              <a:rPr lang="en-US" smtClean="0"/>
              <a:pPr/>
              <a:t>58</a:t>
            </a:fld>
            <a:endParaRPr lang="en-US"/>
          </a:p>
        </p:txBody>
      </p:sp>
      <p:sp>
        <p:nvSpPr>
          <p:cNvPr id="4" name="Text Box 5">
            <a:extLst>
              <a:ext uri="{FF2B5EF4-FFF2-40B4-BE49-F238E27FC236}">
                <a16:creationId xmlns:a16="http://schemas.microsoft.com/office/drawing/2014/main" id="{CABA455F-3CDD-F6A5-4D75-DF6D57FF5D59}"/>
              </a:ext>
            </a:extLst>
          </p:cNvPr>
          <p:cNvSpPr txBox="1">
            <a:spLocks noChangeArrowheads="1"/>
          </p:cNvSpPr>
          <p:nvPr/>
        </p:nvSpPr>
        <p:spPr bwMode="auto">
          <a:xfrm>
            <a:off x="2694305" y="2157733"/>
            <a:ext cx="38449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35000"/>
              </a:spcBef>
              <a:buClr>
                <a:schemeClr val="tx2"/>
              </a:buClr>
              <a:buSzPct val="90000"/>
              <a:buFont typeface="Monotype Sorts" charset="2"/>
              <a:buNone/>
            </a:pPr>
            <a:r>
              <a:rPr kumimoji="1" lang="en-US" altLang="en-US" sz="2000" dirty="0"/>
              <a:t>{</a:t>
            </a:r>
            <a:r>
              <a:rPr kumimoji="1" lang="en-US" altLang="en-US" sz="2000" i="1" dirty="0"/>
              <a:t>t</a:t>
            </a:r>
            <a:r>
              <a:rPr kumimoji="1" lang="en-US" altLang="en-US" sz="2000" dirty="0"/>
              <a:t> | </a:t>
            </a:r>
            <a:r>
              <a:rPr kumimoji="1" lang="en-US" altLang="en-US" sz="2000" i="1" dirty="0"/>
              <a:t>t</a:t>
            </a:r>
            <a:r>
              <a:rPr kumimoji="1" lang="en-US" altLang="en-US" sz="2000" dirty="0"/>
              <a:t> </a:t>
            </a:r>
            <a:r>
              <a:rPr kumimoji="1" lang="en-US" altLang="en-US" sz="2000" dirty="0">
                <a:sym typeface="Symbol" panose="05050102010706020507" pitchFamily="18" charset="2"/>
              </a:rPr>
              <a:t> </a:t>
            </a:r>
            <a:r>
              <a:rPr kumimoji="1" lang="en-US" altLang="en-US" sz="2000" i="1" dirty="0">
                <a:sym typeface="Symbol" panose="05050102010706020507" pitchFamily="18" charset="2"/>
              </a:rPr>
              <a:t>loan</a:t>
            </a:r>
            <a:r>
              <a:rPr kumimoji="1" lang="en-US" altLang="en-US" sz="2000" dirty="0">
                <a:sym typeface="Symbol" panose="05050102010706020507" pitchFamily="18" charset="2"/>
              </a:rPr>
              <a:t>  </a:t>
            </a:r>
            <a:r>
              <a:rPr kumimoji="1" lang="en-US" altLang="en-US" sz="2000" i="1" dirty="0">
                <a:sym typeface="Symbol" panose="05050102010706020507" pitchFamily="18" charset="2"/>
              </a:rPr>
              <a:t>t</a:t>
            </a:r>
            <a:r>
              <a:rPr kumimoji="1" lang="en-US" altLang="en-US" sz="2000" dirty="0">
                <a:sym typeface="Symbol" panose="05050102010706020507" pitchFamily="18" charset="2"/>
              </a:rPr>
              <a:t> [</a:t>
            </a:r>
            <a:r>
              <a:rPr kumimoji="1" lang="en-US" altLang="en-US" sz="2000" i="1" dirty="0">
                <a:sym typeface="Symbol" panose="05050102010706020507" pitchFamily="18" charset="2"/>
              </a:rPr>
              <a:t>amount </a:t>
            </a:r>
            <a:r>
              <a:rPr kumimoji="1" lang="en-US" altLang="en-US" sz="2000" dirty="0">
                <a:sym typeface="Symbol" panose="05050102010706020507" pitchFamily="18" charset="2"/>
              </a:rPr>
              <a:t>]  1200}</a:t>
            </a:r>
            <a:endParaRPr kumimoji="1" lang="en-US" altLang="en-US" sz="1800" i="1" dirty="0">
              <a:sym typeface="Symbol" panose="05050102010706020507" pitchFamily="18" charset="2"/>
            </a:endParaRPr>
          </a:p>
        </p:txBody>
      </p:sp>
      <p:sp>
        <p:nvSpPr>
          <p:cNvPr id="6" name="TextBox 5">
            <a:extLst>
              <a:ext uri="{FF2B5EF4-FFF2-40B4-BE49-F238E27FC236}">
                <a16:creationId xmlns:a16="http://schemas.microsoft.com/office/drawing/2014/main" id="{9C4F95A5-ED9A-D2AA-C0F8-D1DE01A8523F}"/>
              </a:ext>
            </a:extLst>
          </p:cNvPr>
          <p:cNvSpPr txBox="1"/>
          <p:nvPr/>
        </p:nvSpPr>
        <p:spPr>
          <a:xfrm>
            <a:off x="187701" y="2681928"/>
            <a:ext cx="10165977" cy="2239074"/>
          </a:xfrm>
          <a:prstGeom prst="rect">
            <a:avLst/>
          </a:prstGeom>
          <a:noFill/>
        </p:spPr>
        <p:txBody>
          <a:bodyPr wrap="square">
            <a:spAutoFit/>
          </a:bodyPr>
          <a:lstStyle/>
          <a:p>
            <a:pPr>
              <a:spcBef>
                <a:spcPct val="35000"/>
              </a:spcBef>
              <a:buClr>
                <a:schemeClr val="tx2"/>
              </a:buClr>
              <a:buSzPct val="90000"/>
            </a:pPr>
            <a:r>
              <a:rPr kumimoji="1" lang="en-US" altLang="en-US" sz="1800" dirty="0"/>
              <a:t>Find the loan number for each loan of an amount greater than $1200</a:t>
            </a:r>
          </a:p>
          <a:p>
            <a:pPr>
              <a:spcBef>
                <a:spcPct val="35000"/>
              </a:spcBef>
              <a:buClr>
                <a:schemeClr val="tx2"/>
              </a:buClr>
              <a:buSzPct val="90000"/>
              <a:buFont typeface="Monotype Sorts" charset="2"/>
              <a:buNone/>
            </a:pPr>
            <a:endParaRPr kumimoji="1" lang="en-US" altLang="en-US" sz="1800" i="1" dirty="0">
              <a:sym typeface="Symbol" panose="05050102010706020507" pitchFamily="18" charset="2"/>
            </a:endParaRPr>
          </a:p>
          <a:p>
            <a:pPr>
              <a:spcBef>
                <a:spcPct val="35000"/>
              </a:spcBef>
              <a:buClr>
                <a:schemeClr val="tx2"/>
              </a:buClr>
              <a:buSzPct val="90000"/>
              <a:buFont typeface="Monotype Sorts" charset="2"/>
              <a:buNone/>
            </a:pPr>
            <a:r>
              <a:rPr kumimoji="1" lang="en-US" altLang="en-US" sz="1800" dirty="0"/>
              <a:t>        {</a:t>
            </a:r>
            <a:r>
              <a:rPr kumimoji="1" lang="en-US" altLang="en-US" sz="1800" i="1" dirty="0"/>
              <a:t>t </a:t>
            </a:r>
            <a:r>
              <a:rPr kumimoji="1" lang="en-US" altLang="en-US" sz="1800" dirty="0"/>
              <a:t>|</a:t>
            </a:r>
            <a:r>
              <a:rPr kumimoji="1" lang="en-US" altLang="en-US" sz="1800" i="1" dirty="0"/>
              <a:t> </a:t>
            </a:r>
            <a:r>
              <a:rPr kumimoji="1" lang="en-US" altLang="en-US" sz="1800" dirty="0">
                <a:sym typeface="Symbol" panose="05050102010706020507" pitchFamily="18" charset="2"/>
              </a:rPr>
              <a:t></a:t>
            </a:r>
            <a:r>
              <a:rPr kumimoji="1" lang="en-US" altLang="en-US" sz="1800" i="1" dirty="0">
                <a:sym typeface="Symbol" panose="05050102010706020507" pitchFamily="18" charset="2"/>
              </a:rPr>
              <a:t> s </a:t>
            </a:r>
            <a:r>
              <a:rPr kumimoji="1" lang="en-US" altLang="en-US" sz="1800" dirty="0">
                <a:sym typeface="Symbol" panose="05050102010706020507" pitchFamily="18" charset="2"/>
              </a:rPr>
              <a:t>loan (</a:t>
            </a:r>
            <a:r>
              <a:rPr kumimoji="1" lang="en-US" altLang="en-US" sz="1800" i="1" dirty="0">
                <a:sym typeface="Symbol" panose="05050102010706020507" pitchFamily="18" charset="2"/>
              </a:rPr>
              <a:t>t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loan_number</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i="1" dirty="0">
                <a:sym typeface="Symbol" panose="05050102010706020507" pitchFamily="18" charset="2"/>
              </a:rPr>
              <a:t>s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loan_number</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i="1" dirty="0">
                <a:sym typeface="Symbol" panose="05050102010706020507" pitchFamily="18" charset="2"/>
              </a:rPr>
              <a:t>s</a:t>
            </a:r>
            <a:r>
              <a:rPr kumimoji="1" lang="en-US" altLang="en-US" sz="1800" dirty="0">
                <a:sym typeface="Symbol" panose="05050102010706020507" pitchFamily="18" charset="2"/>
              </a:rPr>
              <a:t> [</a:t>
            </a:r>
            <a:r>
              <a:rPr kumimoji="1" lang="en-US" altLang="en-US" sz="1800" i="1" dirty="0">
                <a:sym typeface="Symbol" panose="05050102010706020507" pitchFamily="18" charset="2"/>
              </a:rPr>
              <a:t>amount </a:t>
            </a:r>
            <a:r>
              <a:rPr kumimoji="1" lang="en-US" altLang="en-US" sz="1800" dirty="0">
                <a:sym typeface="Symbol" panose="05050102010706020507" pitchFamily="18" charset="2"/>
              </a:rPr>
              <a:t>]  1200)}</a:t>
            </a:r>
          </a:p>
          <a:p>
            <a:pPr>
              <a:spcBef>
                <a:spcPct val="35000"/>
              </a:spcBef>
              <a:buClr>
                <a:schemeClr val="tx2"/>
              </a:buClr>
              <a:buSzPct val="90000"/>
              <a:buFont typeface="Monotype Sorts" charset="2"/>
              <a:buNone/>
            </a:pPr>
            <a:endParaRPr kumimoji="1" lang="en-US" altLang="en-US" sz="1800" dirty="0">
              <a:sym typeface="Symbol" panose="05050102010706020507" pitchFamily="18" charset="2"/>
            </a:endParaRPr>
          </a:p>
          <a:p>
            <a:pPr>
              <a:spcBef>
                <a:spcPct val="35000"/>
              </a:spcBef>
              <a:buClr>
                <a:schemeClr val="tx2"/>
              </a:buClr>
              <a:buSzPct val="90000"/>
              <a:buFont typeface="Monotype Sorts" charset="2"/>
              <a:buNone/>
            </a:pPr>
            <a:r>
              <a:rPr kumimoji="1" lang="en-US" altLang="en-US" sz="1800" dirty="0">
                <a:sym typeface="Symbol" panose="05050102010706020507" pitchFamily="18" charset="2"/>
              </a:rPr>
              <a:t>     Notice that a relation on schema [</a:t>
            </a:r>
            <a:r>
              <a:rPr kumimoji="1" lang="en-US" altLang="en-US" sz="1800" i="1" dirty="0" err="1">
                <a:sym typeface="Symbol" panose="05050102010706020507" pitchFamily="18" charset="2"/>
              </a:rPr>
              <a:t>loan_number</a:t>
            </a:r>
            <a:r>
              <a:rPr kumimoji="1" lang="en-US" altLang="en-US" sz="1800" i="1" dirty="0">
                <a:sym typeface="Symbol" panose="05050102010706020507" pitchFamily="18" charset="2"/>
              </a:rPr>
              <a:t> </a:t>
            </a:r>
            <a:r>
              <a:rPr kumimoji="1" lang="en-US" altLang="en-US" sz="1800" dirty="0">
                <a:sym typeface="Symbol" panose="05050102010706020507" pitchFamily="18" charset="2"/>
              </a:rPr>
              <a:t>] is implicitly defined by             </a:t>
            </a:r>
          </a:p>
          <a:p>
            <a:pPr>
              <a:spcBef>
                <a:spcPct val="35000"/>
              </a:spcBef>
              <a:buClr>
                <a:schemeClr val="tx2"/>
              </a:buClr>
              <a:buSzPct val="90000"/>
              <a:buFont typeface="Monotype Sorts" charset="2"/>
              <a:buNone/>
            </a:pPr>
            <a:r>
              <a:rPr kumimoji="1" lang="en-US" altLang="en-US" sz="1800" dirty="0">
                <a:sym typeface="Symbol" panose="05050102010706020507" pitchFamily="18" charset="2"/>
              </a:rPr>
              <a:t>     the query</a:t>
            </a:r>
          </a:p>
        </p:txBody>
      </p:sp>
    </p:spTree>
    <p:extLst>
      <p:ext uri="{BB962C8B-B14F-4D97-AF65-F5344CB8AC3E}">
        <p14:creationId xmlns:p14="http://schemas.microsoft.com/office/powerpoint/2010/main" val="45462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612" y="1032213"/>
            <a:ext cx="11512776" cy="5069496"/>
          </a:xfrm>
        </p:spPr>
        <p:txBody>
          <a:bodyPr>
            <a:normAutofit/>
          </a:bodyPr>
          <a:lstStyle/>
          <a:p>
            <a:pPr>
              <a:buNone/>
            </a:pPr>
            <a:endParaRPr lang="en-US" altLang="en-US" sz="2000" dirty="0">
              <a:latin typeface="Times New Roman" panose="02020603050405020304" pitchFamily="18" charset="0"/>
              <a:cs typeface="Times New Roman" panose="02020603050405020304" pitchFamily="18" charset="0"/>
            </a:endParaRPr>
          </a:p>
          <a:p>
            <a:pPr>
              <a:buNone/>
            </a:pPr>
            <a:r>
              <a:rPr lang="en-US" altLang="en-US" sz="2000" dirty="0">
                <a:solidFill>
                  <a:srgbClr val="FF0000"/>
                </a:solidFill>
                <a:latin typeface="Times New Roman" panose="02020603050405020304" pitchFamily="18" charset="0"/>
                <a:cs typeface="Times New Roman" panose="02020603050405020304" pitchFamily="18" charset="0"/>
              </a:rPr>
              <a:t>Banking Examples</a:t>
            </a:r>
          </a:p>
          <a:p>
            <a:r>
              <a:rPr lang="en-US" altLang="en-US" sz="1400" dirty="0"/>
              <a:t>Find the names of all customers having a loan, an account, or both at the bank</a:t>
            </a:r>
            <a:endParaRPr lang="en-US" altLang="en-US" sz="1400" dirty="0">
              <a:sym typeface="Symbol" panose="05050102010706020507" pitchFamily="18" charset="2"/>
            </a:endParaRPr>
          </a:p>
          <a:p>
            <a:pPr>
              <a:buNone/>
            </a:pPr>
            <a:endParaRPr lang="en-US" sz="2442" dirty="0"/>
          </a:p>
        </p:txBody>
      </p:sp>
      <p:sp>
        <p:nvSpPr>
          <p:cNvPr id="7" name="Title 1"/>
          <p:cNvSpPr>
            <a:spLocks noGrp="1"/>
          </p:cNvSpPr>
          <p:nvPr>
            <p:ph type="title"/>
          </p:nvPr>
        </p:nvSpPr>
        <p:spPr>
          <a:xfrm>
            <a:off x="187701" y="0"/>
            <a:ext cx="11901518" cy="777573"/>
          </a:xfrm>
        </p:spPr>
        <p:txBody>
          <a:bodyPr>
            <a:noAutofit/>
          </a:bodyPr>
          <a:lstStyle/>
          <a:p>
            <a:pPr algn="l"/>
            <a:r>
              <a:rPr lang="en-US" sz="2539" dirty="0">
                <a:solidFill>
                  <a:srgbClr val="FF0000"/>
                </a:solidFill>
                <a:latin typeface="Copperplate Gothic Light" pitchFamily="34" charset="0"/>
              </a:rPr>
              <a:t>Relational algebra queries, Tuple relational calculus </a:t>
            </a:r>
          </a:p>
        </p:txBody>
      </p:sp>
      <p:sp>
        <p:nvSpPr>
          <p:cNvPr id="2" name="Slide Number Placeholder 1">
            <a:extLst>
              <a:ext uri="{FF2B5EF4-FFF2-40B4-BE49-F238E27FC236}">
                <a16:creationId xmlns:a16="http://schemas.microsoft.com/office/drawing/2014/main" id="{299278D1-9D11-4906-6284-A2D3DE57DC80}"/>
              </a:ext>
            </a:extLst>
          </p:cNvPr>
          <p:cNvSpPr>
            <a:spLocks noGrp="1"/>
          </p:cNvSpPr>
          <p:nvPr>
            <p:ph type="sldNum" sz="quarter" idx="12"/>
          </p:nvPr>
        </p:nvSpPr>
        <p:spPr/>
        <p:txBody>
          <a:bodyPr/>
          <a:lstStyle/>
          <a:p>
            <a:fld id="{30BB16E2-1063-4ECC-B0F4-DD6A8CC0C30D}" type="slidenum">
              <a:rPr lang="en-US" smtClean="0"/>
              <a:pPr/>
              <a:t>59</a:t>
            </a:fld>
            <a:endParaRPr lang="en-US"/>
          </a:p>
        </p:txBody>
      </p:sp>
      <p:sp>
        <p:nvSpPr>
          <p:cNvPr id="4" name="Text Box 5">
            <a:extLst>
              <a:ext uri="{FF2B5EF4-FFF2-40B4-BE49-F238E27FC236}">
                <a16:creationId xmlns:a16="http://schemas.microsoft.com/office/drawing/2014/main" id="{CABA455F-3CDD-F6A5-4D75-DF6D57FF5D59}"/>
              </a:ext>
            </a:extLst>
          </p:cNvPr>
          <p:cNvSpPr txBox="1">
            <a:spLocks noChangeArrowheads="1"/>
          </p:cNvSpPr>
          <p:nvPr/>
        </p:nvSpPr>
        <p:spPr bwMode="auto">
          <a:xfrm>
            <a:off x="2694305" y="2157733"/>
            <a:ext cx="6873228"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35000"/>
              </a:spcBef>
              <a:buClr>
                <a:schemeClr val="tx2"/>
              </a:buClr>
              <a:buSzPct val="90000"/>
              <a:buFont typeface="Monotype Sorts" charset="2"/>
              <a:buNone/>
            </a:pPr>
            <a:r>
              <a:rPr kumimoji="1" lang="en-US" altLang="en-US" sz="2000" dirty="0"/>
              <a:t>{</a:t>
            </a:r>
            <a:r>
              <a:rPr kumimoji="1" lang="en-US" altLang="en-US" sz="2000" i="1" dirty="0"/>
              <a:t>t </a:t>
            </a:r>
            <a:r>
              <a:rPr kumimoji="1" lang="en-US" altLang="en-US" sz="2000" dirty="0"/>
              <a:t>|</a:t>
            </a:r>
            <a:r>
              <a:rPr kumimoji="1" lang="en-US" altLang="en-US" sz="2000" i="1" dirty="0"/>
              <a:t> </a:t>
            </a:r>
            <a:r>
              <a:rPr kumimoji="1" lang="en-US" altLang="en-US" sz="2000" dirty="0">
                <a:sym typeface="Symbol" panose="05050102010706020507" pitchFamily="18" charset="2"/>
              </a:rPr>
              <a:t></a:t>
            </a:r>
            <a:r>
              <a:rPr kumimoji="1" lang="en-US" altLang="en-US" sz="2000" i="1" dirty="0">
                <a:sym typeface="Symbol" panose="05050102010706020507" pitchFamily="18" charset="2"/>
              </a:rPr>
              <a:t>s </a:t>
            </a:r>
            <a:r>
              <a:rPr kumimoji="1" lang="en-US" altLang="en-US" sz="2000" dirty="0">
                <a:sym typeface="Symbol" panose="05050102010706020507" pitchFamily="18" charset="2"/>
              </a:rPr>
              <a:t> </a:t>
            </a:r>
            <a:r>
              <a:rPr kumimoji="1" lang="en-US" altLang="en-US" sz="2000" i="1" dirty="0">
                <a:sym typeface="Symbol" panose="05050102010706020507" pitchFamily="18" charset="2"/>
              </a:rPr>
              <a:t>borrower ( t </a:t>
            </a:r>
            <a:r>
              <a:rPr kumimoji="1" lang="en-US" altLang="en-US" sz="2000" dirty="0">
                <a:sym typeface="Symbol" panose="05050102010706020507" pitchFamily="18" charset="2"/>
              </a:rPr>
              <a:t>[</a:t>
            </a:r>
            <a:r>
              <a:rPr kumimoji="1" lang="en-US" altLang="en-US" sz="2000" i="1" dirty="0" err="1">
                <a:sym typeface="Symbol" panose="05050102010706020507" pitchFamily="18" charset="2"/>
              </a:rPr>
              <a:t>customer_name</a:t>
            </a:r>
            <a:r>
              <a:rPr kumimoji="1" lang="en-US" altLang="en-US" sz="2000" i="1" dirty="0">
                <a:sym typeface="Symbol" panose="05050102010706020507" pitchFamily="18" charset="2"/>
              </a:rPr>
              <a:t> </a:t>
            </a:r>
            <a:r>
              <a:rPr kumimoji="1" lang="en-US" altLang="en-US" sz="2000" dirty="0">
                <a:sym typeface="Symbol" panose="05050102010706020507" pitchFamily="18" charset="2"/>
              </a:rPr>
              <a:t>] = </a:t>
            </a:r>
            <a:r>
              <a:rPr kumimoji="1" lang="en-US" altLang="en-US" sz="2000" i="1" dirty="0">
                <a:sym typeface="Symbol" panose="05050102010706020507" pitchFamily="18" charset="2"/>
              </a:rPr>
              <a:t>s </a:t>
            </a:r>
            <a:r>
              <a:rPr kumimoji="1" lang="en-US" altLang="en-US" sz="2000" dirty="0">
                <a:sym typeface="Symbol" panose="05050102010706020507" pitchFamily="18" charset="2"/>
              </a:rPr>
              <a:t>[</a:t>
            </a:r>
            <a:r>
              <a:rPr kumimoji="1" lang="en-US" altLang="en-US" sz="2000" i="1" dirty="0" err="1">
                <a:sym typeface="Symbol" panose="05050102010706020507" pitchFamily="18" charset="2"/>
              </a:rPr>
              <a:t>customer_name</a:t>
            </a:r>
            <a:r>
              <a:rPr kumimoji="1" lang="en-US" altLang="en-US" sz="2000" i="1" dirty="0">
                <a:sym typeface="Symbol" panose="05050102010706020507" pitchFamily="18" charset="2"/>
              </a:rPr>
              <a:t> </a:t>
            </a:r>
            <a:r>
              <a:rPr kumimoji="1" lang="en-US" altLang="en-US" sz="2000" dirty="0">
                <a:sym typeface="Symbol" panose="05050102010706020507" pitchFamily="18" charset="2"/>
              </a:rPr>
              <a:t>])</a:t>
            </a:r>
            <a:br>
              <a:rPr kumimoji="1" lang="en-US" altLang="en-US" sz="2000" dirty="0">
                <a:sym typeface="Symbol" panose="05050102010706020507" pitchFamily="18" charset="2"/>
              </a:rPr>
            </a:br>
            <a:r>
              <a:rPr kumimoji="1" lang="en-US" altLang="en-US" sz="2000" dirty="0">
                <a:sym typeface="Symbol" panose="05050102010706020507" pitchFamily="18" charset="2"/>
              </a:rPr>
              <a:t>      </a:t>
            </a:r>
            <a:r>
              <a:rPr kumimoji="1" lang="en-US" altLang="en-US" sz="2000" i="1" dirty="0">
                <a:sym typeface="Symbol" panose="05050102010706020507" pitchFamily="18" charset="2"/>
              </a:rPr>
              <a:t>u </a:t>
            </a:r>
            <a:r>
              <a:rPr kumimoji="1" lang="en-US" altLang="en-US" sz="2000" dirty="0">
                <a:sym typeface="Symbol" panose="05050102010706020507" pitchFamily="18" charset="2"/>
              </a:rPr>
              <a:t> </a:t>
            </a:r>
            <a:r>
              <a:rPr kumimoji="1" lang="en-US" altLang="en-US" sz="2000" i="1" dirty="0">
                <a:sym typeface="Symbol" panose="05050102010706020507" pitchFamily="18" charset="2"/>
              </a:rPr>
              <a:t>depositor </a:t>
            </a:r>
            <a:r>
              <a:rPr kumimoji="1" lang="en-US" altLang="en-US" sz="2000" dirty="0">
                <a:sym typeface="Symbol" panose="05050102010706020507" pitchFamily="18" charset="2"/>
              </a:rPr>
              <a:t>( </a:t>
            </a:r>
            <a:r>
              <a:rPr kumimoji="1" lang="en-US" altLang="en-US" sz="2000" i="1" dirty="0">
                <a:sym typeface="Symbol" panose="05050102010706020507" pitchFamily="18" charset="2"/>
              </a:rPr>
              <a:t>t </a:t>
            </a:r>
            <a:r>
              <a:rPr kumimoji="1" lang="en-US" altLang="en-US" sz="2000" dirty="0">
                <a:sym typeface="Symbol" panose="05050102010706020507" pitchFamily="18" charset="2"/>
              </a:rPr>
              <a:t>[</a:t>
            </a:r>
            <a:r>
              <a:rPr kumimoji="1" lang="en-US" altLang="en-US" sz="2000" i="1" dirty="0" err="1">
                <a:sym typeface="Symbol" panose="05050102010706020507" pitchFamily="18" charset="2"/>
              </a:rPr>
              <a:t>customer_name</a:t>
            </a:r>
            <a:r>
              <a:rPr kumimoji="1" lang="en-US" altLang="en-US" sz="2000" i="1" dirty="0">
                <a:sym typeface="Symbol" panose="05050102010706020507" pitchFamily="18" charset="2"/>
              </a:rPr>
              <a:t> </a:t>
            </a:r>
            <a:r>
              <a:rPr kumimoji="1" lang="en-US" altLang="en-US" sz="2000" dirty="0">
                <a:sym typeface="Symbol" panose="05050102010706020507" pitchFamily="18" charset="2"/>
              </a:rPr>
              <a:t>] = </a:t>
            </a:r>
            <a:r>
              <a:rPr kumimoji="1" lang="en-US" altLang="en-US" sz="2000" i="1" dirty="0">
                <a:sym typeface="Symbol" panose="05050102010706020507" pitchFamily="18" charset="2"/>
              </a:rPr>
              <a:t>u </a:t>
            </a:r>
            <a:r>
              <a:rPr kumimoji="1" lang="en-US" altLang="en-US" sz="2000" dirty="0">
                <a:sym typeface="Symbol" panose="05050102010706020507" pitchFamily="18" charset="2"/>
              </a:rPr>
              <a:t>[</a:t>
            </a:r>
            <a:r>
              <a:rPr kumimoji="1" lang="en-US" altLang="en-US" sz="2000" i="1" dirty="0" err="1">
                <a:sym typeface="Symbol" panose="05050102010706020507" pitchFamily="18" charset="2"/>
              </a:rPr>
              <a:t>customer_name</a:t>
            </a:r>
            <a:r>
              <a:rPr kumimoji="1" lang="en-US" altLang="en-US" sz="2000" i="1" dirty="0">
                <a:sym typeface="Symbol" panose="05050102010706020507" pitchFamily="18" charset="2"/>
              </a:rPr>
              <a:t> </a:t>
            </a:r>
            <a:r>
              <a:rPr kumimoji="1" lang="en-US" altLang="en-US" sz="2000" dirty="0">
                <a:sym typeface="Symbol" panose="05050102010706020507" pitchFamily="18" charset="2"/>
              </a:rPr>
              <a:t>])</a:t>
            </a:r>
          </a:p>
        </p:txBody>
      </p:sp>
      <p:sp>
        <p:nvSpPr>
          <p:cNvPr id="6" name="TextBox 5">
            <a:extLst>
              <a:ext uri="{FF2B5EF4-FFF2-40B4-BE49-F238E27FC236}">
                <a16:creationId xmlns:a16="http://schemas.microsoft.com/office/drawing/2014/main" id="{9C4F95A5-ED9A-D2AA-C0F8-D1DE01A8523F}"/>
              </a:ext>
            </a:extLst>
          </p:cNvPr>
          <p:cNvSpPr txBox="1"/>
          <p:nvPr/>
        </p:nvSpPr>
        <p:spPr>
          <a:xfrm>
            <a:off x="339612" y="2986728"/>
            <a:ext cx="10165977" cy="2142125"/>
          </a:xfrm>
          <a:prstGeom prst="rect">
            <a:avLst/>
          </a:prstGeom>
          <a:noFill/>
        </p:spPr>
        <p:txBody>
          <a:bodyPr wrap="square">
            <a:spAutoFit/>
          </a:bodyPr>
          <a:lstStyle/>
          <a:p>
            <a:pPr>
              <a:spcBef>
                <a:spcPct val="35000"/>
              </a:spcBef>
              <a:buClr>
                <a:schemeClr val="tx2"/>
              </a:buClr>
              <a:buSzPct val="90000"/>
            </a:pPr>
            <a:r>
              <a:rPr kumimoji="1" lang="en-US" altLang="en-US" sz="1800" dirty="0">
                <a:sym typeface="Symbol" panose="05050102010706020507" pitchFamily="18" charset="2"/>
              </a:rPr>
              <a:t> Find the names of all customers who have a loan and an account </a:t>
            </a:r>
            <a:br>
              <a:rPr kumimoji="1" lang="en-US" altLang="en-US" sz="1800" dirty="0">
                <a:sym typeface="Symbol" panose="05050102010706020507" pitchFamily="18" charset="2"/>
              </a:rPr>
            </a:br>
            <a:r>
              <a:rPr kumimoji="1" lang="en-US" altLang="en-US" sz="1800" dirty="0">
                <a:sym typeface="Symbol" panose="05050102010706020507" pitchFamily="18" charset="2"/>
              </a:rPr>
              <a:t>      at the bank</a:t>
            </a:r>
            <a:endParaRPr kumimoji="1" lang="en-US" altLang="en-US" sz="1800" i="1" dirty="0">
              <a:sym typeface="Symbol" panose="05050102010706020507" pitchFamily="18" charset="2"/>
            </a:endParaRPr>
          </a:p>
          <a:p>
            <a:pPr>
              <a:spcBef>
                <a:spcPct val="35000"/>
              </a:spcBef>
              <a:buClr>
                <a:schemeClr val="tx2"/>
              </a:buClr>
              <a:buSzPct val="90000"/>
              <a:buFont typeface="Monotype Sorts" charset="2"/>
              <a:buNone/>
            </a:pPr>
            <a:r>
              <a:rPr kumimoji="1" lang="en-US" altLang="en-US" sz="1800" dirty="0"/>
              <a:t>        {</a:t>
            </a:r>
            <a:r>
              <a:rPr kumimoji="1" lang="en-US" altLang="en-US" sz="1800" i="1" dirty="0"/>
              <a:t>t </a:t>
            </a:r>
            <a:r>
              <a:rPr kumimoji="1" lang="en-US" altLang="en-US" sz="1800" dirty="0"/>
              <a:t>|</a:t>
            </a:r>
            <a:r>
              <a:rPr kumimoji="1" lang="en-US" altLang="en-US" sz="1800" i="1" dirty="0"/>
              <a:t> </a:t>
            </a:r>
            <a:r>
              <a:rPr kumimoji="1" lang="en-US" altLang="en-US" sz="1800" dirty="0">
                <a:sym typeface="Symbol" panose="05050102010706020507" pitchFamily="18" charset="2"/>
              </a:rPr>
              <a:t></a:t>
            </a:r>
            <a:r>
              <a:rPr kumimoji="1" lang="en-US" altLang="en-US" sz="1800" i="1" dirty="0">
                <a:sym typeface="Symbol" panose="05050102010706020507" pitchFamily="18" charset="2"/>
              </a:rPr>
              <a:t> s </a:t>
            </a:r>
            <a:r>
              <a:rPr kumimoji="1" lang="en-US" altLang="en-US" sz="1800" dirty="0">
                <a:sym typeface="Symbol" panose="05050102010706020507" pitchFamily="18" charset="2"/>
              </a:rPr>
              <a:t>loan (</a:t>
            </a:r>
            <a:r>
              <a:rPr kumimoji="1" lang="en-US" altLang="en-US" sz="1800" i="1" dirty="0">
                <a:sym typeface="Symbol" panose="05050102010706020507" pitchFamily="18" charset="2"/>
              </a:rPr>
              <a:t>t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loan_number</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i="1" dirty="0">
                <a:sym typeface="Symbol" panose="05050102010706020507" pitchFamily="18" charset="2"/>
              </a:rPr>
              <a:t>s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loan_number</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i="1" dirty="0">
                <a:sym typeface="Symbol" panose="05050102010706020507" pitchFamily="18" charset="2"/>
              </a:rPr>
              <a:t>s</a:t>
            </a:r>
            <a:r>
              <a:rPr kumimoji="1" lang="en-US" altLang="en-US" sz="1800" dirty="0">
                <a:sym typeface="Symbol" panose="05050102010706020507" pitchFamily="18" charset="2"/>
              </a:rPr>
              <a:t> [</a:t>
            </a:r>
            <a:r>
              <a:rPr kumimoji="1" lang="en-US" altLang="en-US" sz="1800" i="1" dirty="0">
                <a:sym typeface="Symbol" panose="05050102010706020507" pitchFamily="18" charset="2"/>
              </a:rPr>
              <a:t>amount </a:t>
            </a:r>
            <a:r>
              <a:rPr kumimoji="1" lang="en-US" altLang="en-US" sz="1800" dirty="0">
                <a:sym typeface="Symbol" panose="05050102010706020507" pitchFamily="18" charset="2"/>
              </a:rPr>
              <a:t>]  1200)}</a:t>
            </a:r>
          </a:p>
          <a:p>
            <a:pPr>
              <a:spcBef>
                <a:spcPct val="35000"/>
              </a:spcBef>
              <a:buClr>
                <a:schemeClr val="tx2"/>
              </a:buClr>
              <a:buSzPct val="90000"/>
              <a:buFont typeface="Monotype Sorts" charset="2"/>
              <a:buNone/>
            </a:pPr>
            <a:endParaRPr kumimoji="1" lang="en-US" altLang="en-US" sz="1800" dirty="0">
              <a:sym typeface="Symbol" panose="05050102010706020507" pitchFamily="18" charset="2"/>
            </a:endParaRPr>
          </a:p>
          <a:p>
            <a:pPr>
              <a:spcBef>
                <a:spcPct val="35000"/>
              </a:spcBef>
              <a:buClr>
                <a:schemeClr val="tx2"/>
              </a:buClr>
              <a:buSzPct val="90000"/>
              <a:buFont typeface="Monotype Sorts" charset="2"/>
              <a:buNone/>
            </a:pPr>
            <a:r>
              <a:rPr kumimoji="1" lang="en-US" altLang="en-US" sz="1800" dirty="0">
                <a:sym typeface="Symbol" panose="05050102010706020507" pitchFamily="18" charset="2"/>
              </a:rPr>
              <a:t>    </a:t>
            </a:r>
          </a:p>
          <a:p>
            <a:pPr>
              <a:spcBef>
                <a:spcPct val="35000"/>
              </a:spcBef>
              <a:buClr>
                <a:schemeClr val="tx2"/>
              </a:buClr>
              <a:buSzPct val="90000"/>
              <a:buFont typeface="Monotype Sorts" charset="2"/>
              <a:buNone/>
            </a:pPr>
            <a:endParaRPr kumimoji="1" lang="en-US" altLang="en-US" dirty="0">
              <a:sym typeface="Symbol" panose="05050102010706020507" pitchFamily="18" charset="2"/>
            </a:endParaRPr>
          </a:p>
        </p:txBody>
      </p:sp>
      <p:sp>
        <p:nvSpPr>
          <p:cNvPr id="5" name="Text Box 4">
            <a:extLst>
              <a:ext uri="{FF2B5EF4-FFF2-40B4-BE49-F238E27FC236}">
                <a16:creationId xmlns:a16="http://schemas.microsoft.com/office/drawing/2014/main" id="{0E39517A-626A-70ED-43F1-CEFA1A258087}"/>
              </a:ext>
            </a:extLst>
          </p:cNvPr>
          <p:cNvSpPr txBox="1">
            <a:spLocks noChangeArrowheads="1"/>
          </p:cNvSpPr>
          <p:nvPr/>
        </p:nvSpPr>
        <p:spPr bwMode="auto">
          <a:xfrm>
            <a:off x="541655" y="4179585"/>
            <a:ext cx="77311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35000"/>
              </a:spcBef>
              <a:buClr>
                <a:schemeClr val="tx2"/>
              </a:buClr>
              <a:buSzPct val="90000"/>
              <a:buFont typeface="Monotype Sorts" charset="2"/>
              <a:buNone/>
            </a:pPr>
            <a:r>
              <a:rPr kumimoji="1" lang="en-US" altLang="en-US" sz="1800" dirty="0"/>
              <a:t>{</a:t>
            </a:r>
            <a:r>
              <a:rPr kumimoji="1" lang="en-US" altLang="en-US" sz="1800" i="1" dirty="0"/>
              <a:t>t </a:t>
            </a:r>
            <a:r>
              <a:rPr kumimoji="1" lang="en-US" altLang="en-US" sz="1800" dirty="0"/>
              <a:t>|</a:t>
            </a:r>
            <a:r>
              <a:rPr kumimoji="1" lang="en-US" altLang="en-US" sz="1800" i="1" dirty="0"/>
              <a:t> </a:t>
            </a:r>
            <a:r>
              <a:rPr kumimoji="1" lang="en-US" altLang="en-US" sz="1800" dirty="0">
                <a:sym typeface="Symbol" panose="05050102010706020507" pitchFamily="18" charset="2"/>
              </a:rPr>
              <a:t></a:t>
            </a:r>
            <a:r>
              <a:rPr kumimoji="1" lang="en-US" altLang="en-US" sz="1800" i="1" dirty="0">
                <a:sym typeface="Symbol" panose="05050102010706020507" pitchFamily="18" charset="2"/>
              </a:rPr>
              <a:t>s </a:t>
            </a:r>
            <a:r>
              <a:rPr kumimoji="1" lang="en-US" altLang="en-US" sz="1800" dirty="0">
                <a:sym typeface="Symbol" panose="05050102010706020507" pitchFamily="18" charset="2"/>
              </a:rPr>
              <a:t> </a:t>
            </a:r>
            <a:r>
              <a:rPr kumimoji="1" lang="en-US" altLang="en-US" sz="1800" i="1" dirty="0">
                <a:sym typeface="Symbol" panose="05050102010706020507" pitchFamily="18" charset="2"/>
              </a:rPr>
              <a:t>borrower ( t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customer_name</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i="1" dirty="0">
                <a:sym typeface="Symbol" panose="05050102010706020507" pitchFamily="18" charset="2"/>
              </a:rPr>
              <a:t>s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customer_name</a:t>
            </a:r>
            <a:r>
              <a:rPr kumimoji="1" lang="en-US" altLang="en-US" sz="1800" i="1" dirty="0">
                <a:sym typeface="Symbol" panose="05050102010706020507" pitchFamily="18" charset="2"/>
              </a:rPr>
              <a:t> </a:t>
            </a:r>
            <a:r>
              <a:rPr kumimoji="1" lang="en-US" altLang="en-US" sz="1800" dirty="0">
                <a:sym typeface="Symbol" panose="05050102010706020507" pitchFamily="18" charset="2"/>
              </a:rPr>
              <a:t>])</a:t>
            </a:r>
            <a:br>
              <a:rPr kumimoji="1" lang="en-US" altLang="en-US" sz="1800" dirty="0">
                <a:sym typeface="Symbol" panose="05050102010706020507" pitchFamily="18" charset="2"/>
              </a:rPr>
            </a:br>
            <a:r>
              <a:rPr kumimoji="1" lang="en-US" altLang="en-US" sz="1800" dirty="0">
                <a:sym typeface="Symbol" panose="05050102010706020507" pitchFamily="18" charset="2"/>
              </a:rPr>
              <a:t>       </a:t>
            </a:r>
            <a:r>
              <a:rPr kumimoji="1" lang="en-US" altLang="en-US" sz="1800" i="1" dirty="0">
                <a:sym typeface="Symbol" panose="05050102010706020507" pitchFamily="18" charset="2"/>
              </a:rPr>
              <a:t>u </a:t>
            </a:r>
            <a:r>
              <a:rPr kumimoji="1" lang="en-US" altLang="en-US" sz="1800" dirty="0">
                <a:sym typeface="Symbol" panose="05050102010706020507" pitchFamily="18" charset="2"/>
              </a:rPr>
              <a:t> </a:t>
            </a:r>
            <a:r>
              <a:rPr kumimoji="1" lang="en-US" altLang="en-US" sz="1800" i="1" dirty="0">
                <a:sym typeface="Symbol" panose="05050102010706020507" pitchFamily="18" charset="2"/>
              </a:rPr>
              <a:t>depositor </a:t>
            </a:r>
            <a:r>
              <a:rPr kumimoji="1" lang="en-US" altLang="en-US" sz="1800" dirty="0">
                <a:sym typeface="Symbol" panose="05050102010706020507" pitchFamily="18" charset="2"/>
              </a:rPr>
              <a:t>( </a:t>
            </a:r>
            <a:r>
              <a:rPr kumimoji="1" lang="en-US" altLang="en-US" sz="1800" i="1" dirty="0">
                <a:sym typeface="Symbol" panose="05050102010706020507" pitchFamily="18" charset="2"/>
              </a:rPr>
              <a:t>t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customer_name</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i="1" dirty="0">
                <a:sym typeface="Symbol" panose="05050102010706020507" pitchFamily="18" charset="2"/>
              </a:rPr>
              <a:t>u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customer_name</a:t>
            </a:r>
            <a:r>
              <a:rPr kumimoji="1" lang="en-US" altLang="en-US" sz="1800" dirty="0">
                <a:sym typeface="Symbol" panose="05050102010706020507" pitchFamily="18" charset="2"/>
              </a:rPr>
              <a:t>] )</a:t>
            </a:r>
          </a:p>
        </p:txBody>
      </p:sp>
    </p:spTree>
    <p:extLst>
      <p:ext uri="{BB962C8B-B14F-4D97-AF65-F5344CB8AC3E}">
        <p14:creationId xmlns:p14="http://schemas.microsoft.com/office/powerpoint/2010/main" val="3355122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5"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612" y="1032213"/>
            <a:ext cx="11512776" cy="5069496"/>
          </a:xfrm>
        </p:spPr>
        <p:txBody>
          <a:bodyPr>
            <a:normAutofit/>
          </a:bodyPr>
          <a:lstStyle/>
          <a:p>
            <a:pPr>
              <a:buNone/>
            </a:pPr>
            <a:endParaRPr lang="en-US" altLang="en-US" sz="2000" dirty="0">
              <a:latin typeface="Times New Roman" panose="02020603050405020304" pitchFamily="18" charset="0"/>
              <a:cs typeface="Times New Roman" panose="02020603050405020304" pitchFamily="18" charset="0"/>
            </a:endParaRPr>
          </a:p>
          <a:p>
            <a:pPr>
              <a:buNone/>
            </a:pPr>
            <a:r>
              <a:rPr lang="en-US" altLang="en-US" sz="2000" dirty="0">
                <a:solidFill>
                  <a:srgbClr val="FF0000"/>
                </a:solidFill>
                <a:latin typeface="Times New Roman" panose="02020603050405020304" pitchFamily="18" charset="0"/>
                <a:cs typeface="Times New Roman" panose="02020603050405020304" pitchFamily="18" charset="0"/>
              </a:rPr>
              <a:t>Banking Examples</a:t>
            </a:r>
          </a:p>
          <a:p>
            <a:pPr>
              <a:buNone/>
            </a:pPr>
            <a:endParaRPr lang="en-US" sz="2442" dirty="0"/>
          </a:p>
          <a:p>
            <a:pPr>
              <a:buNone/>
            </a:pPr>
            <a:endParaRPr lang="en-US" sz="2442" dirty="0"/>
          </a:p>
        </p:txBody>
      </p:sp>
      <p:sp>
        <p:nvSpPr>
          <p:cNvPr id="7" name="Title 1"/>
          <p:cNvSpPr>
            <a:spLocks noGrp="1"/>
          </p:cNvSpPr>
          <p:nvPr>
            <p:ph type="title"/>
          </p:nvPr>
        </p:nvSpPr>
        <p:spPr>
          <a:xfrm>
            <a:off x="187701" y="0"/>
            <a:ext cx="12004299" cy="777573"/>
          </a:xfrm>
        </p:spPr>
        <p:txBody>
          <a:bodyPr>
            <a:noAutofit/>
          </a:bodyPr>
          <a:lstStyle/>
          <a:p>
            <a:pPr algn="l"/>
            <a:r>
              <a:rPr lang="en-US" sz="2539" dirty="0">
                <a:solidFill>
                  <a:srgbClr val="FF0000"/>
                </a:solidFill>
                <a:latin typeface="Copperplate Gothic Light" pitchFamily="34" charset="0"/>
              </a:rPr>
              <a:t>Relational algebra queries, Tuple relational calculus </a:t>
            </a:r>
          </a:p>
        </p:txBody>
      </p:sp>
      <p:sp>
        <p:nvSpPr>
          <p:cNvPr id="2" name="Slide Number Placeholder 1">
            <a:extLst>
              <a:ext uri="{FF2B5EF4-FFF2-40B4-BE49-F238E27FC236}">
                <a16:creationId xmlns:a16="http://schemas.microsoft.com/office/drawing/2014/main" id="{299278D1-9D11-4906-6284-A2D3DE57DC80}"/>
              </a:ext>
            </a:extLst>
          </p:cNvPr>
          <p:cNvSpPr>
            <a:spLocks noGrp="1"/>
          </p:cNvSpPr>
          <p:nvPr>
            <p:ph type="sldNum" sz="quarter" idx="12"/>
          </p:nvPr>
        </p:nvSpPr>
        <p:spPr/>
        <p:txBody>
          <a:bodyPr/>
          <a:lstStyle/>
          <a:p>
            <a:fld id="{30BB16E2-1063-4ECC-B0F4-DD6A8CC0C30D}" type="slidenum">
              <a:rPr lang="en-US" smtClean="0"/>
              <a:pPr/>
              <a:t>60</a:t>
            </a:fld>
            <a:endParaRPr lang="en-US"/>
          </a:p>
        </p:txBody>
      </p:sp>
      <p:sp>
        <p:nvSpPr>
          <p:cNvPr id="12" name="Rectangle 3">
            <a:extLst>
              <a:ext uri="{FF2B5EF4-FFF2-40B4-BE49-F238E27FC236}">
                <a16:creationId xmlns:a16="http://schemas.microsoft.com/office/drawing/2014/main" id="{7A2FE27F-D984-8AFB-6C19-66BDCA687726}"/>
              </a:ext>
            </a:extLst>
          </p:cNvPr>
          <p:cNvSpPr txBox="1">
            <a:spLocks noChangeArrowheads="1"/>
          </p:cNvSpPr>
          <p:nvPr/>
        </p:nvSpPr>
        <p:spPr>
          <a:xfrm>
            <a:off x="574356" y="1799908"/>
            <a:ext cx="7848600" cy="8255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000" dirty="0"/>
              <a:t>Find the names of all customers having a loan at the </a:t>
            </a:r>
            <a:r>
              <a:rPr lang="en-US" altLang="en-US" sz="2000" dirty="0" err="1"/>
              <a:t>Perryridge</a:t>
            </a:r>
            <a:r>
              <a:rPr lang="en-US" altLang="en-US" sz="2000" dirty="0"/>
              <a:t> branch</a:t>
            </a:r>
            <a:endParaRPr lang="en-US" altLang="en-US" sz="2000" dirty="0">
              <a:sym typeface="Symbol" panose="05050102010706020507" pitchFamily="18" charset="2"/>
            </a:endParaRPr>
          </a:p>
        </p:txBody>
      </p:sp>
      <p:sp>
        <p:nvSpPr>
          <p:cNvPr id="13" name="Text Box 6">
            <a:extLst>
              <a:ext uri="{FF2B5EF4-FFF2-40B4-BE49-F238E27FC236}">
                <a16:creationId xmlns:a16="http://schemas.microsoft.com/office/drawing/2014/main" id="{7C8B793A-2F8C-5EA0-859B-A721577C3579}"/>
              </a:ext>
            </a:extLst>
          </p:cNvPr>
          <p:cNvSpPr txBox="1">
            <a:spLocks noChangeArrowheads="1"/>
          </p:cNvSpPr>
          <p:nvPr/>
        </p:nvSpPr>
        <p:spPr bwMode="auto">
          <a:xfrm>
            <a:off x="1554163" y="2090738"/>
            <a:ext cx="6662737"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5000"/>
              </a:spcBef>
              <a:buClr>
                <a:schemeClr val="tx2"/>
              </a:buClr>
              <a:buSzPct val="90000"/>
              <a:buFont typeface="Monotype Sorts" charset="2"/>
              <a:buNone/>
            </a:pPr>
            <a:r>
              <a:rPr kumimoji="1" lang="en-US" altLang="en-US" sz="1800" dirty="0"/>
              <a:t>{</a:t>
            </a:r>
            <a:r>
              <a:rPr kumimoji="1" lang="en-US" altLang="en-US" sz="1800" i="1" dirty="0"/>
              <a:t>t </a:t>
            </a:r>
            <a:r>
              <a:rPr kumimoji="1" lang="en-US" altLang="en-US" sz="1800" dirty="0"/>
              <a:t>|</a:t>
            </a:r>
            <a:r>
              <a:rPr kumimoji="1" lang="en-US" altLang="en-US" sz="1800" i="1" dirty="0"/>
              <a:t> </a:t>
            </a:r>
            <a:r>
              <a:rPr kumimoji="1" lang="en-US" altLang="en-US" sz="1800" dirty="0">
                <a:sym typeface="Symbol" panose="05050102010706020507" pitchFamily="18" charset="2"/>
              </a:rPr>
              <a:t></a:t>
            </a:r>
            <a:r>
              <a:rPr kumimoji="1" lang="en-US" altLang="en-US" sz="1800" i="1" dirty="0">
                <a:sym typeface="Symbol" panose="05050102010706020507" pitchFamily="18" charset="2"/>
              </a:rPr>
              <a:t>s </a:t>
            </a:r>
            <a:r>
              <a:rPr kumimoji="1" lang="en-US" altLang="en-US" sz="1800" dirty="0">
                <a:sym typeface="Symbol" panose="05050102010706020507" pitchFamily="18" charset="2"/>
              </a:rPr>
              <a:t> </a:t>
            </a:r>
            <a:r>
              <a:rPr kumimoji="1" lang="en-US" altLang="en-US" sz="1800" i="1" dirty="0">
                <a:sym typeface="Symbol" panose="05050102010706020507" pitchFamily="18" charset="2"/>
              </a:rPr>
              <a:t>borrower </a:t>
            </a:r>
            <a:r>
              <a:rPr kumimoji="1" lang="en-US" altLang="en-US" sz="1800" dirty="0">
                <a:sym typeface="Symbol" panose="05050102010706020507" pitchFamily="18" charset="2"/>
              </a:rPr>
              <a:t>(</a:t>
            </a:r>
            <a:r>
              <a:rPr kumimoji="1" lang="en-US" altLang="en-US" sz="1800" i="1" dirty="0">
                <a:sym typeface="Symbol" panose="05050102010706020507" pitchFamily="18" charset="2"/>
              </a:rPr>
              <a:t>t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customer_name</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i="1" dirty="0">
                <a:sym typeface="Symbol" panose="05050102010706020507" pitchFamily="18" charset="2"/>
              </a:rPr>
              <a:t>s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customer_name</a:t>
            </a:r>
            <a:r>
              <a:rPr kumimoji="1" lang="en-US" altLang="en-US" sz="1800" i="1" dirty="0">
                <a:sym typeface="Symbol" panose="05050102010706020507" pitchFamily="18" charset="2"/>
              </a:rPr>
              <a:t> </a:t>
            </a:r>
            <a:r>
              <a:rPr kumimoji="1" lang="en-US" altLang="en-US" sz="1800" dirty="0">
                <a:sym typeface="Symbol" panose="05050102010706020507" pitchFamily="18" charset="2"/>
              </a:rPr>
              <a:t>] </a:t>
            </a:r>
            <a:br>
              <a:rPr kumimoji="1" lang="en-US" altLang="en-US" sz="1800" dirty="0">
                <a:sym typeface="Symbol" panose="05050102010706020507" pitchFamily="18" charset="2"/>
              </a:rPr>
            </a:br>
            <a:r>
              <a:rPr kumimoji="1" lang="en-US" altLang="en-US" sz="1800" dirty="0">
                <a:sym typeface="Symbol" panose="05050102010706020507" pitchFamily="18" charset="2"/>
              </a:rPr>
              <a:t>      </a:t>
            </a:r>
            <a:r>
              <a:rPr kumimoji="1" lang="en-US" altLang="en-US" sz="1800" i="1" dirty="0">
                <a:sym typeface="Symbol" panose="05050102010706020507" pitchFamily="18" charset="2"/>
              </a:rPr>
              <a:t>u </a:t>
            </a:r>
            <a:r>
              <a:rPr kumimoji="1" lang="en-US" altLang="en-US" sz="1800" dirty="0">
                <a:sym typeface="Symbol" panose="05050102010706020507" pitchFamily="18" charset="2"/>
              </a:rPr>
              <a:t> </a:t>
            </a:r>
            <a:r>
              <a:rPr kumimoji="1" lang="en-US" altLang="en-US" sz="1800" i="1" dirty="0">
                <a:sym typeface="Symbol" panose="05050102010706020507" pitchFamily="18" charset="2"/>
              </a:rPr>
              <a:t>loan </a:t>
            </a:r>
            <a:r>
              <a:rPr kumimoji="1" lang="en-US" altLang="en-US" sz="1800" dirty="0">
                <a:sym typeface="Symbol" panose="05050102010706020507" pitchFamily="18" charset="2"/>
              </a:rPr>
              <a:t>(</a:t>
            </a:r>
            <a:r>
              <a:rPr kumimoji="1" lang="en-US" altLang="en-US" sz="1800" i="1" dirty="0">
                <a:sym typeface="Symbol" panose="05050102010706020507" pitchFamily="18" charset="2"/>
              </a:rPr>
              <a:t>u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branch_name</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dirty="0" err="1">
                <a:sym typeface="Symbol" panose="05050102010706020507" pitchFamily="18" charset="2"/>
              </a:rPr>
              <a:t>Perryridge</a:t>
            </a:r>
            <a:r>
              <a:rPr kumimoji="1" lang="en-US" altLang="en-US" sz="1800" dirty="0">
                <a:sym typeface="Symbol" panose="05050102010706020507" pitchFamily="18" charset="2"/>
              </a:rPr>
              <a:t>”</a:t>
            </a:r>
            <a:br>
              <a:rPr kumimoji="1" lang="en-US" altLang="en-US" sz="1800" dirty="0">
                <a:sym typeface="Symbol" panose="05050102010706020507" pitchFamily="18" charset="2"/>
              </a:rPr>
            </a:br>
            <a:r>
              <a:rPr kumimoji="1" lang="en-US" altLang="en-US" sz="1800" dirty="0">
                <a:sym typeface="Symbol" panose="05050102010706020507" pitchFamily="18" charset="2"/>
              </a:rPr>
              <a:t>                           </a:t>
            </a:r>
            <a:r>
              <a:rPr kumimoji="1" lang="en-US" altLang="en-US" sz="1800" i="1" dirty="0">
                <a:sym typeface="Symbol" panose="05050102010706020507" pitchFamily="18" charset="2"/>
              </a:rPr>
              <a:t>u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loan_number</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i="1" dirty="0">
                <a:sym typeface="Symbol" panose="05050102010706020507" pitchFamily="18" charset="2"/>
              </a:rPr>
              <a:t>s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loan_number</a:t>
            </a:r>
            <a:r>
              <a:rPr kumimoji="1" lang="en-US" altLang="en-US" sz="1800" i="1" dirty="0">
                <a:sym typeface="Symbol" panose="05050102010706020507" pitchFamily="18" charset="2"/>
              </a:rPr>
              <a:t> </a:t>
            </a:r>
            <a:r>
              <a:rPr kumimoji="1" lang="en-US" altLang="en-US" sz="1800" dirty="0">
                <a:sym typeface="Symbol" panose="05050102010706020507" pitchFamily="18" charset="2"/>
              </a:rPr>
              <a:t>]))}</a:t>
            </a:r>
            <a:endParaRPr kumimoji="1" lang="en-US" altLang="en-US" sz="1800" i="1" dirty="0">
              <a:sym typeface="Symbol" panose="05050102010706020507" pitchFamily="18" charset="2"/>
            </a:endParaRPr>
          </a:p>
        </p:txBody>
      </p:sp>
      <p:sp>
        <p:nvSpPr>
          <p:cNvPr id="14" name="Text Box 5">
            <a:extLst>
              <a:ext uri="{FF2B5EF4-FFF2-40B4-BE49-F238E27FC236}">
                <a16:creationId xmlns:a16="http://schemas.microsoft.com/office/drawing/2014/main" id="{E73F22FB-CA53-5357-EF70-84AF72CB5303}"/>
              </a:ext>
            </a:extLst>
          </p:cNvPr>
          <p:cNvSpPr txBox="1">
            <a:spLocks noChangeArrowheads="1"/>
          </p:cNvSpPr>
          <p:nvPr/>
        </p:nvSpPr>
        <p:spPr bwMode="auto">
          <a:xfrm>
            <a:off x="868363" y="3238500"/>
            <a:ext cx="810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5750" indent="-285750">
              <a:spcBef>
                <a:spcPct val="35000"/>
              </a:spcBef>
              <a:buClr>
                <a:schemeClr val="tx2"/>
              </a:buClr>
              <a:buSzPct val="90000"/>
              <a:buFont typeface="Arial" panose="020B0604020202020204" pitchFamily="34" charset="0"/>
              <a:buChar char="•"/>
            </a:pPr>
            <a:r>
              <a:rPr kumimoji="1" lang="en-US" altLang="en-US" sz="1800" dirty="0">
                <a:sym typeface="Symbol" panose="05050102010706020507" pitchFamily="18" charset="2"/>
              </a:rPr>
              <a:t>Find the names of all customers who have a loan at the </a:t>
            </a:r>
            <a:br>
              <a:rPr kumimoji="1" lang="en-US" altLang="en-US" sz="1800" dirty="0">
                <a:sym typeface="Symbol" panose="05050102010706020507" pitchFamily="18" charset="2"/>
              </a:rPr>
            </a:br>
            <a:r>
              <a:rPr kumimoji="1" lang="en-US" altLang="en-US" sz="1800" dirty="0">
                <a:sym typeface="Symbol" panose="05050102010706020507" pitchFamily="18" charset="2"/>
              </a:rPr>
              <a:t>     </a:t>
            </a:r>
            <a:r>
              <a:rPr kumimoji="1" lang="en-US" altLang="en-US" sz="1800" dirty="0" err="1">
                <a:sym typeface="Symbol" panose="05050102010706020507" pitchFamily="18" charset="2"/>
              </a:rPr>
              <a:t>Perryridge</a:t>
            </a:r>
            <a:r>
              <a:rPr kumimoji="1" lang="en-US" altLang="en-US" sz="1800" dirty="0">
                <a:sym typeface="Symbol" panose="05050102010706020507" pitchFamily="18" charset="2"/>
              </a:rPr>
              <a:t> branch, but no account at any branch of the bank</a:t>
            </a:r>
          </a:p>
        </p:txBody>
      </p:sp>
      <p:sp>
        <p:nvSpPr>
          <p:cNvPr id="15" name="Text Box 4">
            <a:extLst>
              <a:ext uri="{FF2B5EF4-FFF2-40B4-BE49-F238E27FC236}">
                <a16:creationId xmlns:a16="http://schemas.microsoft.com/office/drawing/2014/main" id="{EE63B176-1FEA-2243-935A-7DBBCFBE3E84}"/>
              </a:ext>
            </a:extLst>
          </p:cNvPr>
          <p:cNvSpPr txBox="1">
            <a:spLocks noChangeArrowheads="1"/>
          </p:cNvSpPr>
          <p:nvPr/>
        </p:nvSpPr>
        <p:spPr bwMode="auto">
          <a:xfrm>
            <a:off x="1160463" y="3979707"/>
            <a:ext cx="7134225"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35000"/>
              </a:spcBef>
              <a:buClr>
                <a:schemeClr val="tx2"/>
              </a:buClr>
              <a:buSzPct val="90000"/>
              <a:buFont typeface="Monotype Sorts" charset="2"/>
              <a:buNone/>
            </a:pPr>
            <a:r>
              <a:rPr kumimoji="1" lang="en-US" altLang="en-US" sz="1800" dirty="0"/>
              <a:t>{</a:t>
            </a:r>
            <a:r>
              <a:rPr kumimoji="1" lang="en-US" altLang="en-US" sz="1800" i="1" dirty="0"/>
              <a:t>t </a:t>
            </a:r>
            <a:r>
              <a:rPr kumimoji="1" lang="en-US" altLang="en-US" sz="1800" dirty="0"/>
              <a:t>|</a:t>
            </a:r>
            <a:r>
              <a:rPr kumimoji="1" lang="en-US" altLang="en-US" sz="1800" i="1" dirty="0"/>
              <a:t> </a:t>
            </a:r>
            <a:r>
              <a:rPr kumimoji="1" lang="en-US" altLang="en-US" sz="1800" dirty="0">
                <a:sym typeface="Symbol" panose="05050102010706020507" pitchFamily="18" charset="2"/>
              </a:rPr>
              <a:t></a:t>
            </a:r>
            <a:r>
              <a:rPr kumimoji="1" lang="en-US" altLang="en-US" sz="1800" i="1" dirty="0">
                <a:sym typeface="Symbol" panose="05050102010706020507" pitchFamily="18" charset="2"/>
              </a:rPr>
              <a:t>s </a:t>
            </a:r>
            <a:r>
              <a:rPr kumimoji="1" lang="en-US" altLang="en-US" sz="1800" dirty="0">
                <a:sym typeface="Symbol" panose="05050102010706020507" pitchFamily="18" charset="2"/>
              </a:rPr>
              <a:t> </a:t>
            </a:r>
            <a:r>
              <a:rPr kumimoji="1" lang="en-US" altLang="en-US" sz="1800" i="1" dirty="0">
                <a:sym typeface="Symbol" panose="05050102010706020507" pitchFamily="18" charset="2"/>
              </a:rPr>
              <a:t>borrower </a:t>
            </a:r>
            <a:r>
              <a:rPr kumimoji="1" lang="en-US" altLang="en-US" sz="1800" dirty="0">
                <a:sym typeface="Symbol" panose="05050102010706020507" pitchFamily="18" charset="2"/>
              </a:rPr>
              <a:t>(</a:t>
            </a:r>
            <a:r>
              <a:rPr kumimoji="1" lang="en-US" altLang="en-US" sz="1800" i="1" dirty="0">
                <a:sym typeface="Symbol" panose="05050102010706020507" pitchFamily="18" charset="2"/>
              </a:rPr>
              <a:t>t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customer_name</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i="1" dirty="0">
                <a:sym typeface="Symbol" panose="05050102010706020507" pitchFamily="18" charset="2"/>
              </a:rPr>
              <a:t>s </a:t>
            </a:r>
            <a:r>
              <a:rPr kumimoji="1" lang="en-US" altLang="en-US" sz="1800" dirty="0">
                <a:sym typeface="Symbol" panose="05050102010706020507" pitchFamily="18" charset="2"/>
              </a:rPr>
              <a:t>[</a:t>
            </a:r>
            <a:r>
              <a:rPr kumimoji="1" lang="en-US" altLang="en-US" sz="1800" dirty="0" err="1">
                <a:sym typeface="Symbol" panose="05050102010706020507" pitchFamily="18" charset="2"/>
              </a:rPr>
              <a:t>customer_name</a:t>
            </a:r>
            <a:r>
              <a:rPr kumimoji="1" lang="en-US" altLang="en-US" sz="1800" dirty="0">
                <a:sym typeface="Symbol" panose="05050102010706020507" pitchFamily="18" charset="2"/>
              </a:rPr>
              <a:t> ]</a:t>
            </a:r>
            <a:br>
              <a:rPr kumimoji="1" lang="en-US" altLang="en-US" sz="1800" dirty="0">
                <a:sym typeface="Symbol" panose="05050102010706020507" pitchFamily="18" charset="2"/>
              </a:rPr>
            </a:br>
            <a:r>
              <a:rPr kumimoji="1" lang="en-US" altLang="en-US" sz="1800" dirty="0">
                <a:sym typeface="Symbol" panose="05050102010706020507" pitchFamily="18" charset="2"/>
              </a:rPr>
              <a:t>        </a:t>
            </a:r>
            <a:r>
              <a:rPr kumimoji="1" lang="en-US" altLang="en-US" sz="1800" i="1" dirty="0">
                <a:sym typeface="Symbol" panose="05050102010706020507" pitchFamily="18" charset="2"/>
              </a:rPr>
              <a:t>u </a:t>
            </a:r>
            <a:r>
              <a:rPr kumimoji="1" lang="en-US" altLang="en-US" sz="1800" dirty="0">
                <a:sym typeface="Symbol" panose="05050102010706020507" pitchFamily="18" charset="2"/>
              </a:rPr>
              <a:t> </a:t>
            </a:r>
            <a:r>
              <a:rPr kumimoji="1" lang="en-US" altLang="en-US" sz="1800" i="1" dirty="0">
                <a:sym typeface="Symbol" panose="05050102010706020507" pitchFamily="18" charset="2"/>
              </a:rPr>
              <a:t>loan </a:t>
            </a:r>
            <a:r>
              <a:rPr kumimoji="1" lang="en-US" altLang="en-US" sz="1800" dirty="0">
                <a:sym typeface="Symbol" panose="05050102010706020507" pitchFamily="18" charset="2"/>
              </a:rPr>
              <a:t>(</a:t>
            </a:r>
            <a:r>
              <a:rPr kumimoji="1" lang="en-US" altLang="en-US" sz="1800" i="1" dirty="0">
                <a:sym typeface="Symbol" panose="05050102010706020507" pitchFamily="18" charset="2"/>
              </a:rPr>
              <a:t>u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branch_name</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dirty="0" err="1">
                <a:sym typeface="Symbol" panose="05050102010706020507" pitchFamily="18" charset="2"/>
              </a:rPr>
              <a:t>Perryridge</a:t>
            </a:r>
            <a:r>
              <a:rPr kumimoji="1" lang="en-US" altLang="en-US" sz="1800" dirty="0">
                <a:sym typeface="Symbol" panose="05050102010706020507" pitchFamily="18" charset="2"/>
              </a:rPr>
              <a:t>”</a:t>
            </a:r>
            <a:br>
              <a:rPr kumimoji="1" lang="en-US" altLang="en-US" sz="1800" dirty="0">
                <a:sym typeface="Symbol" panose="05050102010706020507" pitchFamily="18" charset="2"/>
              </a:rPr>
            </a:br>
            <a:r>
              <a:rPr kumimoji="1" lang="en-US" altLang="en-US" sz="1800" dirty="0">
                <a:sym typeface="Symbol" panose="05050102010706020507" pitchFamily="18" charset="2"/>
              </a:rPr>
              <a:t>                             </a:t>
            </a:r>
            <a:r>
              <a:rPr kumimoji="1" lang="en-US" altLang="en-US" sz="1800" i="1" dirty="0">
                <a:sym typeface="Symbol" panose="05050102010706020507" pitchFamily="18" charset="2"/>
              </a:rPr>
              <a:t>u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loan_number</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i="1" dirty="0">
                <a:sym typeface="Symbol" panose="05050102010706020507" pitchFamily="18" charset="2"/>
              </a:rPr>
              <a:t>s </a:t>
            </a:r>
            <a:r>
              <a:rPr kumimoji="1" lang="en-US" altLang="en-US" sz="1800" dirty="0">
                <a:sym typeface="Symbol" panose="05050102010706020507" pitchFamily="18" charset="2"/>
              </a:rPr>
              <a:t>[</a:t>
            </a:r>
            <a:r>
              <a:rPr kumimoji="1" lang="en-US" altLang="en-US" sz="1800" dirty="0" err="1">
                <a:sym typeface="Symbol" panose="05050102010706020507" pitchFamily="18" charset="2"/>
              </a:rPr>
              <a:t>loan_</a:t>
            </a:r>
            <a:r>
              <a:rPr kumimoji="1" lang="en-US" altLang="en-US" sz="1800" i="1" dirty="0" err="1">
                <a:sym typeface="Symbol" panose="05050102010706020507" pitchFamily="18" charset="2"/>
              </a:rPr>
              <a:t>number</a:t>
            </a:r>
            <a:r>
              <a:rPr kumimoji="1" lang="en-US" altLang="en-US" sz="1800" i="1" dirty="0">
                <a:sym typeface="Symbol" panose="05050102010706020507" pitchFamily="18" charset="2"/>
              </a:rPr>
              <a:t> </a:t>
            </a:r>
            <a:r>
              <a:rPr kumimoji="1" lang="en-US" altLang="en-US" sz="1800" dirty="0">
                <a:sym typeface="Symbol" panose="05050102010706020507" pitchFamily="18" charset="2"/>
              </a:rPr>
              <a:t>]))</a:t>
            </a:r>
            <a:br>
              <a:rPr kumimoji="1" lang="en-US" altLang="en-US" sz="1800" dirty="0">
                <a:sym typeface="Symbol" panose="05050102010706020507" pitchFamily="18" charset="2"/>
              </a:rPr>
            </a:br>
            <a:r>
              <a:rPr kumimoji="1" lang="en-US" altLang="en-US" sz="1800" dirty="0">
                <a:sym typeface="Symbol" panose="05050102010706020507" pitchFamily="18" charset="2"/>
              </a:rPr>
              <a:t>        </a:t>
            </a:r>
            <a:r>
              <a:rPr kumimoji="1" lang="en-US" altLang="en-US" sz="1800" b="1" dirty="0">
                <a:sym typeface="Symbol" panose="05050102010706020507" pitchFamily="18" charset="2"/>
              </a:rPr>
              <a:t>not</a:t>
            </a:r>
            <a:r>
              <a:rPr kumimoji="1" lang="en-US" altLang="en-US" sz="1800" dirty="0">
                <a:sym typeface="Symbol" panose="05050102010706020507" pitchFamily="18" charset="2"/>
              </a:rPr>
              <a:t> </a:t>
            </a:r>
            <a:r>
              <a:rPr kumimoji="1" lang="en-US" altLang="en-US" sz="1800" i="1" dirty="0">
                <a:sym typeface="Symbol" panose="05050102010706020507" pitchFamily="18" charset="2"/>
              </a:rPr>
              <a:t>v </a:t>
            </a:r>
            <a:r>
              <a:rPr kumimoji="1" lang="en-US" altLang="en-US" sz="1800" dirty="0">
                <a:sym typeface="Symbol" panose="05050102010706020507" pitchFamily="18" charset="2"/>
              </a:rPr>
              <a:t> </a:t>
            </a:r>
            <a:r>
              <a:rPr kumimoji="1" lang="en-US" altLang="en-US" sz="1800" i="1" dirty="0">
                <a:sym typeface="Symbol" panose="05050102010706020507" pitchFamily="18" charset="2"/>
              </a:rPr>
              <a:t>depositor </a:t>
            </a:r>
            <a:r>
              <a:rPr kumimoji="1" lang="en-US" altLang="en-US" sz="1800" dirty="0">
                <a:sym typeface="Symbol" panose="05050102010706020507" pitchFamily="18" charset="2"/>
              </a:rPr>
              <a:t>(</a:t>
            </a:r>
            <a:r>
              <a:rPr kumimoji="1" lang="en-US" altLang="en-US" sz="1800" i="1" dirty="0">
                <a:sym typeface="Symbol" panose="05050102010706020507" pitchFamily="18" charset="2"/>
              </a:rPr>
              <a:t>v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customer_name</a:t>
            </a: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br>
              <a:rPr kumimoji="1" lang="en-US" altLang="en-US" sz="1800" dirty="0">
                <a:sym typeface="Symbol" panose="05050102010706020507" pitchFamily="18" charset="2"/>
              </a:rPr>
            </a:br>
            <a:r>
              <a:rPr kumimoji="1" lang="en-US" altLang="en-US" sz="1800" dirty="0">
                <a:sym typeface="Symbol" panose="05050102010706020507" pitchFamily="18" charset="2"/>
              </a:rPr>
              <a:t>                                                      </a:t>
            </a:r>
            <a:r>
              <a:rPr kumimoji="1" lang="en-US" altLang="en-US" sz="1800" i="1" dirty="0">
                <a:sym typeface="Symbol" panose="05050102010706020507" pitchFamily="18" charset="2"/>
              </a:rPr>
              <a:t>t </a:t>
            </a:r>
            <a:r>
              <a:rPr kumimoji="1" lang="en-US" altLang="en-US" sz="1800" dirty="0">
                <a:sym typeface="Symbol" panose="05050102010706020507" pitchFamily="18" charset="2"/>
              </a:rPr>
              <a:t>[</a:t>
            </a:r>
            <a:r>
              <a:rPr kumimoji="1" lang="en-US" altLang="en-US" sz="1800" i="1" dirty="0" err="1">
                <a:sym typeface="Symbol" panose="05050102010706020507" pitchFamily="18" charset="2"/>
              </a:rPr>
              <a:t>customer_name</a:t>
            </a:r>
            <a:r>
              <a:rPr kumimoji="1" lang="en-US" altLang="en-US" sz="1800" i="1" dirty="0">
                <a:sym typeface="Symbol" panose="05050102010706020507" pitchFamily="18" charset="2"/>
              </a:rPr>
              <a:t> </a:t>
            </a:r>
            <a:r>
              <a:rPr kumimoji="1" lang="en-US" altLang="en-US" sz="1800" dirty="0">
                <a:sym typeface="Symbol" panose="05050102010706020507" pitchFamily="18" charset="2"/>
              </a:rPr>
              <a:t>])}</a:t>
            </a:r>
            <a:endParaRPr kumimoji="1" lang="en-US" altLang="en-US" sz="1800" i="1" dirty="0">
              <a:sym typeface="Symbol" panose="05050102010706020507" pitchFamily="18" charset="2"/>
            </a:endParaRPr>
          </a:p>
        </p:txBody>
      </p:sp>
    </p:spTree>
    <p:extLst>
      <p:ext uri="{BB962C8B-B14F-4D97-AF65-F5344CB8AC3E}">
        <p14:creationId xmlns:p14="http://schemas.microsoft.com/office/powerpoint/2010/main" val="4111310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utoUpdateAnimBg="0"/>
      <p:bldP spid="13" grpId="0" autoUpdateAnimBg="0"/>
      <p:bldP spid="14" grpId="0" autoUpdateAnimBg="0"/>
      <p:bldP spid="15" grpId="0" autoUpdateAnimBg="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9612" y="1032213"/>
            <a:ext cx="11512776" cy="5069496"/>
          </a:xfrm>
        </p:spPr>
        <p:txBody>
          <a:bodyPr>
            <a:normAutofit/>
          </a:bodyPr>
          <a:lstStyle/>
          <a:p>
            <a:pPr>
              <a:buNone/>
            </a:pPr>
            <a:endParaRPr lang="en-US" altLang="en-US" sz="2000" dirty="0">
              <a:latin typeface="Times New Roman" panose="02020603050405020304" pitchFamily="18" charset="0"/>
              <a:cs typeface="Times New Roman" panose="02020603050405020304" pitchFamily="18" charset="0"/>
            </a:endParaRPr>
          </a:p>
          <a:p>
            <a:pPr>
              <a:buNone/>
            </a:pPr>
            <a:endParaRPr lang="en-US" sz="2442" dirty="0"/>
          </a:p>
        </p:txBody>
      </p:sp>
      <p:sp>
        <p:nvSpPr>
          <p:cNvPr id="7" name="Title 1"/>
          <p:cNvSpPr>
            <a:spLocks noGrp="1"/>
          </p:cNvSpPr>
          <p:nvPr>
            <p:ph type="title"/>
          </p:nvPr>
        </p:nvSpPr>
        <p:spPr>
          <a:xfrm>
            <a:off x="187701" y="0"/>
            <a:ext cx="11773927" cy="777573"/>
          </a:xfrm>
        </p:spPr>
        <p:txBody>
          <a:bodyPr>
            <a:noAutofit/>
          </a:bodyPr>
          <a:lstStyle/>
          <a:p>
            <a:pPr algn="l"/>
            <a:r>
              <a:rPr lang="en-US" sz="2539" dirty="0">
                <a:solidFill>
                  <a:srgbClr val="FF0000"/>
                </a:solidFill>
                <a:latin typeface="Copperplate Gothic Light" pitchFamily="34" charset="0"/>
              </a:rPr>
              <a:t>Relational algebra queries, Tuple relational calculus </a:t>
            </a:r>
          </a:p>
        </p:txBody>
      </p:sp>
      <p:sp>
        <p:nvSpPr>
          <p:cNvPr id="2" name="Slide Number Placeholder 1">
            <a:extLst>
              <a:ext uri="{FF2B5EF4-FFF2-40B4-BE49-F238E27FC236}">
                <a16:creationId xmlns:a16="http://schemas.microsoft.com/office/drawing/2014/main" id="{299278D1-9D11-4906-6284-A2D3DE57DC80}"/>
              </a:ext>
            </a:extLst>
          </p:cNvPr>
          <p:cNvSpPr>
            <a:spLocks noGrp="1"/>
          </p:cNvSpPr>
          <p:nvPr>
            <p:ph type="sldNum" sz="quarter" idx="12"/>
          </p:nvPr>
        </p:nvSpPr>
        <p:spPr/>
        <p:txBody>
          <a:bodyPr/>
          <a:lstStyle/>
          <a:p>
            <a:fld id="{30BB16E2-1063-4ECC-B0F4-DD6A8CC0C30D}" type="slidenum">
              <a:rPr lang="en-US" smtClean="0"/>
              <a:pPr/>
              <a:t>61</a:t>
            </a:fld>
            <a:endParaRPr lang="en-US"/>
          </a:p>
        </p:txBody>
      </p:sp>
      <p:sp>
        <p:nvSpPr>
          <p:cNvPr id="5" name="TextBox 4">
            <a:extLst>
              <a:ext uri="{FF2B5EF4-FFF2-40B4-BE49-F238E27FC236}">
                <a16:creationId xmlns:a16="http://schemas.microsoft.com/office/drawing/2014/main" id="{A9F27879-7238-F872-FDA0-0F9AB71B7AA3}"/>
              </a:ext>
            </a:extLst>
          </p:cNvPr>
          <p:cNvSpPr txBox="1"/>
          <p:nvPr/>
        </p:nvSpPr>
        <p:spPr>
          <a:xfrm>
            <a:off x="975360" y="944475"/>
            <a:ext cx="6096000" cy="523220"/>
          </a:xfrm>
          <a:prstGeom prst="rect">
            <a:avLst/>
          </a:prstGeom>
          <a:noFill/>
        </p:spPr>
        <p:txBody>
          <a:bodyPr wrap="square">
            <a:spAutoFit/>
          </a:bodyPr>
          <a:lstStyle/>
          <a:p>
            <a:r>
              <a:rPr lang="en-US" altLang="en-US" sz="2800" dirty="0">
                <a:solidFill>
                  <a:srgbClr val="FF0000"/>
                </a:solidFill>
                <a:latin typeface="Times New Roman" panose="02020603050405020304" pitchFamily="18" charset="0"/>
                <a:cs typeface="Times New Roman" panose="02020603050405020304" pitchFamily="18" charset="0"/>
              </a:rPr>
              <a:t>Safety of Expressions</a:t>
            </a:r>
            <a:endParaRPr lang="en-IN" sz="2800" dirty="0">
              <a:solidFill>
                <a:srgbClr val="FF0000"/>
              </a:solidFill>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8E817E91-5E82-CFF2-089E-D56E7C9A07E4}"/>
              </a:ext>
            </a:extLst>
          </p:cNvPr>
          <p:cNvSpPr txBox="1">
            <a:spLocks noChangeArrowheads="1"/>
          </p:cNvSpPr>
          <p:nvPr/>
        </p:nvSpPr>
        <p:spPr>
          <a:xfrm>
            <a:off x="881698" y="1656185"/>
            <a:ext cx="10192702" cy="48768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latin typeface="Times New Roman" panose="02020603050405020304" pitchFamily="18" charset="0"/>
                <a:cs typeface="Times New Roman" panose="02020603050405020304" pitchFamily="18" charset="0"/>
              </a:rPr>
              <a:t>It is possible to write tuple calculus expressions that generate infinite relations.</a:t>
            </a:r>
          </a:p>
          <a:p>
            <a:r>
              <a:rPr lang="en-US" altLang="en-US" sz="2400" dirty="0">
                <a:latin typeface="Times New Roman" panose="02020603050405020304" pitchFamily="18" charset="0"/>
                <a:cs typeface="Times New Roman" panose="02020603050405020304" pitchFamily="18" charset="0"/>
              </a:rPr>
              <a:t>For example, { t | </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r </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results in an infinite relation if the domain of any attribute of relation </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r</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is infinite</a:t>
            </a:r>
          </a:p>
          <a:p>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To guard against the problem, we restrict the set of allowable expressions to safe expressions.</a:t>
            </a:r>
          </a:p>
          <a:p>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An expression {</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 </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P </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t </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in the tuple relational calculus is </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safe</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if every component of </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t</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 appears in one of the relations, tuples, or constants that appear in </a:t>
            </a:r>
            <a:r>
              <a:rPr lang="en-US" altLang="en-US" sz="2400" i="1" dirty="0">
                <a:latin typeface="Times New Roman" panose="02020603050405020304" pitchFamily="18" charset="0"/>
                <a:cs typeface="Times New Roman" panose="02020603050405020304" pitchFamily="18" charset="0"/>
                <a:sym typeface="Symbol" panose="05050102010706020507" pitchFamily="18" charset="2"/>
              </a:rPr>
              <a:t>P</a:t>
            </a:r>
          </a:p>
          <a:p>
            <a:pPr lvl="1"/>
            <a:r>
              <a:rPr lang="en-US" altLang="en-US" dirty="0">
                <a:latin typeface="Times New Roman" panose="02020603050405020304" pitchFamily="18" charset="0"/>
                <a:cs typeface="Times New Roman" panose="02020603050405020304" pitchFamily="18" charset="0"/>
              </a:rPr>
              <a:t>NOTE: this is more than just a syntax condition. </a:t>
            </a:r>
          </a:p>
          <a:p>
            <a:pPr lvl="2"/>
            <a:r>
              <a:rPr lang="en-US" altLang="en-US" sz="2400" dirty="0">
                <a:latin typeface="Times New Roman" panose="02020603050405020304" pitchFamily="18" charset="0"/>
                <a:cs typeface="Times New Roman" panose="02020603050405020304" pitchFamily="18" charset="0"/>
              </a:rPr>
              <a:t>E.g. { </a:t>
            </a:r>
            <a:r>
              <a:rPr lang="en-US" altLang="en-US" sz="2400" i="1" dirty="0">
                <a:latin typeface="Times New Roman" panose="02020603050405020304" pitchFamily="18" charset="0"/>
                <a:cs typeface="Times New Roman" panose="02020603050405020304" pitchFamily="18" charset="0"/>
              </a:rPr>
              <a:t>t</a:t>
            </a:r>
            <a:r>
              <a:rPr lang="en-US" altLang="en-US" sz="2400" dirty="0">
                <a:latin typeface="Times New Roman" panose="02020603050405020304" pitchFamily="18" charset="0"/>
                <a:cs typeface="Times New Roman" panose="02020603050405020304" pitchFamily="18" charset="0"/>
              </a:rPr>
              <a:t> | </a:t>
            </a:r>
            <a:r>
              <a:rPr lang="en-US" altLang="en-US" sz="2400" i="1" dirty="0">
                <a:latin typeface="Times New Roman" panose="02020603050405020304" pitchFamily="18" charset="0"/>
                <a:cs typeface="Times New Roman" panose="02020603050405020304" pitchFamily="18" charset="0"/>
              </a:rPr>
              <a:t>t </a:t>
            </a:r>
            <a:r>
              <a:rPr lang="en-US" altLang="en-US" sz="2400" dirty="0">
                <a:latin typeface="Times New Roman" panose="02020603050405020304" pitchFamily="18" charset="0"/>
                <a:cs typeface="Times New Roman" panose="02020603050405020304" pitchFamily="18" charset="0"/>
              </a:rPr>
              <a:t>[</a:t>
            </a:r>
            <a:r>
              <a:rPr lang="en-US" altLang="en-US" sz="2400" i="1" dirty="0">
                <a:latin typeface="Times New Roman" panose="02020603050405020304" pitchFamily="18" charset="0"/>
                <a:cs typeface="Times New Roman" panose="02020603050405020304" pitchFamily="18" charset="0"/>
              </a:rPr>
              <a:t>A</a:t>
            </a:r>
            <a:r>
              <a:rPr lang="en-US" altLang="en-US" sz="2400" dirty="0">
                <a:latin typeface="Times New Roman" panose="02020603050405020304" pitchFamily="18" charset="0"/>
                <a:cs typeface="Times New Roman" panose="02020603050405020304" pitchFamily="18" charset="0"/>
              </a:rPr>
              <a:t>] = 5 </a:t>
            </a:r>
            <a:r>
              <a:rPr lang="en-US" altLang="en-US" sz="24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400" dirty="0">
                <a:latin typeface="Times New Roman" panose="02020603050405020304" pitchFamily="18" charset="0"/>
                <a:cs typeface="Times New Roman" panose="02020603050405020304" pitchFamily="18" charset="0"/>
              </a:rPr>
              <a:t> </a:t>
            </a:r>
            <a:r>
              <a:rPr lang="en-US" altLang="en-US" sz="2400" b="1" dirty="0">
                <a:latin typeface="Times New Roman" panose="02020603050405020304" pitchFamily="18" charset="0"/>
                <a:cs typeface="Times New Roman" panose="02020603050405020304" pitchFamily="18" charset="0"/>
              </a:rPr>
              <a:t>true</a:t>
            </a:r>
            <a:r>
              <a:rPr lang="en-US" altLang="en-US" sz="2400" dirty="0">
                <a:latin typeface="Times New Roman" panose="02020603050405020304" pitchFamily="18" charset="0"/>
                <a:cs typeface="Times New Roman" panose="02020603050405020304" pitchFamily="18" charset="0"/>
              </a:rPr>
              <a:t> } is not safe --- it defines an infinite set with attribute values that do not appear in any relation or tuples or constants in </a:t>
            </a:r>
            <a:r>
              <a:rPr lang="en-US" altLang="en-US" sz="2400" i="1" dirty="0">
                <a:latin typeface="Times New Roman" panose="02020603050405020304" pitchFamily="18" charset="0"/>
                <a:cs typeface="Times New Roman" panose="02020603050405020304" pitchFamily="18" charset="0"/>
              </a:rPr>
              <a:t>P</a:t>
            </a:r>
            <a:r>
              <a:rPr lang="en-US" altLang="en-US"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6487783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499" y="986896"/>
            <a:ext cx="11233678" cy="5139270"/>
          </a:xfrm>
        </p:spPr>
        <p:txBody>
          <a:bodyPr>
            <a:normAutofit/>
          </a:bodyPr>
          <a:lstStyle/>
          <a:p>
            <a:pPr>
              <a:buNone/>
            </a:pPr>
            <a:r>
              <a:rPr lang="en-US" sz="2344" dirty="0">
                <a:solidFill>
                  <a:srgbClr val="C00000"/>
                </a:solidFill>
                <a:latin typeface="Copperplate Gothic Light" pitchFamily="34" charset="0"/>
              </a:rPr>
              <a:t>Domain Relational Calculus</a:t>
            </a:r>
          </a:p>
          <a:p>
            <a:pPr>
              <a:buClr>
                <a:srgbClr val="C00000"/>
              </a:buClr>
              <a:buFont typeface="Wingdings" pitchFamily="2" charset="2"/>
              <a:buChar char="ü"/>
            </a:pPr>
            <a:endParaRPr lang="en-US" sz="1074" dirty="0">
              <a:solidFill>
                <a:srgbClr val="213AF1"/>
              </a:solidFill>
              <a:latin typeface="Bookman Old Style" pitchFamily="18" charset="0"/>
            </a:endParaRPr>
          </a:p>
          <a:p>
            <a:pPr>
              <a:buClr>
                <a:srgbClr val="C00000"/>
              </a:buClr>
              <a:buFont typeface="Wingdings" pitchFamily="2" charset="2"/>
              <a:buChar char="ü"/>
            </a:pPr>
            <a:r>
              <a:rPr lang="en-US" sz="2442" dirty="0">
                <a:solidFill>
                  <a:srgbClr val="213AF1"/>
                </a:solidFill>
                <a:latin typeface="Bookman Old Style" pitchFamily="18" charset="0"/>
              </a:rPr>
              <a:t>A second form of relational calculus, called domain relational calculus, uses domain variables that take on values from an attributes domain, rather than values for an entire </a:t>
            </a:r>
            <a:r>
              <a:rPr lang="en-US" sz="2442" dirty="0" err="1">
                <a:solidFill>
                  <a:srgbClr val="213AF1"/>
                </a:solidFill>
                <a:latin typeface="Bookman Old Style" pitchFamily="18" charset="0"/>
              </a:rPr>
              <a:t>tuple</a:t>
            </a:r>
            <a:r>
              <a:rPr lang="en-US" sz="2442" dirty="0">
                <a:solidFill>
                  <a:srgbClr val="213AF1"/>
                </a:solidFill>
                <a:latin typeface="Bookman Old Style" pitchFamily="18" charset="0"/>
              </a:rPr>
              <a:t>. The domain relational calculus, </a:t>
            </a:r>
          </a:p>
          <a:p>
            <a:pPr>
              <a:buClr>
                <a:srgbClr val="C00000"/>
              </a:buClr>
              <a:buFont typeface="Wingdings" pitchFamily="2" charset="2"/>
              <a:buChar char="ü"/>
            </a:pPr>
            <a:endParaRPr lang="en-US" sz="1367" dirty="0">
              <a:solidFill>
                <a:srgbClr val="213AF1"/>
              </a:solidFill>
              <a:latin typeface="Bookman Old Style" pitchFamily="18" charset="0"/>
            </a:endParaRPr>
          </a:p>
          <a:p>
            <a:pPr>
              <a:buClr>
                <a:srgbClr val="C00000"/>
              </a:buClr>
              <a:buFont typeface="Wingdings" pitchFamily="2" charset="2"/>
              <a:buChar char="ü"/>
            </a:pPr>
            <a:r>
              <a:rPr lang="en-US" sz="2442" dirty="0">
                <a:solidFill>
                  <a:srgbClr val="213AF1"/>
                </a:solidFill>
                <a:latin typeface="Bookman Old Style" pitchFamily="18" charset="0"/>
              </a:rPr>
              <a:t>However, is closely related to the </a:t>
            </a:r>
            <a:r>
              <a:rPr lang="en-US" sz="2442" dirty="0" err="1">
                <a:solidFill>
                  <a:srgbClr val="213AF1"/>
                </a:solidFill>
                <a:latin typeface="Bookman Old Style" pitchFamily="18" charset="0"/>
              </a:rPr>
              <a:t>tuple</a:t>
            </a:r>
            <a:r>
              <a:rPr lang="en-US" sz="2442" dirty="0">
                <a:solidFill>
                  <a:srgbClr val="213AF1"/>
                </a:solidFill>
                <a:latin typeface="Bookman Old Style" pitchFamily="18" charset="0"/>
              </a:rPr>
              <a:t> relational calculus.</a:t>
            </a:r>
          </a:p>
          <a:p>
            <a:pPr>
              <a:buClr>
                <a:srgbClr val="C00000"/>
              </a:buClr>
              <a:buFont typeface="Wingdings" pitchFamily="2" charset="2"/>
              <a:buChar char="ü"/>
            </a:pPr>
            <a:endParaRPr lang="en-US" sz="1172" dirty="0">
              <a:solidFill>
                <a:srgbClr val="213AF1"/>
              </a:solidFill>
              <a:latin typeface="Bookman Old Style" pitchFamily="18" charset="0"/>
            </a:endParaRPr>
          </a:p>
          <a:p>
            <a:pPr>
              <a:buClr>
                <a:srgbClr val="C00000"/>
              </a:buClr>
              <a:buFont typeface="Wingdings" pitchFamily="2" charset="2"/>
              <a:buChar char="ü"/>
            </a:pPr>
            <a:r>
              <a:rPr lang="en-US" sz="2442" dirty="0">
                <a:solidFill>
                  <a:srgbClr val="213AF1"/>
                </a:solidFill>
                <a:latin typeface="Bookman Old Style" pitchFamily="18" charset="0"/>
              </a:rPr>
              <a:t>Domain relational calculus serves as the theoretical basis of the widely used QBE language, just as relational algebra serves as the basis for the SQL language.</a:t>
            </a:r>
          </a:p>
        </p:txBody>
      </p:sp>
      <p:sp>
        <p:nvSpPr>
          <p:cNvPr id="2" name="Slide Number Placeholder 1">
            <a:extLst>
              <a:ext uri="{FF2B5EF4-FFF2-40B4-BE49-F238E27FC236}">
                <a16:creationId xmlns:a16="http://schemas.microsoft.com/office/drawing/2014/main" id="{6C4CBA74-E05A-AE04-440E-C5008D33D1F7}"/>
              </a:ext>
            </a:extLst>
          </p:cNvPr>
          <p:cNvSpPr>
            <a:spLocks noGrp="1"/>
          </p:cNvSpPr>
          <p:nvPr>
            <p:ph type="sldNum" sz="quarter" idx="12"/>
          </p:nvPr>
        </p:nvSpPr>
        <p:spPr/>
        <p:txBody>
          <a:bodyPr/>
          <a:lstStyle/>
          <a:p>
            <a:fld id="{30BB16E2-1063-4ECC-B0F4-DD6A8CC0C30D}" type="slidenum">
              <a:rPr lang="en-US" smtClean="0"/>
              <a:pPr/>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500" y="986896"/>
            <a:ext cx="11038971" cy="5139270"/>
          </a:xfrm>
        </p:spPr>
        <p:txBody>
          <a:bodyPr>
            <a:normAutofit/>
          </a:bodyPr>
          <a:lstStyle/>
          <a:p>
            <a:pPr>
              <a:buNone/>
            </a:pPr>
            <a:r>
              <a:rPr lang="en-US" sz="2344" dirty="0">
                <a:solidFill>
                  <a:srgbClr val="C00000"/>
                </a:solidFill>
                <a:latin typeface="Copperplate Gothic Light" pitchFamily="34" charset="0"/>
              </a:rPr>
              <a:t>Domain Relational Calculus</a:t>
            </a:r>
          </a:p>
          <a:p>
            <a:pPr>
              <a:buNone/>
            </a:pPr>
            <a:endParaRPr lang="en-US" sz="2344" dirty="0">
              <a:solidFill>
                <a:srgbClr val="C00000"/>
              </a:solidFill>
              <a:latin typeface="Copperplate Gothic Light" pitchFamily="34" charset="0"/>
            </a:endParaRPr>
          </a:p>
          <a:p>
            <a:pPr>
              <a:buClr>
                <a:srgbClr val="C00000"/>
              </a:buClr>
              <a:buFont typeface="Wingdings" pitchFamily="2" charset="2"/>
              <a:buChar char="ü"/>
            </a:pPr>
            <a:r>
              <a:rPr lang="en-US" sz="2539" dirty="0">
                <a:solidFill>
                  <a:srgbClr val="213AF1"/>
                </a:solidFill>
                <a:latin typeface="Bookman Old Style" pitchFamily="18" charset="0"/>
              </a:rPr>
              <a:t>An expression in the domain relational calculus is of the form</a:t>
            </a:r>
          </a:p>
          <a:p>
            <a:pPr>
              <a:buClr>
                <a:srgbClr val="C00000"/>
              </a:buClr>
              <a:buNone/>
            </a:pPr>
            <a:r>
              <a:rPr lang="en-US" sz="2539" dirty="0">
                <a:solidFill>
                  <a:srgbClr val="213AF1"/>
                </a:solidFill>
                <a:latin typeface="Bookman Old Style" pitchFamily="18" charset="0"/>
              </a:rPr>
              <a:t>	</a:t>
            </a:r>
          </a:p>
          <a:p>
            <a:pPr>
              <a:buClr>
                <a:srgbClr val="C00000"/>
              </a:buClr>
              <a:buNone/>
            </a:pPr>
            <a:r>
              <a:rPr lang="en-US" sz="2539" dirty="0">
                <a:solidFill>
                  <a:srgbClr val="213AF1"/>
                </a:solidFill>
                <a:latin typeface="Bookman Old Style" pitchFamily="18" charset="0"/>
              </a:rPr>
              <a:t>		{&lt; x1, x2,..., </a:t>
            </a:r>
            <a:r>
              <a:rPr lang="en-US" sz="2539" dirty="0" err="1">
                <a:solidFill>
                  <a:srgbClr val="213AF1"/>
                </a:solidFill>
                <a:latin typeface="Bookman Old Style" pitchFamily="18" charset="0"/>
              </a:rPr>
              <a:t>xn</a:t>
            </a:r>
            <a:r>
              <a:rPr lang="en-US" sz="2539" dirty="0">
                <a:solidFill>
                  <a:srgbClr val="213AF1"/>
                </a:solidFill>
                <a:latin typeface="Bookman Old Style" pitchFamily="18" charset="0"/>
              </a:rPr>
              <a:t> &gt; | P(x1, x2,..., </a:t>
            </a:r>
            <a:r>
              <a:rPr lang="en-US" sz="2539" dirty="0" err="1">
                <a:solidFill>
                  <a:srgbClr val="213AF1"/>
                </a:solidFill>
                <a:latin typeface="Bookman Old Style" pitchFamily="18" charset="0"/>
              </a:rPr>
              <a:t>xn</a:t>
            </a:r>
            <a:r>
              <a:rPr lang="en-US" sz="2539" dirty="0">
                <a:solidFill>
                  <a:srgbClr val="213AF1"/>
                </a:solidFill>
                <a:latin typeface="Bookman Old Style" pitchFamily="18" charset="0"/>
              </a:rPr>
              <a:t>)}</a:t>
            </a:r>
          </a:p>
          <a:p>
            <a:pPr>
              <a:buClr>
                <a:srgbClr val="C00000"/>
              </a:buClr>
              <a:buFont typeface="Wingdings" pitchFamily="2" charset="2"/>
              <a:buChar char="ü"/>
            </a:pPr>
            <a:endParaRPr lang="en-US" sz="2539" dirty="0">
              <a:solidFill>
                <a:srgbClr val="213AF1"/>
              </a:solidFill>
              <a:latin typeface="Bookman Old Style" pitchFamily="18" charset="0"/>
            </a:endParaRPr>
          </a:p>
          <a:p>
            <a:pPr>
              <a:buClr>
                <a:srgbClr val="C00000"/>
              </a:buClr>
              <a:buFont typeface="Wingdings" pitchFamily="2" charset="2"/>
              <a:buChar char="ü"/>
            </a:pPr>
            <a:r>
              <a:rPr lang="en-US" sz="2539" dirty="0">
                <a:solidFill>
                  <a:srgbClr val="213AF1"/>
                </a:solidFill>
                <a:latin typeface="Bookman Old Style" pitchFamily="18" charset="0"/>
              </a:rPr>
              <a:t>where x1, x2,..., </a:t>
            </a:r>
            <a:r>
              <a:rPr lang="en-US" sz="2539" dirty="0" err="1">
                <a:solidFill>
                  <a:srgbClr val="213AF1"/>
                </a:solidFill>
                <a:latin typeface="Bookman Old Style" pitchFamily="18" charset="0"/>
              </a:rPr>
              <a:t>xn</a:t>
            </a:r>
            <a:r>
              <a:rPr lang="en-US" sz="2539" dirty="0">
                <a:solidFill>
                  <a:srgbClr val="213AF1"/>
                </a:solidFill>
                <a:latin typeface="Bookman Old Style" pitchFamily="18" charset="0"/>
              </a:rPr>
              <a:t> represent domain variables. P represents a formula composed of atoms, as was the case in the </a:t>
            </a:r>
            <a:r>
              <a:rPr lang="en-US" sz="2539" dirty="0" err="1">
                <a:solidFill>
                  <a:srgbClr val="213AF1"/>
                </a:solidFill>
                <a:latin typeface="Bookman Old Style" pitchFamily="18" charset="0"/>
              </a:rPr>
              <a:t>tuple</a:t>
            </a:r>
            <a:r>
              <a:rPr lang="en-US" sz="2539" dirty="0">
                <a:solidFill>
                  <a:srgbClr val="213AF1"/>
                </a:solidFill>
                <a:latin typeface="Bookman Old Style" pitchFamily="18" charset="0"/>
              </a:rPr>
              <a:t> relational calculus.</a:t>
            </a:r>
          </a:p>
        </p:txBody>
      </p:sp>
      <p:sp>
        <p:nvSpPr>
          <p:cNvPr id="2" name="Slide Number Placeholder 1">
            <a:extLst>
              <a:ext uri="{FF2B5EF4-FFF2-40B4-BE49-F238E27FC236}">
                <a16:creationId xmlns:a16="http://schemas.microsoft.com/office/drawing/2014/main" id="{CDA0DFE5-5BE4-D476-F2D4-87F2BE8BE49E}"/>
              </a:ext>
            </a:extLst>
          </p:cNvPr>
          <p:cNvSpPr>
            <a:spLocks noGrp="1"/>
          </p:cNvSpPr>
          <p:nvPr>
            <p:ph type="sldNum" sz="quarter" idx="12"/>
          </p:nvPr>
        </p:nvSpPr>
        <p:spPr/>
        <p:txBody>
          <a:bodyPr/>
          <a:lstStyle/>
          <a:p>
            <a:fld id="{30BB16E2-1063-4ECC-B0F4-DD6A8CC0C30D}" type="slidenum">
              <a:rPr lang="en-US" smtClean="0"/>
              <a:pPr/>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499" y="986896"/>
            <a:ext cx="11373227" cy="5302854"/>
          </a:xfrm>
        </p:spPr>
        <p:txBody>
          <a:bodyPr>
            <a:noAutofit/>
          </a:bodyPr>
          <a:lstStyle/>
          <a:p>
            <a:pPr>
              <a:buNone/>
            </a:pPr>
            <a:r>
              <a:rPr lang="en-US" sz="2539" dirty="0">
                <a:solidFill>
                  <a:srgbClr val="C00000"/>
                </a:solidFill>
                <a:latin typeface="Copperplate Gothic Light" pitchFamily="34" charset="0"/>
              </a:rPr>
              <a:t>Domain Relational Calculus</a:t>
            </a:r>
          </a:p>
          <a:p>
            <a:pPr>
              <a:buNone/>
            </a:pPr>
            <a:endParaRPr lang="en-US" sz="1367" dirty="0"/>
          </a:p>
          <a:p>
            <a:pPr>
              <a:buClr>
                <a:srgbClr val="C00000"/>
              </a:buClr>
              <a:buFont typeface="Wingdings" pitchFamily="2" charset="2"/>
              <a:buChar char="ü"/>
            </a:pPr>
            <a:r>
              <a:rPr lang="en-US" sz="2539" dirty="0">
                <a:solidFill>
                  <a:srgbClr val="213AF1"/>
                </a:solidFill>
                <a:latin typeface="Bookman Old Style" pitchFamily="18" charset="0"/>
              </a:rPr>
              <a:t>An atom in the domain relational calculus has one of the following forms:</a:t>
            </a:r>
          </a:p>
          <a:p>
            <a:pPr>
              <a:buClr>
                <a:srgbClr val="C00000"/>
              </a:buClr>
              <a:buFont typeface="Wingdings" pitchFamily="2" charset="2"/>
              <a:buChar char="ü"/>
            </a:pPr>
            <a:r>
              <a:rPr lang="en-US" sz="2539" dirty="0">
                <a:solidFill>
                  <a:srgbClr val="213AF1"/>
                </a:solidFill>
                <a:latin typeface="Bookman Old Style" pitchFamily="18" charset="0"/>
              </a:rPr>
              <a:t>&lt; x1, x2,..., </a:t>
            </a:r>
            <a:r>
              <a:rPr lang="en-US" sz="2539" dirty="0" err="1">
                <a:solidFill>
                  <a:srgbClr val="213AF1"/>
                </a:solidFill>
                <a:latin typeface="Bookman Old Style" pitchFamily="18" charset="0"/>
              </a:rPr>
              <a:t>xn</a:t>
            </a:r>
            <a:r>
              <a:rPr lang="en-US" sz="2539" dirty="0">
                <a:solidFill>
                  <a:srgbClr val="213AF1"/>
                </a:solidFill>
                <a:latin typeface="Bookman Old Style" pitchFamily="18" charset="0"/>
              </a:rPr>
              <a:t> &gt; ∈ r, where r is a relation on n attributes and x1, x2,..., </a:t>
            </a:r>
            <a:r>
              <a:rPr lang="en-US" sz="2539" dirty="0" err="1">
                <a:solidFill>
                  <a:srgbClr val="213AF1"/>
                </a:solidFill>
                <a:latin typeface="Bookman Old Style" pitchFamily="18" charset="0"/>
              </a:rPr>
              <a:t>xn</a:t>
            </a:r>
            <a:r>
              <a:rPr lang="en-US" sz="2539" dirty="0">
                <a:solidFill>
                  <a:srgbClr val="213AF1"/>
                </a:solidFill>
                <a:latin typeface="Bookman Old Style" pitchFamily="18" charset="0"/>
              </a:rPr>
              <a:t> are domain variables or domain constants.</a:t>
            </a:r>
          </a:p>
          <a:p>
            <a:pPr>
              <a:buClr>
                <a:srgbClr val="C00000"/>
              </a:buClr>
              <a:buFont typeface="Wingdings" pitchFamily="2" charset="2"/>
              <a:buChar char="ü"/>
            </a:pPr>
            <a:r>
              <a:rPr lang="en-US" sz="2539" dirty="0">
                <a:solidFill>
                  <a:srgbClr val="213AF1"/>
                </a:solidFill>
                <a:latin typeface="Bookman Old Style" pitchFamily="18" charset="0"/>
              </a:rPr>
              <a:t>x  y, where x and y are domain variables and  is a comparison operator (&lt;, ≤, =, =, &gt;, ≥). We require that attributes x and y have domains that can be compared by (-).</a:t>
            </a:r>
          </a:p>
          <a:p>
            <a:pPr>
              <a:buClr>
                <a:srgbClr val="C00000"/>
              </a:buClr>
              <a:buFont typeface="Wingdings" pitchFamily="2" charset="2"/>
              <a:buChar char="ü"/>
            </a:pPr>
            <a:r>
              <a:rPr lang="en-US" sz="2539" dirty="0">
                <a:solidFill>
                  <a:srgbClr val="213AF1"/>
                </a:solidFill>
                <a:latin typeface="Bookman Old Style" pitchFamily="18" charset="0"/>
              </a:rPr>
              <a:t>x  c, where x is a domain variable,  is a comparison operator, and c is a constant in the domain of the attribute for which x is a domain variable.</a:t>
            </a:r>
          </a:p>
          <a:p>
            <a:pPr>
              <a:buNone/>
            </a:pPr>
            <a:endParaRPr lang="en-US" sz="2539" dirty="0">
              <a:solidFill>
                <a:srgbClr val="213AF1"/>
              </a:solidFill>
              <a:latin typeface="Bookman Old Style" pitchFamily="18" charset="0"/>
            </a:endParaRPr>
          </a:p>
        </p:txBody>
      </p:sp>
      <p:sp>
        <p:nvSpPr>
          <p:cNvPr id="2" name="Slide Number Placeholder 1">
            <a:extLst>
              <a:ext uri="{FF2B5EF4-FFF2-40B4-BE49-F238E27FC236}">
                <a16:creationId xmlns:a16="http://schemas.microsoft.com/office/drawing/2014/main" id="{F735454F-5F6B-23CC-E69C-05995E3D2151}"/>
              </a:ext>
            </a:extLst>
          </p:cNvPr>
          <p:cNvSpPr>
            <a:spLocks noGrp="1"/>
          </p:cNvSpPr>
          <p:nvPr>
            <p:ph type="sldNum" sz="quarter" idx="12"/>
          </p:nvPr>
        </p:nvSpPr>
        <p:spPr/>
        <p:txBody>
          <a:bodyPr/>
          <a:lstStyle/>
          <a:p>
            <a:fld id="{30BB16E2-1063-4ECC-B0F4-DD6A8CC0C30D}" type="slidenum">
              <a:rPr lang="en-US" smtClean="0"/>
              <a:pPr/>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499" y="986896"/>
            <a:ext cx="11373227" cy="5302854"/>
          </a:xfrm>
        </p:spPr>
        <p:txBody>
          <a:bodyPr>
            <a:noAutofit/>
          </a:bodyPr>
          <a:lstStyle/>
          <a:p>
            <a:pPr>
              <a:buNone/>
            </a:pPr>
            <a:r>
              <a:rPr lang="en-US" sz="2539" dirty="0">
                <a:solidFill>
                  <a:srgbClr val="C00000"/>
                </a:solidFill>
                <a:latin typeface="Copperplate Gothic Light" pitchFamily="34" charset="0"/>
              </a:rPr>
              <a:t>Domain Relational Calculus</a:t>
            </a:r>
          </a:p>
          <a:p>
            <a:pPr>
              <a:buNone/>
            </a:pPr>
            <a:r>
              <a:rPr lang="en-US" altLang="en-US" sz="2800" dirty="0"/>
              <a:t>Example Queries</a:t>
            </a:r>
            <a:endParaRPr lang="en-US" altLang="en-US" sz="2539" dirty="0">
              <a:solidFill>
                <a:srgbClr val="C00000"/>
              </a:solidFill>
              <a:latin typeface="Copperplate Gothic Light" pitchFamily="34" charset="0"/>
            </a:endParaRPr>
          </a:p>
          <a:p>
            <a:pPr>
              <a:buNone/>
            </a:pPr>
            <a:endParaRPr lang="en-US" sz="2539" dirty="0">
              <a:solidFill>
                <a:srgbClr val="C00000"/>
              </a:solidFill>
              <a:latin typeface="Copperplate Gothic Light" pitchFamily="34" charset="0"/>
            </a:endParaRPr>
          </a:p>
          <a:p>
            <a:pPr>
              <a:buNone/>
            </a:pPr>
            <a:endParaRPr lang="en-US" sz="1367" dirty="0"/>
          </a:p>
          <a:p>
            <a:pPr>
              <a:buNone/>
            </a:pPr>
            <a:endParaRPr lang="en-US" sz="2539" dirty="0">
              <a:solidFill>
                <a:srgbClr val="213AF1"/>
              </a:solidFill>
              <a:latin typeface="Bookman Old Style" pitchFamily="18" charset="0"/>
            </a:endParaRPr>
          </a:p>
        </p:txBody>
      </p:sp>
      <p:sp>
        <p:nvSpPr>
          <p:cNvPr id="2" name="Slide Number Placeholder 1">
            <a:extLst>
              <a:ext uri="{FF2B5EF4-FFF2-40B4-BE49-F238E27FC236}">
                <a16:creationId xmlns:a16="http://schemas.microsoft.com/office/drawing/2014/main" id="{F735454F-5F6B-23CC-E69C-05995E3D2151}"/>
              </a:ext>
            </a:extLst>
          </p:cNvPr>
          <p:cNvSpPr>
            <a:spLocks noGrp="1"/>
          </p:cNvSpPr>
          <p:nvPr>
            <p:ph type="sldNum" sz="quarter" idx="12"/>
          </p:nvPr>
        </p:nvSpPr>
        <p:spPr/>
        <p:txBody>
          <a:bodyPr/>
          <a:lstStyle/>
          <a:p>
            <a:fld id="{30BB16E2-1063-4ECC-B0F4-DD6A8CC0C30D}" type="slidenum">
              <a:rPr lang="en-US" smtClean="0"/>
              <a:pPr/>
              <a:t>65</a:t>
            </a:fld>
            <a:endParaRPr lang="en-US"/>
          </a:p>
        </p:txBody>
      </p:sp>
      <p:sp>
        <p:nvSpPr>
          <p:cNvPr id="4" name="Rectangle 3">
            <a:extLst>
              <a:ext uri="{FF2B5EF4-FFF2-40B4-BE49-F238E27FC236}">
                <a16:creationId xmlns:a16="http://schemas.microsoft.com/office/drawing/2014/main" id="{E22EC88E-EAA5-8E3A-85A6-240D00E61989}"/>
              </a:ext>
            </a:extLst>
          </p:cNvPr>
          <p:cNvSpPr txBox="1">
            <a:spLocks noChangeArrowheads="1"/>
          </p:cNvSpPr>
          <p:nvPr/>
        </p:nvSpPr>
        <p:spPr>
          <a:xfrm>
            <a:off x="187701" y="1957705"/>
            <a:ext cx="8064500" cy="711200"/>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tabLst>
                <a:tab pos="3195638" algn="ctr"/>
              </a:tabLst>
            </a:pPr>
            <a:r>
              <a:rPr lang="en-US" altLang="en-US"/>
              <a:t>Find the </a:t>
            </a:r>
            <a:r>
              <a:rPr lang="en-US" altLang="en-US" i="1"/>
              <a:t>loan_number, branch_name, </a:t>
            </a:r>
            <a:r>
              <a:rPr lang="en-US" altLang="en-US"/>
              <a:t>and </a:t>
            </a:r>
            <a:r>
              <a:rPr lang="en-US" altLang="en-US" i="1"/>
              <a:t> amount </a:t>
            </a:r>
            <a:r>
              <a:rPr lang="en-US" altLang="en-US"/>
              <a:t>for loans of over $1200</a:t>
            </a:r>
            <a:endParaRPr lang="en-US" altLang="en-US" dirty="0"/>
          </a:p>
        </p:txBody>
      </p:sp>
      <p:sp>
        <p:nvSpPr>
          <p:cNvPr id="5" name="Text Box 8">
            <a:extLst>
              <a:ext uri="{FF2B5EF4-FFF2-40B4-BE49-F238E27FC236}">
                <a16:creationId xmlns:a16="http://schemas.microsoft.com/office/drawing/2014/main" id="{33B65EB3-D805-B978-E384-0290E4DE65A6}"/>
              </a:ext>
            </a:extLst>
          </p:cNvPr>
          <p:cNvSpPr txBox="1">
            <a:spLocks noChangeArrowheads="1"/>
          </p:cNvSpPr>
          <p:nvPr/>
        </p:nvSpPr>
        <p:spPr bwMode="auto">
          <a:xfrm>
            <a:off x="1516698" y="2518849"/>
            <a:ext cx="4343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35000"/>
              </a:spcBef>
              <a:buClr>
                <a:schemeClr val="tx2"/>
              </a:buClr>
              <a:buSzPct val="90000"/>
              <a:buFont typeface="Monotype Sorts" charset="2"/>
              <a:buNone/>
            </a:pPr>
            <a:r>
              <a:rPr kumimoji="1" lang="en-US" altLang="en-US" sz="1800" dirty="0"/>
              <a:t> {</a:t>
            </a:r>
            <a:r>
              <a:rPr kumimoji="1" lang="en-US" altLang="en-US" sz="1800" dirty="0">
                <a:sym typeface="Symbol" panose="05050102010706020507" pitchFamily="18" charset="2"/>
              </a:rPr>
              <a:t> </a:t>
            </a:r>
            <a:r>
              <a:rPr kumimoji="1" lang="en-US" altLang="en-US" sz="1800" i="1" dirty="0">
                <a:sym typeface="Symbol" panose="05050102010706020507" pitchFamily="18" charset="2"/>
              </a:rPr>
              <a:t>l</a:t>
            </a:r>
            <a:r>
              <a:rPr kumimoji="1" lang="en-US" altLang="en-US" sz="1800" dirty="0">
                <a:sym typeface="Symbol" panose="05050102010706020507" pitchFamily="18" charset="2"/>
              </a:rPr>
              <a:t>, </a:t>
            </a:r>
            <a:r>
              <a:rPr kumimoji="1" lang="en-US" altLang="en-US" sz="1800" i="1" dirty="0">
                <a:sym typeface="Symbol" panose="05050102010706020507" pitchFamily="18" charset="2"/>
              </a:rPr>
              <a:t>b, a </a:t>
            </a:r>
            <a:r>
              <a:rPr kumimoji="1" lang="en-US" altLang="en-US" sz="1800" dirty="0">
                <a:sym typeface="Symbol" panose="05050102010706020507" pitchFamily="18" charset="2"/>
              </a:rPr>
              <a:t> |  </a:t>
            </a:r>
            <a:r>
              <a:rPr kumimoji="1" lang="en-US" altLang="en-US" sz="1800" i="1" dirty="0">
                <a:sym typeface="Symbol" panose="05050102010706020507" pitchFamily="18" charset="2"/>
              </a:rPr>
              <a:t>l</a:t>
            </a:r>
            <a:r>
              <a:rPr kumimoji="1" lang="en-US" altLang="en-US" sz="1800" dirty="0">
                <a:sym typeface="Symbol" panose="05050102010706020507" pitchFamily="18" charset="2"/>
              </a:rPr>
              <a:t>, </a:t>
            </a:r>
            <a:r>
              <a:rPr kumimoji="1" lang="en-US" altLang="en-US" sz="1800" i="1" dirty="0">
                <a:sym typeface="Symbol" panose="05050102010706020507" pitchFamily="18" charset="2"/>
              </a:rPr>
              <a:t>b, a </a:t>
            </a:r>
            <a:r>
              <a:rPr kumimoji="1" lang="en-US" altLang="en-US" sz="1800" dirty="0">
                <a:sym typeface="Symbol" panose="05050102010706020507" pitchFamily="18" charset="2"/>
              </a:rPr>
              <a:t>  </a:t>
            </a:r>
            <a:r>
              <a:rPr kumimoji="1" lang="en-US" altLang="en-US" sz="1800" i="1" dirty="0">
                <a:sym typeface="Symbol" panose="05050102010706020507" pitchFamily="18" charset="2"/>
              </a:rPr>
              <a:t>loan</a:t>
            </a:r>
            <a:r>
              <a:rPr kumimoji="1" lang="en-US" altLang="en-US" sz="1800" dirty="0">
                <a:sym typeface="Symbol" panose="05050102010706020507" pitchFamily="18" charset="2"/>
              </a:rPr>
              <a:t>  </a:t>
            </a:r>
            <a:r>
              <a:rPr kumimoji="1" lang="en-US" altLang="en-US" sz="1800" i="1" dirty="0">
                <a:sym typeface="Symbol" panose="05050102010706020507" pitchFamily="18" charset="2"/>
              </a:rPr>
              <a:t>a </a:t>
            </a:r>
            <a:r>
              <a:rPr kumimoji="1" lang="en-US" altLang="en-US" sz="1800" dirty="0">
                <a:sym typeface="Symbol" panose="05050102010706020507" pitchFamily="18" charset="2"/>
              </a:rPr>
              <a:t>&gt; 1200}</a:t>
            </a:r>
            <a:endParaRPr kumimoji="1" lang="en-US" altLang="en-US" sz="1800" i="1" dirty="0">
              <a:sym typeface="Symbol" panose="05050102010706020507" pitchFamily="18" charset="2"/>
            </a:endParaRPr>
          </a:p>
        </p:txBody>
      </p:sp>
      <p:sp>
        <p:nvSpPr>
          <p:cNvPr id="6" name="Text Box 7">
            <a:extLst>
              <a:ext uri="{FF2B5EF4-FFF2-40B4-BE49-F238E27FC236}">
                <a16:creationId xmlns:a16="http://schemas.microsoft.com/office/drawing/2014/main" id="{5AD717AC-8CD7-2ED7-B2E1-B8A3D2B28E1B}"/>
              </a:ext>
            </a:extLst>
          </p:cNvPr>
          <p:cNvSpPr txBox="1">
            <a:spLocks noChangeArrowheads="1"/>
          </p:cNvSpPr>
          <p:nvPr/>
        </p:nvSpPr>
        <p:spPr bwMode="auto">
          <a:xfrm>
            <a:off x="187701" y="2911527"/>
            <a:ext cx="69056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292100" indent="-292100">
              <a:defRPr sz="2400">
                <a:solidFill>
                  <a:schemeClr val="tx1"/>
                </a:solidFill>
                <a:latin typeface="Times New Roman" panose="02020603050405020304" pitchFamily="18" charset="0"/>
              </a:defRPr>
            </a:lvl1pPr>
            <a:lvl2pPr>
              <a:defRPr sz="2400">
                <a:solidFill>
                  <a:schemeClr val="tx1"/>
                </a:solidFill>
                <a:latin typeface="Times New Roman" panose="02020603050405020304" pitchFamily="18" charset="0"/>
              </a:defRPr>
            </a:lvl2pPr>
            <a:lvl3pPr>
              <a:defRPr sz="2400">
                <a:solidFill>
                  <a:schemeClr val="tx1"/>
                </a:solidFill>
                <a:latin typeface="Times New Roman" panose="02020603050405020304" pitchFamily="18" charset="0"/>
              </a:defRPr>
            </a:lvl3pPr>
            <a:lvl4pPr>
              <a:defRPr sz="2400">
                <a:solidFill>
                  <a:schemeClr val="tx1"/>
                </a:solidFill>
                <a:latin typeface="Times New Roman" panose="02020603050405020304" pitchFamily="18" charset="0"/>
              </a:defRPr>
            </a:lvl4pPr>
            <a:lvl5pPr>
              <a:defRPr sz="2400">
                <a:solidFill>
                  <a:schemeClr val="tx1"/>
                </a:solidFill>
                <a:latin typeface="Times New Roman" panose="02020603050405020304" pitchFamily="18" charset="0"/>
              </a:defRPr>
            </a:lvl5pPr>
            <a:lvl6pPr eaLnBrk="0" fontAlgn="base" hangingPunct="0">
              <a:spcBef>
                <a:spcPct val="0"/>
              </a:spcBef>
              <a:spcAft>
                <a:spcPct val="0"/>
              </a:spcAft>
              <a:defRPr sz="2400">
                <a:solidFill>
                  <a:schemeClr val="tx1"/>
                </a:solidFill>
                <a:latin typeface="Times New Roman" panose="02020603050405020304" pitchFamily="18" charset="0"/>
              </a:defRPr>
            </a:lvl6pPr>
            <a:lvl7pPr eaLnBrk="0" fontAlgn="base" hangingPunct="0">
              <a:spcBef>
                <a:spcPct val="0"/>
              </a:spcBef>
              <a:spcAft>
                <a:spcPct val="0"/>
              </a:spcAft>
              <a:defRPr sz="2400">
                <a:solidFill>
                  <a:schemeClr val="tx1"/>
                </a:solidFill>
                <a:latin typeface="Times New Roman" panose="02020603050405020304" pitchFamily="18" charset="0"/>
              </a:defRPr>
            </a:lvl7pPr>
            <a:lvl8pPr eaLnBrk="0" fontAlgn="base" hangingPunct="0">
              <a:spcBef>
                <a:spcPct val="0"/>
              </a:spcBef>
              <a:spcAft>
                <a:spcPct val="0"/>
              </a:spcAft>
              <a:defRPr sz="2400">
                <a:solidFill>
                  <a:schemeClr val="tx1"/>
                </a:solidFill>
                <a:latin typeface="Times New Roman" panose="02020603050405020304" pitchFamily="18" charset="0"/>
              </a:defRPr>
            </a:lvl8pPr>
            <a:lvl9pPr eaLnBrk="0" fontAlgn="base" hangingPunct="0">
              <a:spcBef>
                <a:spcPct val="0"/>
              </a:spcBef>
              <a:spcAft>
                <a:spcPct val="0"/>
              </a:spcAft>
              <a:defRPr sz="2400">
                <a:solidFill>
                  <a:schemeClr val="tx1"/>
                </a:solidFill>
                <a:latin typeface="Times New Roman" panose="02020603050405020304" pitchFamily="18" charset="0"/>
              </a:defRPr>
            </a:lvl9pPr>
          </a:lstStyle>
          <a:p>
            <a:pPr marL="285750" indent="-285750">
              <a:spcBef>
                <a:spcPct val="35000"/>
              </a:spcBef>
              <a:buClr>
                <a:schemeClr val="tx2"/>
              </a:buClr>
              <a:buSzPct val="90000"/>
              <a:buFont typeface="Arial" panose="020B0604020202020204" pitchFamily="34" charset="0"/>
              <a:buChar char="•"/>
            </a:pPr>
            <a:r>
              <a:rPr kumimoji="1" lang="en-US" altLang="en-US" sz="1800" dirty="0">
                <a:latin typeface="Helvetica" panose="020B0604020202020204" pitchFamily="34" charset="0"/>
                <a:sym typeface="Symbol" panose="05050102010706020507" pitchFamily="18" charset="2"/>
              </a:rPr>
              <a:t>Find the names of all customers who have a loan of over $1200</a:t>
            </a:r>
            <a:endParaRPr kumimoji="1" lang="en-US" altLang="en-US" sz="1800" i="1" dirty="0">
              <a:latin typeface="Helvetica" panose="020B0604020202020204" pitchFamily="34" charset="0"/>
              <a:sym typeface="Symbol" panose="05050102010706020507" pitchFamily="18" charset="2"/>
            </a:endParaRPr>
          </a:p>
        </p:txBody>
      </p:sp>
      <p:sp>
        <p:nvSpPr>
          <p:cNvPr id="8" name="Text Box 6">
            <a:extLst>
              <a:ext uri="{FF2B5EF4-FFF2-40B4-BE49-F238E27FC236}">
                <a16:creationId xmlns:a16="http://schemas.microsoft.com/office/drawing/2014/main" id="{99C393C5-D872-E628-B7C2-1A6D79609031}"/>
              </a:ext>
            </a:extLst>
          </p:cNvPr>
          <p:cNvSpPr txBox="1">
            <a:spLocks noChangeArrowheads="1"/>
          </p:cNvSpPr>
          <p:nvPr/>
        </p:nvSpPr>
        <p:spPr bwMode="auto">
          <a:xfrm>
            <a:off x="1374458" y="3263349"/>
            <a:ext cx="711676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35000"/>
              </a:spcBef>
              <a:buClr>
                <a:schemeClr val="tx2"/>
              </a:buClr>
              <a:buSzPct val="90000"/>
              <a:buFont typeface="Monotype Sorts" charset="2"/>
              <a:buNone/>
            </a:pPr>
            <a:r>
              <a:rPr kumimoji="1" lang="en-US" altLang="en-US" sz="1800" dirty="0">
                <a:sym typeface="Symbol" panose="05050102010706020507" pitchFamily="18" charset="2"/>
              </a:rPr>
              <a:t>   { </a:t>
            </a:r>
            <a:r>
              <a:rPr kumimoji="1" lang="en-US" altLang="en-US" sz="1800" i="1" dirty="0">
                <a:sym typeface="Symbol" panose="05050102010706020507" pitchFamily="18" charset="2"/>
              </a:rPr>
              <a:t>c</a:t>
            </a:r>
            <a:r>
              <a:rPr kumimoji="1" lang="en-US" altLang="en-US" sz="1800" dirty="0">
                <a:sym typeface="Symbol" panose="05050102010706020507" pitchFamily="18" charset="2"/>
              </a:rPr>
              <a:t>  |  </a:t>
            </a:r>
            <a:r>
              <a:rPr kumimoji="1" lang="en-US" altLang="en-US" sz="1800" i="1" dirty="0">
                <a:sym typeface="Symbol" panose="05050102010706020507" pitchFamily="18" charset="2"/>
              </a:rPr>
              <a:t>l, b, a </a:t>
            </a:r>
            <a:r>
              <a:rPr kumimoji="1" lang="en-US" altLang="en-US" sz="1800" dirty="0">
                <a:sym typeface="Symbol" panose="05050102010706020507" pitchFamily="18" charset="2"/>
              </a:rPr>
              <a:t>( </a:t>
            </a:r>
            <a:r>
              <a:rPr kumimoji="1" lang="en-US" altLang="en-US" sz="1800" i="1" dirty="0">
                <a:sym typeface="Symbol" panose="05050102010706020507" pitchFamily="18" charset="2"/>
              </a:rPr>
              <a:t>c, l </a:t>
            </a:r>
            <a:r>
              <a:rPr kumimoji="1" lang="en-US" altLang="en-US" sz="1800" dirty="0">
                <a:sym typeface="Symbol" panose="05050102010706020507" pitchFamily="18" charset="2"/>
              </a:rPr>
              <a:t>  </a:t>
            </a:r>
            <a:r>
              <a:rPr kumimoji="1" lang="en-US" altLang="en-US" sz="1800" i="1" dirty="0">
                <a:sym typeface="Symbol" panose="05050102010706020507" pitchFamily="18" charset="2"/>
              </a:rPr>
              <a:t>borrower </a:t>
            </a:r>
            <a:r>
              <a:rPr kumimoji="1" lang="en-US" altLang="en-US" sz="1800" dirty="0">
                <a:sym typeface="Symbol" panose="05050102010706020507" pitchFamily="18" charset="2"/>
              </a:rPr>
              <a:t>  </a:t>
            </a:r>
            <a:r>
              <a:rPr kumimoji="1" lang="en-US" altLang="en-US" sz="1800" i="1" dirty="0">
                <a:sym typeface="Symbol" panose="05050102010706020507" pitchFamily="18" charset="2"/>
              </a:rPr>
              <a:t>l, b, a </a:t>
            </a:r>
            <a:r>
              <a:rPr kumimoji="1" lang="en-US" altLang="en-US" sz="1800" dirty="0">
                <a:sym typeface="Symbol" panose="05050102010706020507" pitchFamily="18" charset="2"/>
              </a:rPr>
              <a:t>  </a:t>
            </a:r>
            <a:r>
              <a:rPr kumimoji="1" lang="en-US" altLang="en-US" sz="1800" i="1" dirty="0">
                <a:sym typeface="Symbol" panose="05050102010706020507" pitchFamily="18" charset="2"/>
              </a:rPr>
              <a:t>loan</a:t>
            </a:r>
            <a:r>
              <a:rPr kumimoji="1" lang="en-US" altLang="en-US" sz="1800" dirty="0">
                <a:sym typeface="Symbol" panose="05050102010706020507" pitchFamily="18" charset="2"/>
              </a:rPr>
              <a:t>  </a:t>
            </a:r>
            <a:r>
              <a:rPr kumimoji="1" lang="en-US" altLang="en-US" sz="1800" i="1" dirty="0">
                <a:sym typeface="Symbol" panose="05050102010706020507" pitchFamily="18" charset="2"/>
              </a:rPr>
              <a:t>a</a:t>
            </a:r>
            <a:r>
              <a:rPr kumimoji="1" lang="en-US" altLang="en-US" sz="1800" dirty="0">
                <a:sym typeface="Symbol" panose="05050102010706020507" pitchFamily="18" charset="2"/>
              </a:rPr>
              <a:t> &gt; 1200)}</a:t>
            </a:r>
            <a:endParaRPr kumimoji="1" lang="en-US" altLang="en-US" sz="1800" i="1" dirty="0">
              <a:sym typeface="Symbol" panose="05050102010706020507" pitchFamily="18" charset="2"/>
            </a:endParaRPr>
          </a:p>
        </p:txBody>
      </p:sp>
      <p:sp>
        <p:nvSpPr>
          <p:cNvPr id="9" name="Text Box 5">
            <a:extLst>
              <a:ext uri="{FF2B5EF4-FFF2-40B4-BE49-F238E27FC236}">
                <a16:creationId xmlns:a16="http://schemas.microsoft.com/office/drawing/2014/main" id="{1090D667-7272-DB63-CA4C-598A50BC04A4}"/>
              </a:ext>
            </a:extLst>
          </p:cNvPr>
          <p:cNvSpPr txBox="1">
            <a:spLocks noChangeArrowheads="1"/>
          </p:cNvSpPr>
          <p:nvPr/>
        </p:nvSpPr>
        <p:spPr bwMode="auto">
          <a:xfrm>
            <a:off x="187701" y="3849037"/>
            <a:ext cx="8601075" cy="2000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3195638" algn="ctr"/>
              </a:tabLst>
              <a:defRPr sz="2400">
                <a:solidFill>
                  <a:schemeClr val="tx1"/>
                </a:solidFill>
                <a:latin typeface="Times New Roman" panose="02020603050405020304" pitchFamily="18" charset="0"/>
              </a:defRPr>
            </a:lvl1pPr>
            <a:lvl2pPr marL="742950" indent="-285750">
              <a:tabLst>
                <a:tab pos="3195638" algn="ctr"/>
              </a:tabLst>
              <a:defRPr sz="2400">
                <a:solidFill>
                  <a:schemeClr val="tx1"/>
                </a:solidFill>
                <a:latin typeface="Times New Roman" panose="02020603050405020304" pitchFamily="18" charset="0"/>
              </a:defRPr>
            </a:lvl2pPr>
            <a:lvl3pPr marL="1085850" indent="-228600">
              <a:tabLst>
                <a:tab pos="3195638" algn="ctr"/>
              </a:tabLst>
              <a:defRPr sz="2400">
                <a:solidFill>
                  <a:schemeClr val="tx1"/>
                </a:solidFill>
                <a:latin typeface="Times New Roman" panose="02020603050405020304" pitchFamily="18" charset="0"/>
              </a:defRPr>
            </a:lvl3pPr>
            <a:lvl4pPr marL="1428750" indent="-228600">
              <a:tabLst>
                <a:tab pos="3195638" algn="ctr"/>
              </a:tabLst>
              <a:defRPr sz="2400">
                <a:solidFill>
                  <a:schemeClr val="tx1"/>
                </a:solidFill>
                <a:latin typeface="Times New Roman" panose="02020603050405020304" pitchFamily="18" charset="0"/>
              </a:defRPr>
            </a:lvl4pPr>
            <a:lvl5pPr marL="1771650" indent="-228600">
              <a:tabLst>
                <a:tab pos="3195638" algn="ctr"/>
              </a:tabLst>
              <a:defRPr sz="2400">
                <a:solidFill>
                  <a:schemeClr val="tx1"/>
                </a:solidFill>
                <a:latin typeface="Times New Roman" panose="02020603050405020304" pitchFamily="18" charset="0"/>
              </a:defRPr>
            </a:lvl5pPr>
            <a:lvl6pPr marL="2228850" indent="-228600" eaLnBrk="0" fontAlgn="base" hangingPunct="0">
              <a:spcBef>
                <a:spcPct val="0"/>
              </a:spcBef>
              <a:spcAft>
                <a:spcPct val="0"/>
              </a:spcAft>
              <a:tabLst>
                <a:tab pos="3195638" algn="ctr"/>
              </a:tabLst>
              <a:defRPr sz="2400">
                <a:solidFill>
                  <a:schemeClr val="tx1"/>
                </a:solidFill>
                <a:latin typeface="Times New Roman" panose="02020603050405020304" pitchFamily="18" charset="0"/>
              </a:defRPr>
            </a:lvl6pPr>
            <a:lvl7pPr marL="2686050" indent="-228600" eaLnBrk="0" fontAlgn="base" hangingPunct="0">
              <a:spcBef>
                <a:spcPct val="0"/>
              </a:spcBef>
              <a:spcAft>
                <a:spcPct val="0"/>
              </a:spcAft>
              <a:tabLst>
                <a:tab pos="3195638" algn="ctr"/>
              </a:tabLst>
              <a:defRPr sz="2400">
                <a:solidFill>
                  <a:schemeClr val="tx1"/>
                </a:solidFill>
                <a:latin typeface="Times New Roman" panose="02020603050405020304" pitchFamily="18" charset="0"/>
              </a:defRPr>
            </a:lvl7pPr>
            <a:lvl8pPr marL="3143250" indent="-228600" eaLnBrk="0" fontAlgn="base" hangingPunct="0">
              <a:spcBef>
                <a:spcPct val="0"/>
              </a:spcBef>
              <a:spcAft>
                <a:spcPct val="0"/>
              </a:spcAft>
              <a:tabLst>
                <a:tab pos="3195638" algn="ctr"/>
              </a:tabLst>
              <a:defRPr sz="2400">
                <a:solidFill>
                  <a:schemeClr val="tx1"/>
                </a:solidFill>
                <a:latin typeface="Times New Roman" panose="02020603050405020304" pitchFamily="18" charset="0"/>
              </a:defRPr>
            </a:lvl8pPr>
            <a:lvl9pPr marL="3600450" indent="-228600" eaLnBrk="0" fontAlgn="base" hangingPunct="0">
              <a:spcBef>
                <a:spcPct val="0"/>
              </a:spcBef>
              <a:spcAft>
                <a:spcPct val="0"/>
              </a:spcAft>
              <a:tabLst>
                <a:tab pos="3195638" algn="ctr"/>
              </a:tabLst>
              <a:defRPr sz="2400">
                <a:solidFill>
                  <a:schemeClr val="tx1"/>
                </a:solidFill>
                <a:latin typeface="Times New Roman" panose="02020603050405020304" pitchFamily="18" charset="0"/>
              </a:defRPr>
            </a:lvl9pPr>
          </a:lstStyle>
          <a:p>
            <a:pPr marL="285750" indent="-285750">
              <a:spcBef>
                <a:spcPct val="35000"/>
              </a:spcBef>
              <a:buClr>
                <a:schemeClr val="tx2"/>
              </a:buClr>
              <a:buSzPct val="90000"/>
              <a:buFont typeface="Arial" panose="020B0604020202020204" pitchFamily="34" charset="0"/>
              <a:buChar char="•"/>
            </a:pPr>
            <a:r>
              <a:rPr kumimoji="1" lang="en-US" altLang="en-US" sz="1800" dirty="0">
                <a:latin typeface="Helvetica" panose="020B0604020202020204" pitchFamily="34" charset="0"/>
                <a:sym typeface="Symbol" panose="05050102010706020507" pitchFamily="18" charset="2"/>
              </a:rPr>
              <a:t>Find the names of all customers who have a loan from the </a:t>
            </a:r>
            <a:r>
              <a:rPr kumimoji="1" lang="en-US" altLang="en-US" sz="1800" dirty="0" err="1">
                <a:latin typeface="Helvetica" panose="020B0604020202020204" pitchFamily="34" charset="0"/>
                <a:sym typeface="Symbol" panose="05050102010706020507" pitchFamily="18" charset="2"/>
              </a:rPr>
              <a:t>Perryridge</a:t>
            </a:r>
            <a:r>
              <a:rPr kumimoji="1" lang="en-US" altLang="en-US" sz="1800" dirty="0">
                <a:latin typeface="Helvetica" panose="020B0604020202020204" pitchFamily="34" charset="0"/>
                <a:sym typeface="Symbol" panose="05050102010706020507" pitchFamily="18" charset="2"/>
              </a:rPr>
              <a:t> branch and the loan amount:</a:t>
            </a:r>
          </a:p>
          <a:p>
            <a:pPr lvl="1">
              <a:spcBef>
                <a:spcPct val="35000"/>
              </a:spcBef>
              <a:buClr>
                <a:schemeClr val="tx2"/>
              </a:buClr>
              <a:buSzPct val="90000"/>
              <a:buFont typeface="Wingdings 3" panose="05040102010807070707" pitchFamily="18" charset="2"/>
              <a:buChar char=""/>
            </a:pPr>
            <a:r>
              <a:rPr kumimoji="1" lang="en-US" altLang="en-US" sz="1800" dirty="0">
                <a:latin typeface="Helvetica" panose="020B0604020202020204" pitchFamily="34" charset="0"/>
                <a:sym typeface="Symbol" panose="05050102010706020507" pitchFamily="18" charset="2"/>
              </a:rPr>
              <a:t>{ </a:t>
            </a:r>
            <a:r>
              <a:rPr kumimoji="1" lang="en-US" altLang="en-US" sz="1800" i="1" dirty="0">
                <a:latin typeface="Helvetica" panose="020B0604020202020204" pitchFamily="34" charset="0"/>
                <a:sym typeface="Symbol" panose="05050102010706020507" pitchFamily="18" charset="2"/>
              </a:rPr>
              <a:t>c, a</a:t>
            </a:r>
            <a:r>
              <a:rPr kumimoji="1" lang="en-US" altLang="en-US" sz="1800" dirty="0">
                <a:latin typeface="Helvetica" panose="020B0604020202020204" pitchFamily="34" charset="0"/>
                <a:sym typeface="Symbol" panose="05050102010706020507" pitchFamily="18" charset="2"/>
              </a:rPr>
              <a:t>  |  </a:t>
            </a:r>
            <a:r>
              <a:rPr kumimoji="1" lang="en-US" altLang="en-US" sz="1800" i="1" dirty="0">
                <a:latin typeface="Helvetica" panose="020B0604020202020204" pitchFamily="34" charset="0"/>
                <a:sym typeface="Symbol" panose="05050102010706020507" pitchFamily="18" charset="2"/>
              </a:rPr>
              <a:t>l</a:t>
            </a:r>
            <a:r>
              <a:rPr kumimoji="1" lang="en-US" altLang="en-US" sz="1800" dirty="0">
                <a:latin typeface="Helvetica" panose="020B0604020202020204" pitchFamily="34" charset="0"/>
                <a:sym typeface="Symbol" panose="05050102010706020507" pitchFamily="18" charset="2"/>
              </a:rPr>
              <a:t> ( </a:t>
            </a:r>
            <a:r>
              <a:rPr kumimoji="1" lang="en-US" altLang="en-US" sz="1800" i="1" dirty="0">
                <a:latin typeface="Helvetica" panose="020B0604020202020204" pitchFamily="34" charset="0"/>
                <a:sym typeface="Symbol" panose="05050102010706020507" pitchFamily="18" charset="2"/>
              </a:rPr>
              <a:t>c, l</a:t>
            </a:r>
            <a:r>
              <a:rPr kumimoji="1" lang="en-US" altLang="en-US" sz="1800" dirty="0">
                <a:latin typeface="Helvetica" panose="020B0604020202020204" pitchFamily="34" charset="0"/>
                <a:sym typeface="Symbol" panose="05050102010706020507" pitchFamily="18" charset="2"/>
              </a:rPr>
              <a:t>   </a:t>
            </a:r>
            <a:r>
              <a:rPr kumimoji="1" lang="en-US" altLang="en-US" sz="1800" i="1" dirty="0">
                <a:latin typeface="Helvetica" panose="020B0604020202020204" pitchFamily="34" charset="0"/>
                <a:sym typeface="Symbol" panose="05050102010706020507" pitchFamily="18" charset="2"/>
              </a:rPr>
              <a:t>borrower </a:t>
            </a:r>
            <a:r>
              <a:rPr kumimoji="1" lang="en-US" altLang="en-US" sz="1800" dirty="0">
                <a:latin typeface="Helvetica" panose="020B0604020202020204" pitchFamily="34" charset="0"/>
                <a:sym typeface="Symbol" panose="05050102010706020507" pitchFamily="18" charset="2"/>
              </a:rPr>
              <a:t> </a:t>
            </a:r>
            <a:r>
              <a:rPr kumimoji="1" lang="en-US" altLang="en-US" sz="1800" i="1" dirty="0">
                <a:latin typeface="Helvetica" panose="020B0604020202020204" pitchFamily="34" charset="0"/>
                <a:sym typeface="Symbol" panose="05050102010706020507" pitchFamily="18" charset="2"/>
              </a:rPr>
              <a:t>b </a:t>
            </a:r>
            <a:r>
              <a:rPr kumimoji="1" lang="en-US" altLang="en-US" sz="1800" dirty="0">
                <a:latin typeface="Helvetica" panose="020B0604020202020204" pitchFamily="34" charset="0"/>
                <a:sym typeface="Symbol" panose="05050102010706020507" pitchFamily="18" charset="2"/>
              </a:rPr>
              <a:t>( </a:t>
            </a:r>
            <a:r>
              <a:rPr kumimoji="1" lang="en-US" altLang="en-US" sz="1800" i="1" dirty="0">
                <a:latin typeface="Helvetica" panose="020B0604020202020204" pitchFamily="34" charset="0"/>
                <a:sym typeface="Symbol" panose="05050102010706020507" pitchFamily="18" charset="2"/>
              </a:rPr>
              <a:t>l, b, a </a:t>
            </a:r>
            <a:r>
              <a:rPr kumimoji="1" lang="en-US" altLang="en-US" sz="1800" dirty="0">
                <a:latin typeface="Helvetica" panose="020B0604020202020204" pitchFamily="34" charset="0"/>
                <a:sym typeface="Symbol" panose="05050102010706020507" pitchFamily="18" charset="2"/>
              </a:rPr>
              <a:t>  </a:t>
            </a:r>
            <a:r>
              <a:rPr kumimoji="1" lang="en-US" altLang="en-US" sz="1800" i="1" dirty="0">
                <a:latin typeface="Helvetica" panose="020B0604020202020204" pitchFamily="34" charset="0"/>
                <a:sym typeface="Symbol" panose="05050102010706020507" pitchFamily="18" charset="2"/>
              </a:rPr>
              <a:t>loan</a:t>
            </a:r>
            <a:r>
              <a:rPr kumimoji="1" lang="en-US" altLang="en-US" sz="1800" dirty="0">
                <a:latin typeface="Helvetica" panose="020B0604020202020204" pitchFamily="34" charset="0"/>
                <a:sym typeface="Symbol" panose="05050102010706020507" pitchFamily="18" charset="2"/>
              </a:rPr>
              <a:t>  </a:t>
            </a:r>
          </a:p>
          <a:p>
            <a:pPr>
              <a:spcBef>
                <a:spcPct val="35000"/>
              </a:spcBef>
              <a:buClr>
                <a:schemeClr val="tx2"/>
              </a:buClr>
              <a:buSzPct val="90000"/>
              <a:buFont typeface="Monotype Sorts" charset="2"/>
              <a:buNone/>
            </a:pPr>
            <a:r>
              <a:rPr kumimoji="1" lang="en-US" altLang="en-US" sz="1800" i="1" dirty="0">
                <a:latin typeface="Helvetica" panose="020B0604020202020204" pitchFamily="34" charset="0"/>
                <a:sym typeface="Symbol" panose="05050102010706020507" pitchFamily="18" charset="2"/>
              </a:rPr>
              <a:t>                                                                            b</a:t>
            </a:r>
            <a:r>
              <a:rPr kumimoji="1" lang="en-US" altLang="en-US" sz="1800" dirty="0">
                <a:latin typeface="Helvetica" panose="020B0604020202020204" pitchFamily="34" charset="0"/>
                <a:sym typeface="Symbol" panose="05050102010706020507" pitchFamily="18" charset="2"/>
              </a:rPr>
              <a:t> = “</a:t>
            </a:r>
            <a:r>
              <a:rPr kumimoji="1" lang="en-US" altLang="en-US" sz="1800" dirty="0" err="1">
                <a:latin typeface="Helvetica" panose="020B0604020202020204" pitchFamily="34" charset="0"/>
                <a:sym typeface="Symbol" panose="05050102010706020507" pitchFamily="18" charset="2"/>
              </a:rPr>
              <a:t>Perryridge</a:t>
            </a:r>
            <a:r>
              <a:rPr kumimoji="1" lang="en-US" altLang="en-US" sz="1800" dirty="0">
                <a:latin typeface="Helvetica" panose="020B0604020202020204" pitchFamily="34" charset="0"/>
                <a:sym typeface="Symbol" panose="05050102010706020507" pitchFamily="18" charset="2"/>
              </a:rPr>
              <a:t>”))}</a:t>
            </a:r>
          </a:p>
          <a:p>
            <a:pPr lvl="1">
              <a:spcBef>
                <a:spcPct val="35000"/>
              </a:spcBef>
              <a:buClr>
                <a:schemeClr val="tx2"/>
              </a:buClr>
              <a:buSzPct val="90000"/>
              <a:buFont typeface="Wingdings 3" panose="05040102010807070707" pitchFamily="18" charset="2"/>
              <a:buChar char=""/>
            </a:pPr>
            <a:r>
              <a:rPr kumimoji="1" lang="en-US" altLang="en-US" sz="1800" dirty="0">
                <a:latin typeface="Helvetica" panose="020B0604020202020204" pitchFamily="34" charset="0"/>
                <a:sym typeface="Symbol" panose="05050102010706020507" pitchFamily="18" charset="2"/>
              </a:rPr>
              <a:t>{ </a:t>
            </a:r>
            <a:r>
              <a:rPr kumimoji="1" lang="en-US" altLang="en-US" sz="1800" i="1" dirty="0">
                <a:latin typeface="Helvetica" panose="020B0604020202020204" pitchFamily="34" charset="0"/>
                <a:sym typeface="Symbol" panose="05050102010706020507" pitchFamily="18" charset="2"/>
              </a:rPr>
              <a:t>c, a</a:t>
            </a:r>
            <a:r>
              <a:rPr kumimoji="1" lang="en-US" altLang="en-US" sz="1800" dirty="0">
                <a:latin typeface="Helvetica" panose="020B0604020202020204" pitchFamily="34" charset="0"/>
                <a:sym typeface="Symbol" panose="05050102010706020507" pitchFamily="18" charset="2"/>
              </a:rPr>
              <a:t>  |  </a:t>
            </a:r>
            <a:r>
              <a:rPr kumimoji="1" lang="en-US" altLang="en-US" sz="1800" i="1" dirty="0">
                <a:latin typeface="Helvetica" panose="020B0604020202020204" pitchFamily="34" charset="0"/>
                <a:sym typeface="Symbol" panose="05050102010706020507" pitchFamily="18" charset="2"/>
              </a:rPr>
              <a:t>l</a:t>
            </a:r>
            <a:r>
              <a:rPr kumimoji="1" lang="en-US" altLang="en-US" sz="1800" dirty="0">
                <a:latin typeface="Helvetica" panose="020B0604020202020204" pitchFamily="34" charset="0"/>
                <a:sym typeface="Symbol" panose="05050102010706020507" pitchFamily="18" charset="2"/>
              </a:rPr>
              <a:t> ( </a:t>
            </a:r>
            <a:r>
              <a:rPr kumimoji="1" lang="en-US" altLang="en-US" sz="1800" i="1" dirty="0">
                <a:latin typeface="Helvetica" panose="020B0604020202020204" pitchFamily="34" charset="0"/>
                <a:sym typeface="Symbol" panose="05050102010706020507" pitchFamily="18" charset="2"/>
              </a:rPr>
              <a:t>c, l</a:t>
            </a:r>
            <a:r>
              <a:rPr kumimoji="1" lang="en-US" altLang="en-US" sz="1800" dirty="0">
                <a:latin typeface="Helvetica" panose="020B0604020202020204" pitchFamily="34" charset="0"/>
                <a:sym typeface="Symbol" panose="05050102010706020507" pitchFamily="18" charset="2"/>
              </a:rPr>
              <a:t>   </a:t>
            </a:r>
            <a:r>
              <a:rPr kumimoji="1" lang="en-US" altLang="en-US" sz="1800" i="1" dirty="0">
                <a:latin typeface="Helvetica" panose="020B0604020202020204" pitchFamily="34" charset="0"/>
                <a:sym typeface="Symbol" panose="05050102010706020507" pitchFamily="18" charset="2"/>
              </a:rPr>
              <a:t>borrower </a:t>
            </a:r>
            <a:r>
              <a:rPr kumimoji="1" lang="en-US" altLang="en-US" sz="1800" dirty="0">
                <a:latin typeface="Helvetica" panose="020B0604020202020204" pitchFamily="34" charset="0"/>
                <a:sym typeface="Symbol" panose="05050102010706020507" pitchFamily="18" charset="2"/>
              </a:rPr>
              <a:t>  </a:t>
            </a:r>
            <a:r>
              <a:rPr kumimoji="1" lang="en-US" altLang="en-US" sz="1800" i="1" dirty="0">
                <a:latin typeface="Helvetica" panose="020B0604020202020204" pitchFamily="34" charset="0"/>
                <a:sym typeface="Symbol" panose="05050102010706020507" pitchFamily="18" charset="2"/>
              </a:rPr>
              <a:t>l, “ </a:t>
            </a:r>
            <a:r>
              <a:rPr kumimoji="1" lang="en-US" altLang="en-US" sz="1800" dirty="0" err="1">
                <a:latin typeface="Helvetica" panose="020B0604020202020204" pitchFamily="34" charset="0"/>
                <a:sym typeface="Symbol" panose="05050102010706020507" pitchFamily="18" charset="2"/>
              </a:rPr>
              <a:t>Perryridge</a:t>
            </a:r>
            <a:r>
              <a:rPr kumimoji="1" lang="en-US" altLang="en-US" sz="1800" i="1" dirty="0">
                <a:latin typeface="Helvetica" panose="020B0604020202020204" pitchFamily="34" charset="0"/>
                <a:sym typeface="Symbol" panose="05050102010706020507" pitchFamily="18" charset="2"/>
              </a:rPr>
              <a:t>”, a </a:t>
            </a:r>
            <a:r>
              <a:rPr kumimoji="1" lang="en-US" altLang="en-US" sz="1800" dirty="0">
                <a:latin typeface="Helvetica" panose="020B0604020202020204" pitchFamily="34" charset="0"/>
                <a:sym typeface="Symbol" panose="05050102010706020507" pitchFamily="18" charset="2"/>
              </a:rPr>
              <a:t>  </a:t>
            </a:r>
            <a:r>
              <a:rPr kumimoji="1" lang="en-US" altLang="en-US" sz="1800" i="1" dirty="0">
                <a:latin typeface="Helvetica" panose="020B0604020202020204" pitchFamily="34" charset="0"/>
                <a:sym typeface="Symbol" panose="05050102010706020507" pitchFamily="18" charset="2"/>
              </a:rPr>
              <a:t>loan</a:t>
            </a:r>
            <a:r>
              <a:rPr kumimoji="1" lang="en-US" altLang="en-US" sz="1800" dirty="0">
                <a:latin typeface="Helvetica" panose="020B0604020202020204" pitchFamily="34" charset="0"/>
                <a:sym typeface="Symbol" panose="05050102010706020507" pitchFamily="18" charset="2"/>
              </a:rPr>
              <a:t>)}</a:t>
            </a:r>
          </a:p>
          <a:p>
            <a:pPr>
              <a:spcBef>
                <a:spcPct val="35000"/>
              </a:spcBef>
              <a:buClr>
                <a:schemeClr val="tx2"/>
              </a:buClr>
              <a:buSzPct val="90000"/>
              <a:buFont typeface="Monotype Sorts" charset="2"/>
              <a:buNone/>
            </a:pPr>
            <a:r>
              <a:rPr kumimoji="1" lang="en-US" altLang="en-US" sz="1800" dirty="0">
                <a:latin typeface="Helvetica" panose="020B0604020202020204" pitchFamily="34" charset="0"/>
                <a:sym typeface="Symbol" panose="05050102010706020507" pitchFamily="18" charset="2"/>
              </a:rPr>
              <a:t>        </a:t>
            </a:r>
          </a:p>
          <a:p>
            <a:pPr lvl="1">
              <a:spcBef>
                <a:spcPct val="35000"/>
              </a:spcBef>
              <a:buClr>
                <a:schemeClr val="tx2"/>
              </a:buClr>
              <a:buSzPct val="90000"/>
              <a:buFont typeface="Monotype Sorts" charset="2"/>
              <a:buChar char="n"/>
            </a:pPr>
            <a:endParaRPr kumimoji="1" lang="en-US" altLang="en-US" sz="1800" dirty="0">
              <a:latin typeface="Helvetica" panose="020B0604020202020204" pitchFamily="34" charset="0"/>
              <a:sym typeface="Symbol" panose="05050102010706020507" pitchFamily="18" charset="2"/>
            </a:endParaRPr>
          </a:p>
        </p:txBody>
      </p:sp>
    </p:spTree>
    <p:extLst>
      <p:ext uri="{BB962C8B-B14F-4D97-AF65-F5344CB8AC3E}">
        <p14:creationId xmlns:p14="http://schemas.microsoft.com/office/powerpoint/2010/main" val="1281995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499"/>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autoUpdateAnimBg="0"/>
      <p:bldP spid="6" grpId="0" autoUpdateAnimBg="0"/>
      <p:bldP spid="8" grpId="0" autoUpdateAnimBg="0"/>
      <p:bldP spid="9" grpId="0" autoUpdateAnimBg="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499" y="986896"/>
            <a:ext cx="11373227" cy="5302854"/>
          </a:xfrm>
        </p:spPr>
        <p:txBody>
          <a:bodyPr>
            <a:noAutofit/>
          </a:bodyPr>
          <a:lstStyle/>
          <a:p>
            <a:pPr>
              <a:buNone/>
            </a:pPr>
            <a:r>
              <a:rPr lang="en-US" sz="2539" dirty="0">
                <a:solidFill>
                  <a:srgbClr val="C00000"/>
                </a:solidFill>
                <a:latin typeface="Copperplate Gothic Light" pitchFamily="34" charset="0"/>
              </a:rPr>
              <a:t>Domain Relational Calculus</a:t>
            </a:r>
          </a:p>
          <a:p>
            <a:pPr>
              <a:buNone/>
            </a:pPr>
            <a:r>
              <a:rPr lang="en-US" altLang="en-US" sz="2800" dirty="0"/>
              <a:t>Example Queries</a:t>
            </a:r>
          </a:p>
          <a:p>
            <a:pPr>
              <a:buNone/>
            </a:pPr>
            <a:endParaRPr lang="en-US" altLang="en-US" sz="2539" dirty="0">
              <a:solidFill>
                <a:srgbClr val="C00000"/>
              </a:solidFill>
              <a:latin typeface="Copperplate Gothic Light" pitchFamily="34" charset="0"/>
            </a:endParaRPr>
          </a:p>
          <a:p>
            <a:pPr>
              <a:buNone/>
            </a:pPr>
            <a:endParaRPr lang="en-US" sz="2539" dirty="0">
              <a:solidFill>
                <a:srgbClr val="C00000"/>
              </a:solidFill>
              <a:latin typeface="Copperplate Gothic Light" pitchFamily="34" charset="0"/>
            </a:endParaRPr>
          </a:p>
          <a:p>
            <a:pPr>
              <a:buNone/>
            </a:pPr>
            <a:endParaRPr lang="en-US" sz="1367" dirty="0"/>
          </a:p>
          <a:p>
            <a:pPr>
              <a:buNone/>
            </a:pPr>
            <a:endParaRPr lang="en-US" sz="2539" dirty="0">
              <a:solidFill>
                <a:srgbClr val="213AF1"/>
              </a:solidFill>
              <a:latin typeface="Bookman Old Style" pitchFamily="18" charset="0"/>
            </a:endParaRPr>
          </a:p>
        </p:txBody>
      </p:sp>
      <p:sp>
        <p:nvSpPr>
          <p:cNvPr id="2" name="Slide Number Placeholder 1">
            <a:extLst>
              <a:ext uri="{FF2B5EF4-FFF2-40B4-BE49-F238E27FC236}">
                <a16:creationId xmlns:a16="http://schemas.microsoft.com/office/drawing/2014/main" id="{F735454F-5F6B-23CC-E69C-05995E3D2151}"/>
              </a:ext>
            </a:extLst>
          </p:cNvPr>
          <p:cNvSpPr>
            <a:spLocks noGrp="1"/>
          </p:cNvSpPr>
          <p:nvPr>
            <p:ph type="sldNum" sz="quarter" idx="12"/>
          </p:nvPr>
        </p:nvSpPr>
        <p:spPr/>
        <p:txBody>
          <a:bodyPr/>
          <a:lstStyle/>
          <a:p>
            <a:fld id="{30BB16E2-1063-4ECC-B0F4-DD6A8CC0C30D}" type="slidenum">
              <a:rPr lang="en-US" smtClean="0"/>
              <a:pPr/>
              <a:t>66</a:t>
            </a:fld>
            <a:endParaRPr lang="en-US"/>
          </a:p>
        </p:txBody>
      </p:sp>
      <p:sp>
        <p:nvSpPr>
          <p:cNvPr id="10" name="Rectangle 3">
            <a:extLst>
              <a:ext uri="{FF2B5EF4-FFF2-40B4-BE49-F238E27FC236}">
                <a16:creationId xmlns:a16="http://schemas.microsoft.com/office/drawing/2014/main" id="{A8067D28-98FF-D6C2-44EF-9D00D842EAD9}"/>
              </a:ext>
            </a:extLst>
          </p:cNvPr>
          <p:cNvSpPr txBox="1">
            <a:spLocks noChangeArrowheads="1"/>
          </p:cNvSpPr>
          <p:nvPr/>
        </p:nvSpPr>
        <p:spPr>
          <a:xfrm>
            <a:off x="678498" y="1947545"/>
            <a:ext cx="7848600" cy="66040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dirty="0"/>
              <a:t>Find the names of all customers having a loan, an account, or both at the </a:t>
            </a:r>
            <a:r>
              <a:rPr lang="en-US" altLang="en-US" dirty="0" err="1"/>
              <a:t>Perryridge</a:t>
            </a:r>
            <a:r>
              <a:rPr lang="en-US" altLang="en-US" dirty="0"/>
              <a:t> branch:</a:t>
            </a:r>
            <a:endParaRPr lang="en-US" altLang="en-US" dirty="0">
              <a:sym typeface="Symbol" panose="05050102010706020507" pitchFamily="18" charset="2"/>
            </a:endParaRPr>
          </a:p>
        </p:txBody>
      </p:sp>
      <p:sp>
        <p:nvSpPr>
          <p:cNvPr id="12" name="Text Box 6">
            <a:extLst>
              <a:ext uri="{FF2B5EF4-FFF2-40B4-BE49-F238E27FC236}">
                <a16:creationId xmlns:a16="http://schemas.microsoft.com/office/drawing/2014/main" id="{6FAE6968-2270-EFEB-F0F3-2EA4B48B5F01}"/>
              </a:ext>
            </a:extLst>
          </p:cNvPr>
          <p:cNvSpPr txBox="1">
            <a:spLocks noChangeArrowheads="1"/>
          </p:cNvSpPr>
          <p:nvPr/>
        </p:nvSpPr>
        <p:spPr bwMode="auto">
          <a:xfrm>
            <a:off x="936943" y="2607945"/>
            <a:ext cx="6302375"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35000"/>
              </a:spcBef>
              <a:buClr>
                <a:schemeClr val="tx2"/>
              </a:buClr>
              <a:buSzPct val="90000"/>
              <a:buFont typeface="Monotype Sorts" charset="2"/>
              <a:buNone/>
            </a:pPr>
            <a:r>
              <a:rPr kumimoji="1" lang="en-US" altLang="en-US" sz="1800" dirty="0">
                <a:sym typeface="Symbol" panose="05050102010706020507" pitchFamily="18" charset="2"/>
              </a:rPr>
              <a:t>{ </a:t>
            </a:r>
            <a:r>
              <a:rPr kumimoji="1" lang="en-US" altLang="en-US" sz="1800" i="1" dirty="0">
                <a:sym typeface="Symbol" panose="05050102010706020507" pitchFamily="18" charset="2"/>
              </a:rPr>
              <a:t>c</a:t>
            </a:r>
            <a:r>
              <a:rPr kumimoji="1" lang="en-US" altLang="en-US" sz="1800" dirty="0">
                <a:sym typeface="Symbol" panose="05050102010706020507" pitchFamily="18" charset="2"/>
              </a:rPr>
              <a:t>  |  </a:t>
            </a:r>
            <a:r>
              <a:rPr kumimoji="1" lang="en-US" altLang="en-US" sz="1800" i="1" dirty="0">
                <a:sym typeface="Symbol" panose="05050102010706020507" pitchFamily="18" charset="2"/>
              </a:rPr>
              <a:t>l </a:t>
            </a:r>
            <a:r>
              <a:rPr kumimoji="1" lang="en-US" altLang="en-US" sz="1800" dirty="0">
                <a:sym typeface="Symbol" panose="05050102010706020507" pitchFamily="18" charset="2"/>
              </a:rPr>
              <a:t>(  </a:t>
            </a:r>
            <a:r>
              <a:rPr kumimoji="1" lang="en-US" altLang="en-US" sz="1800" i="1" dirty="0">
                <a:sym typeface="Symbol" panose="05050102010706020507" pitchFamily="18" charset="2"/>
              </a:rPr>
              <a:t>c, l</a:t>
            </a:r>
            <a:r>
              <a:rPr kumimoji="1" lang="en-US" altLang="en-US" sz="1800" dirty="0">
                <a:sym typeface="Symbol" panose="05050102010706020507" pitchFamily="18" charset="2"/>
              </a:rPr>
              <a:t>   </a:t>
            </a:r>
            <a:r>
              <a:rPr kumimoji="1" lang="en-US" altLang="en-US" sz="1800" i="1" dirty="0">
                <a:sym typeface="Symbol" panose="05050102010706020507" pitchFamily="18" charset="2"/>
              </a:rPr>
              <a:t>borrower </a:t>
            </a:r>
            <a:br>
              <a:rPr kumimoji="1" lang="en-US" altLang="en-US" sz="1800" i="1" dirty="0">
                <a:sym typeface="Symbol" panose="05050102010706020507" pitchFamily="18" charset="2"/>
              </a:rPr>
            </a:br>
            <a:r>
              <a:rPr kumimoji="1" lang="en-US" altLang="en-US" sz="1800" i="1" dirty="0">
                <a:sym typeface="Symbol" panose="05050102010706020507" pitchFamily="18" charset="2"/>
              </a:rPr>
              <a:t>                 </a:t>
            </a:r>
            <a:r>
              <a:rPr kumimoji="1" lang="en-US" altLang="en-US" sz="1800" dirty="0">
                <a:sym typeface="Symbol" panose="05050102010706020507" pitchFamily="18" charset="2"/>
              </a:rPr>
              <a:t></a:t>
            </a:r>
            <a:r>
              <a:rPr kumimoji="1" lang="en-US" altLang="en-US" sz="1800" i="1" dirty="0">
                <a:sym typeface="Symbol" panose="05050102010706020507" pitchFamily="18" charset="2"/>
              </a:rPr>
              <a:t> </a:t>
            </a:r>
            <a:r>
              <a:rPr kumimoji="1" lang="en-US" altLang="en-US" sz="1800" dirty="0">
                <a:sym typeface="Symbol" panose="05050102010706020507" pitchFamily="18" charset="2"/>
              </a:rPr>
              <a:t> </a:t>
            </a:r>
            <a:r>
              <a:rPr kumimoji="1" lang="en-US" altLang="en-US" sz="1800" i="1" dirty="0" err="1">
                <a:sym typeface="Symbol" panose="05050102010706020507" pitchFamily="18" charset="2"/>
              </a:rPr>
              <a:t>b,a</a:t>
            </a:r>
            <a:r>
              <a:rPr kumimoji="1" lang="en-US" altLang="en-US" sz="1800" i="1" dirty="0">
                <a:sym typeface="Symbol" panose="05050102010706020507" pitchFamily="18" charset="2"/>
              </a:rPr>
              <a:t> </a:t>
            </a:r>
            <a:r>
              <a:rPr kumimoji="1" lang="en-US" altLang="en-US" sz="1800" dirty="0">
                <a:sym typeface="Symbol" panose="05050102010706020507" pitchFamily="18" charset="2"/>
              </a:rPr>
              <a:t>( </a:t>
            </a:r>
            <a:r>
              <a:rPr kumimoji="1" lang="en-US" altLang="en-US" sz="1800" i="1" dirty="0">
                <a:sym typeface="Symbol" panose="05050102010706020507" pitchFamily="18" charset="2"/>
              </a:rPr>
              <a:t>l, b, a </a:t>
            </a:r>
            <a:r>
              <a:rPr kumimoji="1" lang="en-US" altLang="en-US" sz="1800" dirty="0">
                <a:sym typeface="Symbol" panose="05050102010706020507" pitchFamily="18" charset="2"/>
              </a:rPr>
              <a:t>  </a:t>
            </a:r>
            <a:r>
              <a:rPr kumimoji="1" lang="en-US" altLang="en-US" sz="1800" i="1" dirty="0">
                <a:sym typeface="Symbol" panose="05050102010706020507" pitchFamily="18" charset="2"/>
              </a:rPr>
              <a:t>loan</a:t>
            </a:r>
            <a:r>
              <a:rPr kumimoji="1" lang="en-US" altLang="en-US" sz="1800" dirty="0">
                <a:sym typeface="Symbol" panose="05050102010706020507" pitchFamily="18" charset="2"/>
              </a:rPr>
              <a:t>  </a:t>
            </a:r>
            <a:r>
              <a:rPr kumimoji="1" lang="en-US" altLang="en-US" sz="1800" i="1" dirty="0">
                <a:sym typeface="Symbol" panose="05050102010706020507" pitchFamily="18" charset="2"/>
              </a:rPr>
              <a:t>b</a:t>
            </a:r>
            <a:r>
              <a:rPr kumimoji="1" lang="en-US" altLang="en-US" sz="1800" dirty="0">
                <a:sym typeface="Symbol" panose="05050102010706020507" pitchFamily="18" charset="2"/>
              </a:rPr>
              <a:t> = “</a:t>
            </a:r>
            <a:r>
              <a:rPr kumimoji="1" lang="en-US" altLang="en-US" sz="1800" dirty="0" err="1">
                <a:sym typeface="Symbol" panose="05050102010706020507" pitchFamily="18" charset="2"/>
              </a:rPr>
              <a:t>Perryridge</a:t>
            </a:r>
            <a:r>
              <a:rPr kumimoji="1" lang="en-US" altLang="en-US" sz="1800" dirty="0">
                <a:sym typeface="Symbol" panose="05050102010706020507" pitchFamily="18" charset="2"/>
              </a:rPr>
              <a:t>”))</a:t>
            </a:r>
            <a:br>
              <a:rPr kumimoji="1" lang="en-US" altLang="en-US" sz="1800" dirty="0">
                <a:sym typeface="Symbol" panose="05050102010706020507" pitchFamily="18" charset="2"/>
              </a:rPr>
            </a:br>
            <a:r>
              <a:rPr kumimoji="1" lang="en-US" altLang="en-US" sz="1800" dirty="0">
                <a:sym typeface="Symbol" panose="05050102010706020507" pitchFamily="18" charset="2"/>
              </a:rPr>
              <a:t>         </a:t>
            </a:r>
            <a:r>
              <a:rPr kumimoji="1" lang="en-US" altLang="en-US" sz="1800" i="1" dirty="0">
                <a:sym typeface="Symbol" panose="05050102010706020507" pitchFamily="18" charset="2"/>
              </a:rPr>
              <a:t>a </a:t>
            </a:r>
            <a:r>
              <a:rPr kumimoji="1" lang="en-US" altLang="en-US" sz="1800" dirty="0">
                <a:sym typeface="Symbol" panose="05050102010706020507" pitchFamily="18" charset="2"/>
              </a:rPr>
              <a:t>( </a:t>
            </a:r>
            <a:r>
              <a:rPr kumimoji="1" lang="en-US" altLang="en-US" sz="1800" i="1" dirty="0">
                <a:sym typeface="Symbol" panose="05050102010706020507" pitchFamily="18" charset="2"/>
              </a:rPr>
              <a:t>c, a</a:t>
            </a:r>
            <a:r>
              <a:rPr kumimoji="1" lang="en-US" altLang="en-US" sz="1800" dirty="0">
                <a:sym typeface="Symbol" panose="05050102010706020507" pitchFamily="18" charset="2"/>
              </a:rPr>
              <a:t>   </a:t>
            </a:r>
            <a:r>
              <a:rPr kumimoji="1" lang="en-US" altLang="en-US" sz="1800" i="1" dirty="0">
                <a:sym typeface="Symbol" panose="05050102010706020507" pitchFamily="18" charset="2"/>
              </a:rPr>
              <a:t>depositor</a:t>
            </a:r>
            <a:br>
              <a:rPr kumimoji="1" lang="en-US" altLang="en-US" sz="1800" i="1" dirty="0">
                <a:sym typeface="Symbol" panose="05050102010706020507" pitchFamily="18" charset="2"/>
              </a:rPr>
            </a:br>
            <a:r>
              <a:rPr kumimoji="1" lang="en-US" altLang="en-US" sz="1800" i="1" dirty="0">
                <a:sym typeface="Symbol" panose="05050102010706020507" pitchFamily="18" charset="2"/>
              </a:rPr>
              <a:t>                 </a:t>
            </a:r>
            <a:r>
              <a:rPr kumimoji="1" lang="en-US" altLang="en-US" sz="1800" dirty="0">
                <a:sym typeface="Symbol" panose="05050102010706020507" pitchFamily="18" charset="2"/>
              </a:rPr>
              <a:t>  </a:t>
            </a:r>
            <a:r>
              <a:rPr kumimoji="1" lang="en-US" altLang="en-US" sz="1800" i="1" dirty="0" err="1">
                <a:sym typeface="Symbol" panose="05050102010706020507" pitchFamily="18" charset="2"/>
              </a:rPr>
              <a:t>b,n</a:t>
            </a:r>
            <a:r>
              <a:rPr kumimoji="1" lang="en-US" altLang="en-US" sz="1800" i="1" dirty="0">
                <a:sym typeface="Symbol" panose="05050102010706020507" pitchFamily="18" charset="2"/>
              </a:rPr>
              <a:t> </a:t>
            </a:r>
            <a:r>
              <a:rPr kumimoji="1" lang="en-US" altLang="en-US" sz="1800" dirty="0">
                <a:sym typeface="Symbol" panose="05050102010706020507" pitchFamily="18" charset="2"/>
              </a:rPr>
              <a:t>( </a:t>
            </a:r>
            <a:r>
              <a:rPr kumimoji="1" lang="en-US" altLang="en-US" sz="1800" i="1" dirty="0">
                <a:sym typeface="Symbol" panose="05050102010706020507" pitchFamily="18" charset="2"/>
              </a:rPr>
              <a:t>a, b, n </a:t>
            </a:r>
            <a:r>
              <a:rPr kumimoji="1" lang="en-US" altLang="en-US" sz="1800" dirty="0">
                <a:sym typeface="Symbol" panose="05050102010706020507" pitchFamily="18" charset="2"/>
              </a:rPr>
              <a:t>  </a:t>
            </a:r>
            <a:r>
              <a:rPr kumimoji="1" lang="en-US" altLang="en-US" sz="1800" i="1" dirty="0">
                <a:sym typeface="Symbol" panose="05050102010706020507" pitchFamily="18" charset="2"/>
              </a:rPr>
              <a:t>account</a:t>
            </a:r>
            <a:r>
              <a:rPr kumimoji="1" lang="en-US" altLang="en-US" sz="1800" dirty="0">
                <a:sym typeface="Symbol" panose="05050102010706020507" pitchFamily="18" charset="2"/>
              </a:rPr>
              <a:t>  </a:t>
            </a:r>
            <a:r>
              <a:rPr kumimoji="1" lang="en-US" altLang="en-US" sz="1800" i="1" dirty="0">
                <a:sym typeface="Symbol" panose="05050102010706020507" pitchFamily="18" charset="2"/>
              </a:rPr>
              <a:t>b</a:t>
            </a:r>
            <a:r>
              <a:rPr kumimoji="1" lang="en-US" altLang="en-US" sz="1800" dirty="0">
                <a:sym typeface="Symbol" panose="05050102010706020507" pitchFamily="18" charset="2"/>
              </a:rPr>
              <a:t> = “</a:t>
            </a:r>
            <a:r>
              <a:rPr kumimoji="1" lang="en-US" altLang="en-US" sz="1800" dirty="0" err="1">
                <a:sym typeface="Symbol" panose="05050102010706020507" pitchFamily="18" charset="2"/>
              </a:rPr>
              <a:t>Perryridge</a:t>
            </a:r>
            <a:r>
              <a:rPr kumimoji="1" lang="en-US" altLang="en-US" sz="1800" dirty="0">
                <a:sym typeface="Symbol" panose="05050102010706020507" pitchFamily="18" charset="2"/>
              </a:rPr>
              <a:t>”))}</a:t>
            </a:r>
            <a:endParaRPr kumimoji="1" lang="en-US" altLang="en-US" sz="1800" i="1" dirty="0">
              <a:sym typeface="Symbol" panose="05050102010706020507" pitchFamily="18" charset="2"/>
            </a:endParaRPr>
          </a:p>
        </p:txBody>
      </p:sp>
      <p:sp>
        <p:nvSpPr>
          <p:cNvPr id="13" name="Text Box 5">
            <a:extLst>
              <a:ext uri="{FF2B5EF4-FFF2-40B4-BE49-F238E27FC236}">
                <a16:creationId xmlns:a16="http://schemas.microsoft.com/office/drawing/2014/main" id="{05DC5B89-E416-72C7-7D64-102DF018CDB8}"/>
              </a:ext>
            </a:extLst>
          </p:cNvPr>
          <p:cNvSpPr txBox="1">
            <a:spLocks noChangeArrowheads="1"/>
          </p:cNvSpPr>
          <p:nvPr/>
        </p:nvSpPr>
        <p:spPr bwMode="auto">
          <a:xfrm>
            <a:off x="678498" y="3798570"/>
            <a:ext cx="7756525"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285750" indent="-285750">
              <a:spcBef>
                <a:spcPct val="35000"/>
              </a:spcBef>
              <a:buClr>
                <a:schemeClr val="tx2"/>
              </a:buClr>
              <a:buSzPct val="90000"/>
              <a:buFont typeface="Arial" panose="020B0604020202020204" pitchFamily="34" charset="0"/>
              <a:buChar char="•"/>
            </a:pPr>
            <a:r>
              <a:rPr kumimoji="1" lang="en-US" altLang="en-US" sz="1800" dirty="0">
                <a:sym typeface="Symbol" panose="05050102010706020507" pitchFamily="18" charset="2"/>
              </a:rPr>
              <a:t>Find the names of all customers who have an account at all </a:t>
            </a:r>
            <a:br>
              <a:rPr kumimoji="1" lang="en-US" altLang="en-US" sz="1800" dirty="0">
                <a:sym typeface="Symbol" panose="05050102010706020507" pitchFamily="18" charset="2"/>
              </a:rPr>
            </a:br>
            <a:r>
              <a:rPr kumimoji="1" lang="en-US" altLang="en-US" sz="1800" dirty="0">
                <a:sym typeface="Symbol" panose="05050102010706020507" pitchFamily="18" charset="2"/>
              </a:rPr>
              <a:t>     branches located in Brooklyn:</a:t>
            </a:r>
            <a:endParaRPr kumimoji="1" lang="en-US" altLang="en-US" sz="1800" i="1" dirty="0">
              <a:sym typeface="Symbol" panose="05050102010706020507" pitchFamily="18" charset="2"/>
            </a:endParaRPr>
          </a:p>
        </p:txBody>
      </p:sp>
      <p:sp>
        <p:nvSpPr>
          <p:cNvPr id="14" name="Text Box 4">
            <a:extLst>
              <a:ext uri="{FF2B5EF4-FFF2-40B4-BE49-F238E27FC236}">
                <a16:creationId xmlns:a16="http://schemas.microsoft.com/office/drawing/2014/main" id="{3E3296C8-607C-F5B8-722F-7E1B570B14BD}"/>
              </a:ext>
            </a:extLst>
          </p:cNvPr>
          <p:cNvSpPr txBox="1">
            <a:spLocks noChangeArrowheads="1"/>
          </p:cNvSpPr>
          <p:nvPr/>
        </p:nvSpPr>
        <p:spPr bwMode="auto">
          <a:xfrm>
            <a:off x="1185863" y="4452938"/>
            <a:ext cx="6305550" cy="101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35000"/>
              </a:spcBef>
              <a:buClr>
                <a:schemeClr val="tx2"/>
              </a:buClr>
              <a:buSzPct val="90000"/>
              <a:buFont typeface="Monotype Sorts" charset="2"/>
              <a:buNone/>
            </a:pPr>
            <a:r>
              <a:rPr kumimoji="1" lang="en-US" altLang="en-US" sz="1800" dirty="0">
                <a:sym typeface="Symbol" panose="05050102010706020507" pitchFamily="18" charset="2"/>
              </a:rPr>
              <a:t>{ </a:t>
            </a:r>
            <a:r>
              <a:rPr kumimoji="1" lang="en-US" altLang="en-US" sz="1800" i="1" dirty="0">
                <a:sym typeface="Symbol" panose="05050102010706020507" pitchFamily="18" charset="2"/>
              </a:rPr>
              <a:t>c</a:t>
            </a:r>
            <a:r>
              <a:rPr kumimoji="1" lang="en-US" altLang="en-US" sz="1800" dirty="0">
                <a:sym typeface="Symbol" panose="05050102010706020507" pitchFamily="18" charset="2"/>
              </a:rPr>
              <a:t>  |  </a:t>
            </a:r>
            <a:r>
              <a:rPr kumimoji="1" lang="en-US" altLang="en-US" sz="1800" dirty="0" err="1">
                <a:sym typeface="Symbol" panose="05050102010706020507" pitchFamily="18" charset="2"/>
              </a:rPr>
              <a:t>s,</a:t>
            </a:r>
            <a:r>
              <a:rPr kumimoji="1" lang="en-US" altLang="en-US" sz="1800" i="1" dirty="0" err="1">
                <a:sym typeface="Symbol" panose="05050102010706020507" pitchFamily="18" charset="2"/>
              </a:rPr>
              <a:t>n</a:t>
            </a:r>
            <a:r>
              <a:rPr kumimoji="1" lang="en-US" altLang="en-US" sz="1800" i="1" dirty="0">
                <a:sym typeface="Symbol" panose="05050102010706020507" pitchFamily="18" charset="2"/>
              </a:rPr>
              <a:t> </a:t>
            </a:r>
            <a:r>
              <a:rPr kumimoji="1" lang="en-US" altLang="en-US" sz="1800" dirty="0">
                <a:sym typeface="Symbol" panose="05050102010706020507" pitchFamily="18" charset="2"/>
              </a:rPr>
              <a:t>( </a:t>
            </a:r>
            <a:r>
              <a:rPr kumimoji="1" lang="en-US" altLang="en-US" sz="1800" i="1" dirty="0">
                <a:sym typeface="Symbol" panose="05050102010706020507" pitchFamily="18" charset="2"/>
              </a:rPr>
              <a:t>c, s, n</a:t>
            </a:r>
            <a:r>
              <a:rPr kumimoji="1" lang="en-US" altLang="en-US" sz="1800" dirty="0">
                <a:sym typeface="Symbol" panose="05050102010706020507" pitchFamily="18" charset="2"/>
              </a:rPr>
              <a:t>   customer) </a:t>
            </a:r>
          </a:p>
          <a:p>
            <a:pPr>
              <a:spcBef>
                <a:spcPct val="35000"/>
              </a:spcBef>
              <a:buClr>
                <a:schemeClr val="tx2"/>
              </a:buClr>
              <a:buSzPct val="90000"/>
              <a:buFont typeface="Monotype Sorts" charset="2"/>
              <a:buNone/>
            </a:pPr>
            <a:r>
              <a:rPr kumimoji="1" lang="en-US" altLang="en-US" sz="1800" dirty="0">
                <a:sym typeface="Symbol" panose="05050102010706020507" pitchFamily="18" charset="2"/>
              </a:rPr>
              <a:t>             </a:t>
            </a:r>
            <a:r>
              <a:rPr kumimoji="1" lang="en-US" altLang="en-US" sz="1800" i="1" dirty="0" err="1">
                <a:sym typeface="Symbol" panose="05050102010706020507" pitchFamily="18" charset="2"/>
              </a:rPr>
              <a:t>x,y,z</a:t>
            </a:r>
            <a:r>
              <a:rPr kumimoji="1" lang="en-US" altLang="en-US" sz="1800" i="1" dirty="0">
                <a:sym typeface="Symbol" panose="05050102010706020507" pitchFamily="18" charset="2"/>
              </a:rPr>
              <a:t> </a:t>
            </a:r>
            <a:r>
              <a:rPr kumimoji="1" lang="en-US" altLang="en-US" sz="1800" dirty="0">
                <a:sym typeface="Symbol" panose="05050102010706020507" pitchFamily="18" charset="2"/>
              </a:rPr>
              <a:t>( </a:t>
            </a:r>
            <a:r>
              <a:rPr kumimoji="1" lang="en-US" altLang="en-US" sz="1800" i="1" dirty="0">
                <a:sym typeface="Symbol" panose="05050102010706020507" pitchFamily="18" charset="2"/>
              </a:rPr>
              <a:t>x, y, z </a:t>
            </a:r>
            <a:r>
              <a:rPr kumimoji="1" lang="en-US" altLang="en-US" sz="1800" dirty="0">
                <a:sym typeface="Symbol" panose="05050102010706020507" pitchFamily="18" charset="2"/>
              </a:rPr>
              <a:t>  </a:t>
            </a:r>
            <a:r>
              <a:rPr kumimoji="1" lang="en-US" altLang="en-US" sz="1800" i="1" dirty="0">
                <a:sym typeface="Symbol" panose="05050102010706020507" pitchFamily="18" charset="2"/>
              </a:rPr>
              <a:t>branch</a:t>
            </a:r>
            <a:r>
              <a:rPr kumimoji="1" lang="en-US" altLang="en-US" sz="1800" dirty="0">
                <a:sym typeface="Symbol" panose="05050102010706020507" pitchFamily="18" charset="2"/>
              </a:rPr>
              <a:t>  </a:t>
            </a:r>
            <a:r>
              <a:rPr kumimoji="1" lang="en-US" altLang="en-US" sz="1800" i="1" dirty="0">
                <a:sym typeface="Symbol" panose="05050102010706020507" pitchFamily="18" charset="2"/>
              </a:rPr>
              <a:t>y</a:t>
            </a:r>
            <a:r>
              <a:rPr kumimoji="1" lang="en-US" altLang="en-US" sz="1800" dirty="0">
                <a:sym typeface="Symbol" panose="05050102010706020507" pitchFamily="18" charset="2"/>
              </a:rPr>
              <a:t> = “Brooklyn”) </a:t>
            </a:r>
            <a:br>
              <a:rPr kumimoji="1" lang="en-US" altLang="en-US" sz="1800" dirty="0">
                <a:sym typeface="Symbol" panose="05050102010706020507" pitchFamily="18" charset="2"/>
              </a:rPr>
            </a:br>
            <a:r>
              <a:rPr kumimoji="1" lang="en-US" altLang="en-US" sz="1800" dirty="0">
                <a:sym typeface="Symbol" panose="05050102010706020507" pitchFamily="18" charset="2"/>
              </a:rPr>
              <a:t>                 </a:t>
            </a:r>
            <a:r>
              <a:rPr kumimoji="1" lang="en-US" altLang="en-US" sz="1800" i="1" dirty="0" err="1">
                <a:sym typeface="Symbol" panose="05050102010706020507" pitchFamily="18" charset="2"/>
              </a:rPr>
              <a:t>a,b</a:t>
            </a:r>
            <a:r>
              <a:rPr kumimoji="1" lang="en-US" altLang="en-US" sz="1800" i="1" dirty="0">
                <a:sym typeface="Symbol" panose="05050102010706020507" pitchFamily="18" charset="2"/>
              </a:rPr>
              <a:t> </a:t>
            </a:r>
            <a:r>
              <a:rPr kumimoji="1" lang="en-US" altLang="en-US" sz="1800" dirty="0">
                <a:sym typeface="Symbol" panose="05050102010706020507" pitchFamily="18" charset="2"/>
              </a:rPr>
              <a:t>( </a:t>
            </a:r>
            <a:r>
              <a:rPr kumimoji="1" lang="en-US" altLang="en-US" sz="1800" i="1" dirty="0">
                <a:sym typeface="Symbol" panose="05050102010706020507" pitchFamily="18" charset="2"/>
              </a:rPr>
              <a:t>x, y, z </a:t>
            </a:r>
            <a:r>
              <a:rPr kumimoji="1" lang="en-US" altLang="en-US" sz="1800" dirty="0">
                <a:sym typeface="Symbol" panose="05050102010706020507" pitchFamily="18" charset="2"/>
              </a:rPr>
              <a:t>  </a:t>
            </a:r>
            <a:r>
              <a:rPr kumimoji="1" lang="en-US" altLang="en-US" sz="1800" i="1" dirty="0">
                <a:sym typeface="Symbol" panose="05050102010706020507" pitchFamily="18" charset="2"/>
              </a:rPr>
              <a:t>account</a:t>
            </a:r>
            <a:r>
              <a:rPr kumimoji="1" lang="en-US" altLang="en-US" sz="1800" dirty="0">
                <a:sym typeface="Symbol" panose="05050102010706020507" pitchFamily="18" charset="2"/>
              </a:rPr>
              <a:t>   </a:t>
            </a:r>
            <a:r>
              <a:rPr kumimoji="1" lang="en-US" altLang="en-US" sz="1800" i="1" dirty="0" err="1">
                <a:sym typeface="Symbol" panose="05050102010706020507" pitchFamily="18" charset="2"/>
              </a:rPr>
              <a:t>c,a</a:t>
            </a:r>
            <a:r>
              <a:rPr kumimoji="1" lang="en-US" altLang="en-US" sz="1800" dirty="0">
                <a:sym typeface="Symbol" panose="05050102010706020507" pitchFamily="18" charset="2"/>
              </a:rPr>
              <a:t>   </a:t>
            </a:r>
            <a:r>
              <a:rPr kumimoji="1" lang="en-US" altLang="en-US" sz="1800" i="1" dirty="0">
                <a:sym typeface="Symbol" panose="05050102010706020507" pitchFamily="18" charset="2"/>
              </a:rPr>
              <a:t>depositor</a:t>
            </a:r>
            <a:r>
              <a:rPr kumimoji="1" lang="en-US" altLang="en-US" sz="1800" dirty="0">
                <a:sym typeface="Symbol" panose="05050102010706020507" pitchFamily="18" charset="2"/>
              </a:rPr>
              <a:t>)} </a:t>
            </a:r>
            <a:endParaRPr kumimoji="1" lang="en-US" altLang="en-US" sz="1800" i="1" dirty="0">
              <a:sym typeface="Symbol" panose="05050102010706020507" pitchFamily="18" charset="2"/>
            </a:endParaRPr>
          </a:p>
        </p:txBody>
      </p:sp>
    </p:spTree>
    <p:extLst>
      <p:ext uri="{BB962C8B-B14F-4D97-AF65-F5344CB8AC3E}">
        <p14:creationId xmlns:p14="http://schemas.microsoft.com/office/powerpoint/2010/main" val="2691869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499"/>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autoUpdateAnimBg="0"/>
      <p:bldP spid="12" grpId="0" autoUpdateAnimBg="0"/>
      <p:bldP spid="13" grpId="0" autoUpdateAnimBg="0"/>
      <p:bldP spid="14" grpId="0" autoUpdateAnimBg="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4499" y="986896"/>
            <a:ext cx="11373227" cy="5302854"/>
          </a:xfrm>
        </p:spPr>
        <p:txBody>
          <a:bodyPr>
            <a:noAutofit/>
          </a:bodyPr>
          <a:lstStyle/>
          <a:p>
            <a:pPr>
              <a:buNone/>
            </a:pPr>
            <a:r>
              <a:rPr lang="en-US" altLang="en-US" sz="2800" dirty="0"/>
              <a:t>Safety of Expressions</a:t>
            </a:r>
          </a:p>
          <a:p>
            <a:pPr>
              <a:buNone/>
            </a:pPr>
            <a:endParaRPr lang="en-US" altLang="en-US" sz="2800" dirty="0"/>
          </a:p>
          <a:p>
            <a:pPr>
              <a:buNone/>
            </a:pPr>
            <a:endParaRPr lang="en-US" altLang="en-US" sz="2539" dirty="0">
              <a:solidFill>
                <a:srgbClr val="C00000"/>
              </a:solidFill>
              <a:latin typeface="Copperplate Gothic Light" pitchFamily="34" charset="0"/>
            </a:endParaRPr>
          </a:p>
          <a:p>
            <a:pPr>
              <a:buNone/>
            </a:pPr>
            <a:endParaRPr lang="en-US" sz="2539" dirty="0">
              <a:solidFill>
                <a:srgbClr val="C00000"/>
              </a:solidFill>
              <a:latin typeface="Copperplate Gothic Light" pitchFamily="34" charset="0"/>
            </a:endParaRPr>
          </a:p>
          <a:p>
            <a:pPr>
              <a:buNone/>
            </a:pPr>
            <a:endParaRPr lang="en-US" sz="1367" dirty="0"/>
          </a:p>
          <a:p>
            <a:pPr>
              <a:buNone/>
            </a:pPr>
            <a:endParaRPr lang="en-US" sz="2539" dirty="0">
              <a:solidFill>
                <a:srgbClr val="213AF1"/>
              </a:solidFill>
              <a:latin typeface="Bookman Old Style" pitchFamily="18" charset="0"/>
            </a:endParaRPr>
          </a:p>
        </p:txBody>
      </p:sp>
      <p:sp>
        <p:nvSpPr>
          <p:cNvPr id="2" name="Slide Number Placeholder 1">
            <a:extLst>
              <a:ext uri="{FF2B5EF4-FFF2-40B4-BE49-F238E27FC236}">
                <a16:creationId xmlns:a16="http://schemas.microsoft.com/office/drawing/2014/main" id="{F735454F-5F6B-23CC-E69C-05995E3D2151}"/>
              </a:ext>
            </a:extLst>
          </p:cNvPr>
          <p:cNvSpPr>
            <a:spLocks noGrp="1"/>
          </p:cNvSpPr>
          <p:nvPr>
            <p:ph type="sldNum" sz="quarter" idx="12"/>
          </p:nvPr>
        </p:nvSpPr>
        <p:spPr/>
        <p:txBody>
          <a:bodyPr/>
          <a:lstStyle/>
          <a:p>
            <a:fld id="{30BB16E2-1063-4ECC-B0F4-DD6A8CC0C30D}" type="slidenum">
              <a:rPr lang="en-US" smtClean="0"/>
              <a:pPr/>
              <a:t>67</a:t>
            </a:fld>
            <a:endParaRPr lang="en-US"/>
          </a:p>
        </p:txBody>
      </p:sp>
      <p:sp>
        <p:nvSpPr>
          <p:cNvPr id="5" name="TextBox 4">
            <a:extLst>
              <a:ext uri="{FF2B5EF4-FFF2-40B4-BE49-F238E27FC236}">
                <a16:creationId xmlns:a16="http://schemas.microsoft.com/office/drawing/2014/main" id="{944B47F1-FFD6-16FD-7D4F-6CD993DDBDD5}"/>
              </a:ext>
            </a:extLst>
          </p:cNvPr>
          <p:cNvSpPr txBox="1"/>
          <p:nvPr/>
        </p:nvSpPr>
        <p:spPr>
          <a:xfrm>
            <a:off x="1127760" y="1809601"/>
            <a:ext cx="8290560" cy="4493538"/>
          </a:xfrm>
          <a:prstGeom prst="rect">
            <a:avLst/>
          </a:prstGeom>
          <a:noFill/>
        </p:spPr>
        <p:txBody>
          <a:bodyPr wrap="square">
            <a:spAutoFit/>
          </a:bodyPr>
          <a:lstStyle/>
          <a:p>
            <a:pPr>
              <a:buFont typeface="Monotype Sorts" charset="2"/>
              <a:buNone/>
              <a:tabLst>
                <a:tab pos="635000" algn="l"/>
                <a:tab pos="3195638" algn="ctr"/>
              </a:tabLst>
            </a:pPr>
            <a:r>
              <a:rPr lang="en-US" altLang="en-US" sz="2200" dirty="0">
                <a:latin typeface="Times New Roman" panose="02020603050405020304" pitchFamily="18" charset="0"/>
                <a:cs typeface="Times New Roman" panose="02020603050405020304" pitchFamily="18" charset="0"/>
              </a:rPr>
              <a:t>The expression:</a:t>
            </a:r>
          </a:p>
          <a:p>
            <a:pPr>
              <a:buFont typeface="Monotype Sorts" charset="2"/>
              <a:buNone/>
              <a:tabLst>
                <a:tab pos="635000" algn="l"/>
                <a:tab pos="3195638" algn="ctr"/>
              </a:tabLst>
            </a:pPr>
            <a:r>
              <a:rPr lang="en-US" altLang="en-US" sz="2200" dirty="0">
                <a:latin typeface="Times New Roman" panose="02020603050405020304" pitchFamily="18" charset="0"/>
                <a:cs typeface="Times New Roman" panose="02020603050405020304" pitchFamily="18" charset="0"/>
              </a:rPr>
              <a:t>			{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2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 x</a:t>
            </a:r>
            <a:r>
              <a:rPr lang="en-US" altLang="en-US" sz="22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 …, </a:t>
            </a:r>
            <a:r>
              <a:rPr lang="en-US" altLang="en-US" sz="2200" i="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en-US" sz="2200" i="1" baseline="-25000" dirty="0" err="1">
                <a:latin typeface="Times New Roman" panose="02020603050405020304" pitchFamily="18" charset="0"/>
                <a:cs typeface="Times New Roman" panose="02020603050405020304" pitchFamily="18" charset="0"/>
                <a:sym typeface="Symbol" panose="05050102010706020507" pitchFamily="18" charset="2"/>
              </a:rPr>
              <a:t>n</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 |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P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2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200" baseline="-25000" dirty="0">
                <a:latin typeface="Times New Roman" panose="02020603050405020304" pitchFamily="18" charset="0"/>
                <a:cs typeface="Times New Roman" panose="02020603050405020304" pitchFamily="18" charset="0"/>
                <a:sym typeface="Symbol" panose="05050102010706020507" pitchFamily="18" charset="2"/>
              </a:rPr>
              <a:t>2</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 …, </a:t>
            </a:r>
            <a:r>
              <a:rPr lang="en-US" altLang="en-US" sz="2200" i="1" dirty="0" err="1">
                <a:latin typeface="Times New Roman" panose="02020603050405020304" pitchFamily="18" charset="0"/>
                <a:cs typeface="Times New Roman" panose="02020603050405020304" pitchFamily="18" charset="0"/>
                <a:sym typeface="Symbol" panose="05050102010706020507" pitchFamily="18" charset="2"/>
              </a:rPr>
              <a:t>x</a:t>
            </a:r>
            <a:r>
              <a:rPr lang="en-US" altLang="en-US" sz="2200" i="1" baseline="-25000" dirty="0" err="1">
                <a:latin typeface="Times New Roman" panose="02020603050405020304" pitchFamily="18" charset="0"/>
                <a:cs typeface="Times New Roman" panose="02020603050405020304" pitchFamily="18" charset="0"/>
                <a:sym typeface="Symbol" panose="05050102010706020507" pitchFamily="18" charset="2"/>
              </a:rPr>
              <a:t>n</a:t>
            </a:r>
            <a:r>
              <a:rPr lang="en-US" altLang="en-US" sz="2200" i="1" baseline="-250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t>
            </a:r>
            <a:br>
              <a:rPr lang="en-US" altLang="en-US" sz="2200" dirty="0">
                <a:latin typeface="Times New Roman" panose="02020603050405020304" pitchFamily="18" charset="0"/>
                <a:cs typeface="Times New Roman" panose="02020603050405020304" pitchFamily="18" charset="0"/>
                <a:sym typeface="Symbol" panose="05050102010706020507" pitchFamily="18" charset="2"/>
              </a:rPr>
            </a:br>
            <a:endParaRPr lang="en-US" altLang="en-US" sz="2200" dirty="0">
              <a:latin typeface="Times New Roman" panose="02020603050405020304" pitchFamily="18" charset="0"/>
              <a:cs typeface="Times New Roman" panose="02020603050405020304" pitchFamily="18" charset="0"/>
              <a:sym typeface="Symbol" panose="05050102010706020507" pitchFamily="18" charset="2"/>
            </a:endParaRPr>
          </a:p>
          <a:p>
            <a:pPr>
              <a:buFont typeface="Monotype Sorts" charset="2"/>
              <a:buNone/>
              <a:tabLst>
                <a:tab pos="635000" algn="l"/>
                <a:tab pos="3195638" algn="ctr"/>
              </a:tabLst>
            </a:pP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is safe if all of the following hold:</a:t>
            </a:r>
          </a:p>
          <a:p>
            <a:pPr>
              <a:buFont typeface="Arial" panose="020B0604020202020204" pitchFamily="34" charset="0"/>
              <a:buAutoNum type="arabicPeriod"/>
              <a:tabLst>
                <a:tab pos="635000" algn="l"/>
                <a:tab pos="3195638" algn="ctr"/>
              </a:tabLst>
            </a:pP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All values that appear in tuples of the expression are values 	from </a:t>
            </a:r>
            <a:r>
              <a:rPr lang="en-US" altLang="en-US" sz="2200" i="1" dirty="0" err="1">
                <a:solidFill>
                  <a:schemeClr val="tx2"/>
                </a:solidFill>
                <a:latin typeface="Times New Roman" panose="02020603050405020304" pitchFamily="18" charset="0"/>
                <a:cs typeface="Times New Roman" panose="02020603050405020304" pitchFamily="18" charset="0"/>
                <a:sym typeface="Symbol" panose="05050102010706020507" pitchFamily="18" charset="2"/>
              </a:rPr>
              <a:t>dom</a:t>
            </a:r>
            <a:r>
              <a:rPr lang="en-US" altLang="en-US" sz="2200" i="1" dirty="0">
                <a:solidFill>
                  <a:schemeClr val="tx2"/>
                </a:solidFill>
                <a:latin typeface="Times New Roman" panose="02020603050405020304" pitchFamily="18" charset="0"/>
                <a:cs typeface="Times New Roman" panose="02020603050405020304" pitchFamily="18" charset="0"/>
                <a:sym typeface="Symbol" panose="05050102010706020507" pitchFamily="18" charset="2"/>
              </a:rPr>
              <a:t>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P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(that is, the values appear either in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P</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or in a tuple of a 	relation mentioned in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P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t>
            </a:r>
          </a:p>
          <a:p>
            <a:pPr>
              <a:buFont typeface="Arial" panose="020B0604020202020204" pitchFamily="34" charset="0"/>
              <a:buAutoNum type="arabicPeriod"/>
              <a:tabLst>
                <a:tab pos="635000" algn="l"/>
                <a:tab pos="3195638" algn="ctr"/>
              </a:tabLst>
            </a:pP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For every “there exists” </a:t>
            </a:r>
            <a:r>
              <a:rPr lang="en-US" altLang="en-US" sz="2200" dirty="0" err="1">
                <a:latin typeface="Times New Roman" panose="02020603050405020304" pitchFamily="18" charset="0"/>
                <a:cs typeface="Times New Roman" panose="02020603050405020304" pitchFamily="18" charset="0"/>
                <a:sym typeface="Symbol" panose="05050102010706020507" pitchFamily="18" charset="2"/>
              </a:rPr>
              <a:t>subformula</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of the form 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P</a:t>
            </a:r>
            <a:r>
              <a:rPr lang="en-US" altLang="en-US" sz="22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x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the 	</a:t>
            </a:r>
            <a:r>
              <a:rPr lang="en-US" altLang="en-US" sz="2200" dirty="0" err="1">
                <a:latin typeface="Times New Roman" panose="02020603050405020304" pitchFamily="18" charset="0"/>
                <a:cs typeface="Times New Roman" panose="02020603050405020304" pitchFamily="18" charset="0"/>
                <a:sym typeface="Symbol" panose="05050102010706020507" pitchFamily="18" charset="2"/>
              </a:rPr>
              <a:t>subformula</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is true if and only if there is a value of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in </a:t>
            </a:r>
            <a:r>
              <a:rPr lang="en-US" altLang="en-US" sz="2200" i="1" dirty="0" err="1">
                <a:latin typeface="Times New Roman" panose="02020603050405020304" pitchFamily="18" charset="0"/>
                <a:cs typeface="Times New Roman" panose="02020603050405020304" pitchFamily="18" charset="0"/>
                <a:sym typeface="Symbol" panose="05050102010706020507" pitchFamily="18" charset="2"/>
              </a:rPr>
              <a:t>dom</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P</a:t>
            </a:r>
            <a:r>
              <a:rPr lang="en-US" altLang="en-US" sz="22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such that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P</a:t>
            </a:r>
            <a:r>
              <a:rPr lang="en-US" altLang="en-US" sz="22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x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is true.</a:t>
            </a:r>
          </a:p>
          <a:p>
            <a:pPr>
              <a:buFont typeface="Arial" panose="020B0604020202020204" pitchFamily="34" charset="0"/>
              <a:buAutoNum type="arabicPeriod"/>
              <a:tabLst>
                <a:tab pos="635000" algn="l"/>
                <a:tab pos="3195638" algn="ctr"/>
              </a:tabLst>
            </a:pP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For every “for all” </a:t>
            </a:r>
            <a:r>
              <a:rPr lang="en-US" altLang="en-US" sz="2200" dirty="0" err="1">
                <a:latin typeface="Times New Roman" panose="02020603050405020304" pitchFamily="18" charset="0"/>
                <a:cs typeface="Times New Roman" panose="02020603050405020304" pitchFamily="18" charset="0"/>
                <a:sym typeface="Symbol" panose="05050102010706020507" pitchFamily="18" charset="2"/>
              </a:rPr>
              <a:t>subformula</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of the form </a:t>
            </a:r>
            <a:r>
              <a:rPr lang="en-US" altLang="en-US" sz="2200" baseline="-25000"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P</a:t>
            </a:r>
            <a:r>
              <a:rPr lang="en-US" altLang="en-US" sz="22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x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the </a:t>
            </a:r>
            <a:r>
              <a:rPr lang="en-US" altLang="en-US" sz="2200" dirty="0" err="1">
                <a:latin typeface="Times New Roman" panose="02020603050405020304" pitchFamily="18" charset="0"/>
                <a:cs typeface="Times New Roman" panose="02020603050405020304" pitchFamily="18" charset="0"/>
                <a:sym typeface="Symbol" panose="05050102010706020507" pitchFamily="18" charset="2"/>
              </a:rPr>
              <a:t>subformula</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is true if and only if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P</a:t>
            </a:r>
            <a:r>
              <a:rPr lang="en-US" altLang="en-US" sz="22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x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is true for all values </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  from </a:t>
            </a:r>
            <a:r>
              <a:rPr lang="en-US" altLang="en-US" sz="2200" i="1" dirty="0" err="1">
                <a:latin typeface="Times New Roman" panose="02020603050405020304" pitchFamily="18" charset="0"/>
                <a:cs typeface="Times New Roman" panose="02020603050405020304" pitchFamily="18" charset="0"/>
                <a:sym typeface="Symbol" panose="05050102010706020507" pitchFamily="18" charset="2"/>
              </a:rPr>
              <a:t>dom</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 </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200" i="1" dirty="0">
                <a:latin typeface="Times New Roman" panose="02020603050405020304" pitchFamily="18" charset="0"/>
                <a:cs typeface="Times New Roman" panose="02020603050405020304" pitchFamily="18" charset="0"/>
                <a:sym typeface="Symbol" panose="05050102010706020507" pitchFamily="18" charset="2"/>
              </a:rPr>
              <a:t>P</a:t>
            </a:r>
            <a:r>
              <a:rPr lang="en-US" altLang="en-US" sz="2200" baseline="-25000" dirty="0">
                <a:latin typeface="Times New Roman" panose="02020603050405020304" pitchFamily="18" charset="0"/>
                <a:cs typeface="Times New Roman" panose="02020603050405020304" pitchFamily="18" charset="0"/>
                <a:sym typeface="Symbol" panose="05050102010706020507" pitchFamily="18" charset="2"/>
              </a:rPr>
              <a:t>1</a:t>
            </a:r>
            <a:r>
              <a:rPr lang="en-US" altLang="en-US" sz="2200" dirty="0">
                <a:latin typeface="Times New Roman" panose="02020603050405020304" pitchFamily="18" charset="0"/>
                <a:cs typeface="Times New Roman" panose="02020603050405020304" pitchFamily="18" charset="0"/>
                <a:sym typeface="Symbol" panose="05050102010706020507" pitchFamily="18" charset="2"/>
              </a:rPr>
              <a:t>).</a:t>
            </a:r>
          </a:p>
        </p:txBody>
      </p:sp>
    </p:spTree>
    <p:extLst>
      <p:ext uri="{BB962C8B-B14F-4D97-AF65-F5344CB8AC3E}">
        <p14:creationId xmlns:p14="http://schemas.microsoft.com/office/powerpoint/2010/main" val="272203342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331898" y="2830123"/>
            <a:ext cx="2577860" cy="629069"/>
          </a:xfrm>
        </p:spPr>
        <p:txBody>
          <a:bodyPr/>
          <a:lstStyle/>
          <a:p>
            <a:pPr>
              <a:buNone/>
            </a:pPr>
            <a:r>
              <a:rPr lang="en-US" dirty="0">
                <a:solidFill>
                  <a:srgbClr val="0000FF"/>
                </a:solidFill>
                <a:latin typeface="Copperplate Gothic Light" pitchFamily="34" charset="0"/>
              </a:rPr>
              <a:t>THANK YOU</a:t>
            </a:r>
          </a:p>
        </p:txBody>
      </p:sp>
      <p:sp>
        <p:nvSpPr>
          <p:cNvPr id="6" name="Slide Number Placeholder 5">
            <a:extLst>
              <a:ext uri="{FF2B5EF4-FFF2-40B4-BE49-F238E27FC236}">
                <a16:creationId xmlns:a16="http://schemas.microsoft.com/office/drawing/2014/main" id="{70C251A7-A340-DD28-1966-B85373A0C442}"/>
              </a:ext>
            </a:extLst>
          </p:cNvPr>
          <p:cNvSpPr>
            <a:spLocks noGrp="1"/>
          </p:cNvSpPr>
          <p:nvPr>
            <p:ph type="sldNum" sz="quarter" idx="12"/>
          </p:nvPr>
        </p:nvSpPr>
        <p:spPr/>
        <p:txBody>
          <a:bodyPr/>
          <a:lstStyle/>
          <a:p>
            <a:fld id="{AD7ED525-5088-40CF-8CE0-E4296ADF624B}" type="slidenum">
              <a:rPr lang="en-IN" smtClean="0"/>
              <a:pPr/>
              <a:t>68</a:t>
            </a:fld>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11694</TotalTime>
  <Words>3598</Words>
  <Application>Microsoft Macintosh PowerPoint</Application>
  <PresentationFormat>Widescreen</PresentationFormat>
  <Paragraphs>899</Paragraphs>
  <Slides>68</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68</vt:i4>
      </vt:variant>
    </vt:vector>
  </HeadingPairs>
  <TitlesOfParts>
    <vt:vector size="79" baseType="lpstr">
      <vt:lpstr>Arial</vt:lpstr>
      <vt:lpstr>Bookman Old Style</vt:lpstr>
      <vt:lpstr>Calibri</vt:lpstr>
      <vt:lpstr>Calibri Light</vt:lpstr>
      <vt:lpstr>Copperplate Gothic Light</vt:lpstr>
      <vt:lpstr>Helvetica</vt:lpstr>
      <vt:lpstr>Monotype Sorts</vt:lpstr>
      <vt:lpstr>Times New Roman</vt:lpstr>
      <vt:lpstr>Wingdings</vt:lpstr>
      <vt:lpstr>Wingdings 3</vt:lpstr>
      <vt:lpstr>Office Theme</vt:lpstr>
      <vt:lpstr>21CSC205P Database Management Systems</vt:lpstr>
      <vt:lpstr>Outline of the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Pitfalls in Relational database   </vt:lpstr>
      <vt:lpstr>PowerPoint Presentation</vt:lpstr>
      <vt:lpstr>PowerPoint Presentation</vt:lpstr>
      <vt:lpstr>PowerPoint Presentation</vt:lpstr>
      <vt:lpstr>PowerPoint Presentation</vt:lpstr>
      <vt:lpstr>Relational Model Languages</vt:lpstr>
      <vt:lpstr>Relational Algebra – Fundamental  Operators and syntax</vt:lpstr>
      <vt:lpstr>PowerPoint Presentation</vt:lpstr>
      <vt:lpstr>Example</vt:lpstr>
      <vt:lpstr>PowerPoint Presentation</vt:lpstr>
      <vt:lpstr>Example</vt:lpstr>
      <vt:lpstr>Composition of Relational Operations</vt:lpstr>
      <vt:lpstr>SET Operations</vt:lpstr>
      <vt:lpstr>PowerPoint Presentation</vt:lpstr>
      <vt:lpstr>PowerPoint Presentation</vt:lpstr>
      <vt:lpstr>PowerPoint Presentation</vt:lpstr>
      <vt:lpstr>Union Examples</vt:lpstr>
      <vt:lpstr>PowerPoint Presentation</vt:lpstr>
      <vt:lpstr>Intersection Examples</vt:lpstr>
      <vt:lpstr>PowerPoint Presentation</vt:lpstr>
      <vt:lpstr>Set Difference Example</vt:lpstr>
      <vt:lpstr>PowerPoint Presentation</vt:lpstr>
      <vt:lpstr>PowerPoint Presentation</vt:lpstr>
      <vt:lpstr>PowerPoint Presentation</vt:lpstr>
      <vt:lpstr>Join Operation</vt:lpstr>
      <vt:lpstr>PowerPoint Presentation</vt:lpstr>
      <vt:lpstr>Assignment Operation (←)</vt:lpstr>
      <vt:lpstr>Tuple Relational Calculus</vt:lpstr>
      <vt:lpstr>Relational algebra queries, Tuple relational calculus </vt:lpstr>
      <vt:lpstr>Relational algebra queries, Tuple relational calculus </vt:lpstr>
      <vt:lpstr>Relational algebra queries, Tuple relational calculus </vt:lpstr>
      <vt:lpstr>Relational algebra queries, Tuple relational calculus </vt:lpstr>
      <vt:lpstr>Relational algebra queries, Tuple relational calculus </vt:lpstr>
      <vt:lpstr>Relational algebra queries, Tuple relational calculus </vt:lpstr>
      <vt:lpstr>Relational algebra queries, Tuple relational calculus </vt:lpstr>
      <vt:lpstr>Relational algebra queries, Tuple relational calculus </vt:lpstr>
      <vt:lpstr>Relational algebra queries, Tuple relational calculus </vt:lpstr>
      <vt:lpstr>Relational algebra queries, Tuple relational calculus </vt:lpstr>
      <vt:lpstr>Relational algebra queries, Tuple relational calculus </vt:lpstr>
      <vt:lpstr>Relational algebra queries, Tuple relational calculus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18CSC303J DATABASE MANAGEMENT SYSTEMS</dc:title>
  <dc:creator>cseadmin</dc:creator>
  <cp:lastModifiedBy>Microsoft Office User</cp:lastModifiedBy>
  <cp:revision>562</cp:revision>
  <dcterms:created xsi:type="dcterms:W3CDTF">2021-12-27T04:40:00Z</dcterms:created>
  <dcterms:modified xsi:type="dcterms:W3CDTF">2026-04-18T13:18:08Z</dcterms:modified>
</cp:coreProperties>
</file>